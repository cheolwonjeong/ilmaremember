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notesMasterIdLst>
    <p:notesMasterId r:id="rId32"/>
  </p:notesMasterIdLst>
  <p:handoutMasterIdLst>
    <p:handoutMasterId r:id="rId33"/>
  </p:handoutMasterIdLst>
  <p:sldIdLst>
    <p:sldId id="256" r:id="rId3"/>
    <p:sldId id="258" r:id="rId4"/>
    <p:sldId id="311" r:id="rId5"/>
    <p:sldId id="322" r:id="rId6"/>
    <p:sldId id="305" r:id="rId7"/>
    <p:sldId id="346" r:id="rId8"/>
    <p:sldId id="325" r:id="rId9"/>
    <p:sldId id="347" r:id="rId10"/>
    <p:sldId id="324" r:id="rId11"/>
    <p:sldId id="313" r:id="rId12"/>
    <p:sldId id="326" r:id="rId13"/>
    <p:sldId id="331" r:id="rId14"/>
    <p:sldId id="327" r:id="rId15"/>
    <p:sldId id="328" r:id="rId16"/>
    <p:sldId id="329" r:id="rId17"/>
    <p:sldId id="330" r:id="rId18"/>
    <p:sldId id="318" r:id="rId19"/>
    <p:sldId id="348" r:id="rId20"/>
    <p:sldId id="312" r:id="rId21"/>
    <p:sldId id="332" r:id="rId22"/>
    <p:sldId id="309" r:id="rId23"/>
    <p:sldId id="334" r:id="rId24"/>
    <p:sldId id="338" r:id="rId25"/>
    <p:sldId id="339" r:id="rId26"/>
    <p:sldId id="342" r:id="rId27"/>
    <p:sldId id="349" r:id="rId28"/>
    <p:sldId id="340" r:id="rId29"/>
    <p:sldId id="343" r:id="rId30"/>
    <p:sldId id="345" r:id="rId31"/>
  </p:sldIdLst>
  <p:sldSz cx="13004800" cy="9753600"/>
  <p:notesSz cx="130048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DD71"/>
    <a:srgbClr val="F1AF25"/>
    <a:srgbClr val="777777"/>
    <a:srgbClr val="EFEFFE"/>
    <a:srgbClr val="D5D5D5"/>
    <a:srgbClr val="77AFC6"/>
    <a:srgbClr val="F0A818"/>
    <a:srgbClr val="F5C667"/>
    <a:srgbClr val="5E5E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25" autoAdjust="0"/>
    <p:restoredTop sz="94660"/>
  </p:normalViewPr>
  <p:slideViewPr>
    <p:cSldViewPr>
      <p:cViewPr varScale="1">
        <p:scale>
          <a:sx n="52" d="100"/>
          <a:sy n="52" d="100"/>
        </p:scale>
        <p:origin x="138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2" d="100"/>
          <a:sy n="82" d="100"/>
        </p:scale>
        <p:origin x="1602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6356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7366000" y="0"/>
            <a:ext cx="56356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14647D-BF16-4622-A4F7-0A11AF9CEEA0}" type="datetimeFigureOut">
              <a:rPr lang="ko-KR" altLang="en-US" smtClean="0"/>
              <a:t>2025-05-09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264650"/>
            <a:ext cx="563562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7366000" y="9264650"/>
            <a:ext cx="563562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70743A-AFD7-405B-839D-49C1ACB90B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53364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6356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7366000" y="0"/>
            <a:ext cx="56356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C7180E-520E-4FD1-AAF7-46E30DFCCBEE}" type="datetimeFigureOut">
              <a:rPr lang="ko-KR" altLang="en-US" smtClean="0"/>
              <a:t>2025-05-09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306888" y="1219200"/>
            <a:ext cx="4391025" cy="3292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563562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7366000" y="9264650"/>
            <a:ext cx="563562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2DD077-6923-4816-A40E-1BCFD407CC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8583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2DD077-6923-4816-A40E-1BCFD407CC83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3725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75360" y="3023617"/>
            <a:ext cx="11054080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50720" y="5462017"/>
            <a:ext cx="91033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098">
              <a:spcBef>
                <a:spcPts val="55"/>
              </a:spcBef>
            </a:pPr>
            <a:r>
              <a:rPr lang="en-US" spc="-6"/>
              <a:t>- </a:t>
            </a:r>
            <a:fld id="{81D60167-4931-47E6-BA6A-407CBD079E47}" type="slidenum">
              <a:rPr spc="-6" smtClean="0"/>
              <a:pPr marL="38098">
                <a:spcBef>
                  <a:spcPts val="55"/>
                </a:spcBef>
              </a:pPr>
              <a:t>‹#›</a:t>
            </a:fld>
            <a:r>
              <a:rPr lang="en-US" spc="-6"/>
              <a:t> -</a:t>
            </a:r>
            <a:endParaRPr spc="-6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86480" y="420686"/>
            <a:ext cx="5831840" cy="677200"/>
          </a:xfrm>
        </p:spPr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098">
              <a:spcBef>
                <a:spcPts val="55"/>
              </a:spcBef>
            </a:pPr>
            <a:r>
              <a:rPr lang="en-US" spc="-6"/>
              <a:t>- </a:t>
            </a:r>
            <a:fld id="{81D60167-4931-47E6-BA6A-407CBD079E47}" type="slidenum">
              <a:rPr spc="-6" smtClean="0"/>
              <a:pPr marL="38098">
                <a:spcBef>
                  <a:spcPts val="55"/>
                </a:spcBef>
              </a:pPr>
              <a:t>‹#›</a:t>
            </a:fld>
            <a:r>
              <a:rPr lang="en-US" spc="-6"/>
              <a:t> -</a:t>
            </a:r>
            <a:endParaRPr spc="-6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86480" y="420686"/>
            <a:ext cx="5831840" cy="677200"/>
          </a:xfrm>
        </p:spPr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50240" y="2243329"/>
            <a:ext cx="565708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97472" y="2243329"/>
            <a:ext cx="565708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098">
              <a:spcBef>
                <a:spcPts val="55"/>
              </a:spcBef>
            </a:pPr>
            <a:r>
              <a:rPr lang="en-US" spc="-6"/>
              <a:t>- </a:t>
            </a:r>
            <a:fld id="{81D60167-4931-47E6-BA6A-407CBD079E47}" type="slidenum">
              <a:rPr spc="-6" smtClean="0"/>
              <a:pPr marL="38098">
                <a:spcBef>
                  <a:spcPts val="55"/>
                </a:spcBef>
              </a:pPr>
              <a:t>‹#›</a:t>
            </a:fld>
            <a:r>
              <a:rPr lang="en-US" spc="-6"/>
              <a:t> -</a:t>
            </a:r>
            <a:endParaRPr spc="-6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86480" y="420686"/>
            <a:ext cx="5831840" cy="677200"/>
          </a:xfrm>
        </p:spPr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098">
              <a:spcBef>
                <a:spcPts val="55"/>
              </a:spcBef>
            </a:pPr>
            <a:fld id="{81D60167-4931-47E6-BA6A-407CBD079E47}" type="slidenum">
              <a:rPr lang="en-US" altLang="ko-KR" spc="-6" smtClean="0"/>
              <a:pPr marL="38098">
                <a:spcBef>
                  <a:spcPts val="55"/>
                </a:spcBef>
              </a:pPr>
              <a:t>‹#›</a:t>
            </a:fld>
            <a:endParaRPr lang="en-US" altLang="ko-KR" spc="-6" dirty="0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202" y="248331"/>
            <a:ext cx="1232658" cy="36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098">
              <a:spcBef>
                <a:spcPts val="55"/>
              </a:spcBef>
            </a:pPr>
            <a:r>
              <a:rPr lang="en-US" spc="-6"/>
              <a:t>- </a:t>
            </a:r>
            <a:fld id="{81D60167-4931-47E6-BA6A-407CBD079E47}" type="slidenum">
              <a:rPr spc="-6" smtClean="0"/>
              <a:pPr marL="38098">
                <a:spcBef>
                  <a:spcPts val="55"/>
                </a:spcBef>
              </a:pPr>
              <a:t>‹#›</a:t>
            </a:fld>
            <a:r>
              <a:rPr lang="en-US" spc="-6"/>
              <a:t> -</a:t>
            </a:r>
            <a:endParaRPr spc="-6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1EEDA-22B8-43C9-BE28-AD67AA2F60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0723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9465600"/>
            <a:ext cx="13004800" cy="28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35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schemeClr val="bg1"/>
                </a:solidFill>
              </a:rPr>
              <a:t>본 자료는 ㈜한스씨앤씨의 서면동의 없이는 제3자에게 어떤 방식으로든 공개할 수 없습니다.</a:t>
            </a:r>
          </a:p>
        </p:txBody>
      </p:sp>
      <p:sp>
        <p:nvSpPr>
          <p:cNvPr id="16" name="bg object 16"/>
          <p:cNvSpPr/>
          <p:nvPr/>
        </p:nvSpPr>
        <p:spPr>
          <a:xfrm>
            <a:off x="800100" y="0"/>
            <a:ext cx="25400" cy="8615680"/>
          </a:xfrm>
          <a:custGeom>
            <a:avLst/>
            <a:gdLst/>
            <a:ahLst/>
            <a:cxnLst/>
            <a:rect l="l" t="t" r="r" b="b"/>
            <a:pathLst>
              <a:path w="25400" h="8615680">
                <a:moveTo>
                  <a:pt x="0" y="8615222"/>
                </a:moveTo>
                <a:lnTo>
                  <a:pt x="0" y="0"/>
                </a:lnTo>
                <a:lnTo>
                  <a:pt x="25400" y="0"/>
                </a:lnTo>
                <a:lnTo>
                  <a:pt x="25400" y="8615222"/>
                </a:lnTo>
                <a:lnTo>
                  <a:pt x="0" y="86152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0100" y="482601"/>
            <a:ext cx="2124075" cy="572134"/>
          </a:xfrm>
          <a:custGeom>
            <a:avLst/>
            <a:gdLst/>
            <a:ahLst/>
            <a:cxnLst/>
            <a:rect l="l" t="t" r="r" b="b"/>
            <a:pathLst>
              <a:path w="2124075" h="572135">
                <a:moveTo>
                  <a:pt x="2123746" y="0"/>
                </a:moveTo>
                <a:lnTo>
                  <a:pt x="0" y="0"/>
                </a:lnTo>
                <a:lnTo>
                  <a:pt x="0" y="571586"/>
                </a:lnTo>
                <a:lnTo>
                  <a:pt x="2123746" y="571586"/>
                </a:lnTo>
                <a:lnTo>
                  <a:pt x="21237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 anchor="ctr"/>
          <a:lstStyle/>
          <a:p>
            <a:pPr algn="ctr"/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86480" y="420686"/>
            <a:ext cx="5831840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2221" y="2526587"/>
            <a:ext cx="105003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21632" y="8915401"/>
            <a:ext cx="416153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50240" y="8915401"/>
            <a:ext cx="299110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141201" y="9538902"/>
            <a:ext cx="609600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sz="9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098">
              <a:spcBef>
                <a:spcPts val="55"/>
              </a:spcBef>
            </a:pPr>
            <a:r>
              <a:rPr lang="en-US" altLang="ko-KR" spc="-6"/>
              <a:t>- </a:t>
            </a:r>
            <a:fld id="{81D60167-4931-47E6-BA6A-407CBD079E47}" type="slidenum">
              <a:rPr lang="en-US" altLang="ko-KR" spc="-6" smtClean="0"/>
              <a:pPr marL="38098">
                <a:spcBef>
                  <a:spcPts val="55"/>
                </a:spcBef>
              </a:pPr>
              <a:t>‹#›</a:t>
            </a:fld>
            <a:r>
              <a:rPr lang="en-US" altLang="ko-KR" spc="-6"/>
              <a:t> -</a:t>
            </a:r>
            <a:endParaRPr lang="en-US" altLang="ko-KR" spc="-6" dirty="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202" y="248331"/>
            <a:ext cx="1232658" cy="360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176">
        <a:defRPr>
          <a:latin typeface="+mn-lt"/>
          <a:ea typeface="+mn-ea"/>
          <a:cs typeface="+mn-cs"/>
        </a:defRPr>
      </a:lvl2pPr>
      <a:lvl3pPr marL="914354">
        <a:defRPr>
          <a:latin typeface="+mn-lt"/>
          <a:ea typeface="+mn-ea"/>
          <a:cs typeface="+mn-cs"/>
        </a:defRPr>
      </a:lvl3pPr>
      <a:lvl4pPr marL="1371530">
        <a:defRPr>
          <a:latin typeface="+mn-lt"/>
          <a:ea typeface="+mn-ea"/>
          <a:cs typeface="+mn-cs"/>
        </a:defRPr>
      </a:lvl4pPr>
      <a:lvl5pPr marL="1828706">
        <a:defRPr>
          <a:latin typeface="+mn-lt"/>
          <a:ea typeface="+mn-ea"/>
          <a:cs typeface="+mn-cs"/>
        </a:defRPr>
      </a:lvl5pPr>
      <a:lvl6pPr marL="2285884">
        <a:defRPr>
          <a:latin typeface="+mn-lt"/>
          <a:ea typeface="+mn-ea"/>
          <a:cs typeface="+mn-cs"/>
        </a:defRPr>
      </a:lvl6pPr>
      <a:lvl7pPr marL="2743060">
        <a:defRPr>
          <a:latin typeface="+mn-lt"/>
          <a:ea typeface="+mn-ea"/>
          <a:cs typeface="+mn-cs"/>
        </a:defRPr>
      </a:lvl7pPr>
      <a:lvl8pPr marL="3200236">
        <a:defRPr>
          <a:latin typeface="+mn-lt"/>
          <a:ea typeface="+mn-ea"/>
          <a:cs typeface="+mn-cs"/>
        </a:defRPr>
      </a:lvl8pPr>
      <a:lvl9pPr marL="365741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176">
        <a:defRPr>
          <a:latin typeface="+mn-lt"/>
          <a:ea typeface="+mn-ea"/>
          <a:cs typeface="+mn-cs"/>
        </a:defRPr>
      </a:lvl2pPr>
      <a:lvl3pPr marL="914354">
        <a:defRPr>
          <a:latin typeface="+mn-lt"/>
          <a:ea typeface="+mn-ea"/>
          <a:cs typeface="+mn-cs"/>
        </a:defRPr>
      </a:lvl3pPr>
      <a:lvl4pPr marL="1371530">
        <a:defRPr>
          <a:latin typeface="+mn-lt"/>
          <a:ea typeface="+mn-ea"/>
          <a:cs typeface="+mn-cs"/>
        </a:defRPr>
      </a:lvl4pPr>
      <a:lvl5pPr marL="1828706">
        <a:defRPr>
          <a:latin typeface="+mn-lt"/>
          <a:ea typeface="+mn-ea"/>
          <a:cs typeface="+mn-cs"/>
        </a:defRPr>
      </a:lvl5pPr>
      <a:lvl6pPr marL="2285884">
        <a:defRPr>
          <a:latin typeface="+mn-lt"/>
          <a:ea typeface="+mn-ea"/>
          <a:cs typeface="+mn-cs"/>
        </a:defRPr>
      </a:lvl6pPr>
      <a:lvl7pPr marL="2743060">
        <a:defRPr>
          <a:latin typeface="+mn-lt"/>
          <a:ea typeface="+mn-ea"/>
          <a:cs typeface="+mn-cs"/>
        </a:defRPr>
      </a:lvl7pPr>
      <a:lvl8pPr marL="3200236">
        <a:defRPr>
          <a:latin typeface="+mn-lt"/>
          <a:ea typeface="+mn-ea"/>
          <a:cs typeface="+mn-cs"/>
        </a:defRPr>
      </a:lvl8pPr>
      <a:lvl9pPr marL="3657413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2293600" y="88167"/>
            <a:ext cx="619369" cy="3690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21EEDA-22B8-43C9-BE28-AD67AA2F60CF}" type="slidenum">
              <a:rPr lang="ko-KR" altLang="en-US" smtClean="0"/>
              <a:t>‹#›</a:t>
            </a:fld>
            <a:endParaRPr lang="ko-KR" altLang="en-US"/>
          </a:p>
        </p:txBody>
      </p:sp>
      <p:graphicFrame>
        <p:nvGraphicFramePr>
          <p:cNvPr id="7" name="표 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749428243"/>
              </p:ext>
            </p:extLst>
          </p:nvPr>
        </p:nvGraphicFramePr>
        <p:xfrm>
          <a:off x="74464" y="60081"/>
          <a:ext cx="12855873" cy="96173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5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3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17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723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022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83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32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804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Page Title.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21920" marR="121920" marT="60960" marB="60960" anchor="ctr"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21920" marR="121920" marT="60960" marB="60960" anchor="ctr"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Group Title.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21920" marR="121920" marT="60960" marB="60960" anchor="ctr"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21920" marR="121920" marT="60960" marB="60960" anchor="ctr"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Description.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Page.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21920" marR="121920" marT="60960" marB="60960" anchor="ctr">
                    <a:lnB w="317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21920" marR="121920" marT="60960" marB="60960" anchor="ctr">
                    <a:lnB w="317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59272">
                <a:tc gridSpan="4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텍스트 개체 틀 18"/>
          <p:cNvSpPr txBox="1">
            <a:spLocks/>
          </p:cNvSpPr>
          <p:nvPr userDrawn="1"/>
        </p:nvSpPr>
        <p:spPr>
          <a:xfrm>
            <a:off x="1343144" y="236175"/>
            <a:ext cx="2965331" cy="221025"/>
          </a:xfrm>
          <a:prstGeom prst="rect">
            <a:avLst/>
          </a:prstGeom>
        </p:spPr>
        <p:txBody>
          <a:bodyPr anchor="ctr" anchorCtr="0"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페이지 명 작성</a:t>
            </a:r>
          </a:p>
        </p:txBody>
      </p:sp>
      <p:sp>
        <p:nvSpPr>
          <p:cNvPr id="9" name="텍스트 개체 틀 18"/>
          <p:cNvSpPr txBox="1">
            <a:spLocks/>
          </p:cNvSpPr>
          <p:nvPr userDrawn="1"/>
        </p:nvSpPr>
        <p:spPr>
          <a:xfrm>
            <a:off x="5604291" y="236175"/>
            <a:ext cx="3329469" cy="221025"/>
          </a:xfrm>
          <a:prstGeom prst="rect">
            <a:avLst/>
          </a:prstGeom>
        </p:spPr>
        <p:txBody>
          <a:bodyPr anchor="ctr" anchorCtr="0"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그룹 타이틀 명 작성</a:t>
            </a:r>
          </a:p>
        </p:txBody>
      </p:sp>
    </p:spTree>
    <p:extLst>
      <p:ext uri="{BB962C8B-B14F-4D97-AF65-F5344CB8AC3E}">
        <p14:creationId xmlns:p14="http://schemas.microsoft.com/office/powerpoint/2010/main" val="2824218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2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3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262400" y="3997976"/>
            <a:ext cx="6480000" cy="0"/>
          </a:xfrm>
          <a:custGeom>
            <a:avLst/>
            <a:gdLst/>
            <a:ahLst/>
            <a:cxnLst/>
            <a:rect l="l" t="t" r="r" b="b"/>
            <a:pathLst>
              <a:path w="5889625">
                <a:moveTo>
                  <a:pt x="0" y="0"/>
                </a:moveTo>
                <a:lnTo>
                  <a:pt x="5889498" y="0"/>
                </a:lnTo>
              </a:path>
            </a:pathLst>
          </a:custGeom>
          <a:ln w="25400">
            <a:solidFill>
              <a:srgbClr val="EE220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86645" y="226119"/>
            <a:ext cx="324040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99">
              <a:spcBef>
                <a:spcPts val="100"/>
              </a:spcBef>
            </a:pPr>
            <a:r>
              <a:rPr sz="1600" spc="-46" dirty="0">
                <a:solidFill>
                  <a:srgbClr val="929292"/>
                </a:solidFill>
                <a:latin typeface="Malgun Gothic"/>
                <a:cs typeface="Malgun Gothic"/>
              </a:rPr>
              <a:t>Prototype</a:t>
            </a:r>
            <a:r>
              <a:rPr sz="1600" spc="-145" dirty="0">
                <a:solidFill>
                  <a:srgbClr val="929292"/>
                </a:solidFill>
                <a:latin typeface="Malgun Gothic"/>
                <a:cs typeface="Malgun Gothic"/>
              </a:rPr>
              <a:t> </a:t>
            </a:r>
            <a:r>
              <a:rPr sz="1600" spc="-85" dirty="0">
                <a:solidFill>
                  <a:srgbClr val="929292"/>
                </a:solidFill>
                <a:latin typeface="Malgun Gothic"/>
                <a:cs typeface="Malgun Gothic"/>
              </a:rPr>
              <a:t>model</a:t>
            </a:r>
            <a:r>
              <a:rPr sz="1600" spc="-145" dirty="0">
                <a:solidFill>
                  <a:srgbClr val="929292"/>
                </a:solidFill>
                <a:latin typeface="Malgun Gothic"/>
                <a:cs typeface="Malgun Gothic"/>
              </a:rPr>
              <a:t> </a:t>
            </a:r>
            <a:r>
              <a:rPr sz="1600" spc="-46" dirty="0">
                <a:solidFill>
                  <a:srgbClr val="929292"/>
                </a:solidFill>
                <a:latin typeface="Malgun Gothic"/>
                <a:cs typeface="Malgun Gothic"/>
              </a:rPr>
              <a:t>constru</a:t>
            </a:r>
            <a:r>
              <a:rPr sz="1600" spc="-36" dirty="0">
                <a:solidFill>
                  <a:srgbClr val="929292"/>
                </a:solidFill>
                <a:latin typeface="Malgun Gothic"/>
                <a:cs typeface="Malgun Gothic"/>
              </a:rPr>
              <a:t>c</a:t>
            </a:r>
            <a:r>
              <a:rPr sz="1600" spc="-50" dirty="0">
                <a:solidFill>
                  <a:srgbClr val="929292"/>
                </a:solidFill>
                <a:latin typeface="Malgun Gothic"/>
                <a:cs typeface="Malgun Gothic"/>
              </a:rPr>
              <a:t>tion</a:t>
            </a:r>
            <a:r>
              <a:rPr sz="1600" spc="-145" dirty="0">
                <a:solidFill>
                  <a:srgbClr val="929292"/>
                </a:solidFill>
                <a:latin typeface="Malgun Gothic"/>
                <a:cs typeface="Malgun Gothic"/>
              </a:rPr>
              <a:t> </a:t>
            </a:r>
            <a:r>
              <a:rPr sz="1600" spc="-55" dirty="0">
                <a:solidFill>
                  <a:srgbClr val="929292"/>
                </a:solidFill>
                <a:latin typeface="Malgun Gothic"/>
                <a:cs typeface="Malgun Gothic"/>
              </a:rPr>
              <a:t>proje</a:t>
            </a:r>
            <a:r>
              <a:rPr sz="1600" spc="-50" dirty="0">
                <a:solidFill>
                  <a:srgbClr val="929292"/>
                </a:solidFill>
                <a:latin typeface="Malgun Gothic"/>
                <a:cs typeface="Malgun Gothic"/>
              </a:rPr>
              <a:t>c</a:t>
            </a:r>
            <a:r>
              <a:rPr sz="1600" spc="6" dirty="0">
                <a:solidFill>
                  <a:srgbClr val="929292"/>
                </a:solidFill>
                <a:latin typeface="Malgun Gothic"/>
                <a:cs typeface="Malgun Gothic"/>
              </a:rPr>
              <a:t>t</a:t>
            </a:r>
            <a:endParaRPr sz="1600" dirty="0">
              <a:latin typeface="Malgun Gothic"/>
              <a:cs typeface="Malgun Gothic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2600" y="6705600"/>
            <a:ext cx="3697975" cy="1080000"/>
          </a:xfrm>
          <a:prstGeom prst="rect">
            <a:avLst/>
          </a:prstGeom>
        </p:spPr>
      </p:pic>
      <p:sp>
        <p:nvSpPr>
          <p:cNvPr id="12" name="제목 11"/>
          <p:cNvSpPr>
            <a:spLocks noGrp="1"/>
          </p:cNvSpPr>
          <p:nvPr>
            <p:ph type="title"/>
          </p:nvPr>
        </p:nvSpPr>
        <p:spPr>
          <a:xfrm>
            <a:off x="0" y="3124679"/>
            <a:ext cx="13004800" cy="677108"/>
          </a:xfrm>
        </p:spPr>
        <p:txBody>
          <a:bodyPr anchor="ctr"/>
          <a:lstStyle/>
          <a:p>
            <a:pPr algn="ctr"/>
            <a:r>
              <a:rPr lang="ko-KR" altLang="en-US" dirty="0" err="1">
                <a:latin typeface="AppleSDGothicNeoH00" panose="02000503000000000000" pitchFamily="2" charset="-127"/>
                <a:ea typeface="AppleSDGothicNeoH00" panose="02000503000000000000" pitchFamily="2" charset="-127"/>
              </a:rPr>
              <a:t>탄소뱅크</a:t>
            </a:r>
            <a:r>
              <a:rPr lang="ko-KR" altLang="en-US" dirty="0">
                <a:latin typeface="AppleSDGothicNeoH00" panose="02000503000000000000" pitchFamily="2" charset="-127"/>
                <a:ea typeface="AppleSDGothicNeoH00" panose="02000503000000000000" pitchFamily="2" charset="-127"/>
              </a:rPr>
              <a:t> </a:t>
            </a:r>
            <a:r>
              <a:rPr lang="en-US" altLang="ko-KR" dirty="0">
                <a:latin typeface="+mj-ea"/>
              </a:rPr>
              <a:t>APP</a:t>
            </a:r>
            <a:r>
              <a:rPr lang="ko-KR" altLang="en-US" dirty="0">
                <a:latin typeface="AppleSDGothicNeoH00" panose="02000503000000000000" pitchFamily="2" charset="-127"/>
                <a:ea typeface="AppleSDGothicNeoH00" panose="02000503000000000000" pitchFamily="2" charset="-127"/>
              </a:rPr>
              <a:t> </a:t>
            </a:r>
            <a:r>
              <a:rPr lang="ko-KR" altLang="en-US" dirty="0">
                <a:latin typeface="+mj-ea"/>
              </a:rPr>
              <a:t>설계</a:t>
            </a:r>
            <a:r>
              <a:rPr lang="en-US" altLang="ko-KR" dirty="0">
                <a:latin typeface="+mj-ea"/>
              </a:rPr>
              <a:t>·</a:t>
            </a:r>
            <a:r>
              <a:rPr lang="ko-KR" altLang="en-US" dirty="0">
                <a:latin typeface="+mj-ea"/>
              </a:rPr>
              <a:t>계획서</a:t>
            </a:r>
          </a:p>
        </p:txBody>
      </p:sp>
      <p:sp>
        <p:nvSpPr>
          <p:cNvPr id="7" name="object 6"/>
          <p:cNvSpPr txBox="1"/>
          <p:nvPr/>
        </p:nvSpPr>
        <p:spPr>
          <a:xfrm>
            <a:off x="9425640" y="226119"/>
            <a:ext cx="324040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99" algn="r">
              <a:spcBef>
                <a:spcPts val="100"/>
              </a:spcBef>
            </a:pPr>
            <a:r>
              <a:rPr lang="en-US" sz="1600" spc="-46" dirty="0">
                <a:solidFill>
                  <a:srgbClr val="929292"/>
                </a:solidFill>
                <a:latin typeface="Malgun Gothic"/>
                <a:cs typeface="Malgun Gothic"/>
              </a:rPr>
              <a:t>VER . 1.0.1</a:t>
            </a:r>
            <a:endParaRPr sz="1600" dirty="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787401" y="585888"/>
            <a:ext cx="9296400" cy="492314"/>
            <a:chOff x="787400" y="585887"/>
            <a:chExt cx="9296400" cy="492313"/>
          </a:xfrm>
        </p:grpSpPr>
        <p:sp>
          <p:nvSpPr>
            <p:cNvPr id="6" name="TextBox 5"/>
            <p:cNvSpPr txBox="1"/>
            <p:nvPr/>
          </p:nvSpPr>
          <p:spPr>
            <a:xfrm>
              <a:off x="787400" y="585887"/>
              <a:ext cx="2133599" cy="369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801" b="1" spc="-265" dirty="0">
                  <a:solidFill>
                    <a:srgbClr val="FFFFFF"/>
                  </a:solidFill>
                  <a:latin typeface="+mj-ea"/>
                  <a:ea typeface="+mj-ea"/>
                  <a:cs typeface="Malgun Gothic"/>
                </a:rPr>
                <a:t>문서개정이력</a:t>
              </a:r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073400" y="770552"/>
              <a:ext cx="7010400" cy="3076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399" spc="-165" dirty="0">
                  <a:latin typeface="Malgun Gothic"/>
                  <a:cs typeface="Malgun Gothic"/>
                </a:rPr>
                <a:t>프로젝트</a:t>
              </a:r>
              <a:r>
                <a:rPr lang="ko-KR" altLang="en-US" sz="1399" spc="-90" dirty="0">
                  <a:latin typeface="Malgun Gothic"/>
                  <a:cs typeface="Malgun Gothic"/>
                </a:rPr>
                <a:t> </a:t>
              </a:r>
              <a:r>
                <a:rPr lang="ko-KR" altLang="en-US" sz="1399" spc="-165" dirty="0">
                  <a:latin typeface="Malgun Gothic"/>
                  <a:cs typeface="Malgun Gothic"/>
                </a:rPr>
                <a:t>실제</a:t>
              </a:r>
              <a:r>
                <a:rPr lang="ko-KR" altLang="en-US" sz="1399" spc="-90" dirty="0">
                  <a:latin typeface="Malgun Gothic"/>
                  <a:cs typeface="Malgun Gothic"/>
                </a:rPr>
                <a:t> </a:t>
              </a:r>
              <a:r>
                <a:rPr lang="ko-KR" altLang="en-US" sz="1399" spc="-165" dirty="0">
                  <a:latin typeface="Malgun Gothic"/>
                  <a:cs typeface="Malgun Gothic"/>
                </a:rPr>
                <a:t>구현에</a:t>
              </a:r>
              <a:r>
                <a:rPr lang="ko-KR" altLang="en-US" sz="1399" spc="-90" dirty="0">
                  <a:latin typeface="Malgun Gothic"/>
                  <a:cs typeface="Malgun Gothic"/>
                </a:rPr>
                <a:t> </a:t>
              </a:r>
              <a:r>
                <a:rPr lang="ko-KR" altLang="en-US" sz="1399" spc="-165" dirty="0">
                  <a:latin typeface="Malgun Gothic"/>
                  <a:cs typeface="Malgun Gothic"/>
                </a:rPr>
                <a:t>꼭</a:t>
              </a:r>
              <a:r>
                <a:rPr lang="ko-KR" altLang="en-US" sz="1399" spc="-90" dirty="0">
                  <a:latin typeface="Malgun Gothic"/>
                  <a:cs typeface="Malgun Gothic"/>
                </a:rPr>
                <a:t> </a:t>
              </a:r>
              <a:r>
                <a:rPr lang="ko-KR" altLang="en-US" sz="1399" spc="-165" dirty="0">
                  <a:latin typeface="Malgun Gothic"/>
                  <a:cs typeface="Malgun Gothic"/>
                </a:rPr>
                <a:t>필요한</a:t>
              </a:r>
              <a:r>
                <a:rPr lang="ko-KR" altLang="en-US" sz="1399" spc="-90" dirty="0">
                  <a:latin typeface="Malgun Gothic"/>
                  <a:cs typeface="Malgun Gothic"/>
                </a:rPr>
                <a:t> </a:t>
              </a:r>
              <a:r>
                <a:rPr lang="ko-KR" altLang="en-US" sz="1399" spc="-165" dirty="0">
                  <a:latin typeface="Malgun Gothic"/>
                  <a:cs typeface="Malgun Gothic"/>
                </a:rPr>
                <a:t>내용만</a:t>
              </a:r>
              <a:r>
                <a:rPr lang="ko-KR" altLang="en-US" sz="1399" spc="-90" dirty="0">
                  <a:latin typeface="Malgun Gothic"/>
                  <a:cs typeface="Malgun Gothic"/>
                </a:rPr>
                <a:t> </a:t>
              </a:r>
              <a:r>
                <a:rPr lang="ko-KR" altLang="en-US" sz="1399" spc="-165" dirty="0">
                  <a:latin typeface="Malgun Gothic"/>
                  <a:cs typeface="Malgun Gothic"/>
                </a:rPr>
                <a:t>작성한다</a:t>
              </a:r>
              <a:r>
                <a:rPr lang="en-US" altLang="ko-KR" sz="1399" dirty="0">
                  <a:latin typeface="Arial"/>
                  <a:cs typeface="Arial"/>
                </a:rPr>
                <a:t>.</a:t>
              </a:r>
              <a:endParaRPr lang="ko-KR" altLang="en-US" sz="1399" dirty="0"/>
            </a:p>
          </p:txBody>
        </p:sp>
      </p:grp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1435876"/>
              </p:ext>
            </p:extLst>
          </p:nvPr>
        </p:nvGraphicFramePr>
        <p:xfrm>
          <a:off x="1197870" y="1700808"/>
          <a:ext cx="11248130" cy="66637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4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15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9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0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8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3976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Version.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216000"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Date.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21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Content.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21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Page.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21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Owner.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21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977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l" latinLnBrk="1">
                        <a:buFont typeface="Arial" pitchFamily="34" charset="0"/>
                        <a:buChar char="•"/>
                      </a:pPr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977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977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977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977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977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977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509977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947264"/>
                  </a:ext>
                </a:extLst>
              </a:tr>
              <a:tr h="509977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878267"/>
                  </a:ext>
                </a:extLst>
              </a:tr>
              <a:tr h="509977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82868"/>
                  </a:ext>
                </a:extLst>
              </a:tr>
              <a:tr h="509977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3474962"/>
                  </a:ext>
                </a:extLst>
              </a:tr>
              <a:tr h="509977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623283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7483B-C1E3-87B7-2FD8-5E6CE532F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EC9EEE0D-91AB-F626-7291-6F095C1387F3}"/>
              </a:ext>
            </a:extLst>
          </p:cNvPr>
          <p:cNvGrpSpPr/>
          <p:nvPr/>
        </p:nvGrpSpPr>
        <p:grpSpPr>
          <a:xfrm>
            <a:off x="787401" y="585889"/>
            <a:ext cx="9296400" cy="492315"/>
            <a:chOff x="787400" y="585887"/>
            <a:chExt cx="9296400" cy="49231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A9F58B9-E33D-472C-5466-437C1A85ED07}"/>
                </a:ext>
              </a:extLst>
            </p:cNvPr>
            <p:cNvSpPr txBox="1"/>
            <p:nvPr/>
          </p:nvSpPr>
          <p:spPr>
            <a:xfrm>
              <a:off x="787400" y="585887"/>
              <a:ext cx="2133599" cy="369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앱 화면 </a:t>
              </a:r>
              <a:r>
                <a:rPr lang="en-US" altLang="ko-KR" b="1" dirty="0">
                  <a:solidFill>
                    <a:schemeClr val="bg1"/>
                  </a:solidFill>
                  <a:latin typeface="+mj-ea"/>
                  <a:ea typeface="+mj-ea"/>
                </a:rPr>
                <a:t>#01</a:t>
              </a:r>
              <a:endParaRPr lang="ko-KR" altLang="en-US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D4A7F6B-C5EF-3379-9041-51889C44CD1B}"/>
                </a:ext>
              </a:extLst>
            </p:cNvPr>
            <p:cNvSpPr txBox="1"/>
            <p:nvPr/>
          </p:nvSpPr>
          <p:spPr>
            <a:xfrm>
              <a:off x="3073400" y="770553"/>
              <a:ext cx="7010400" cy="3076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399" spc="-165" dirty="0">
                  <a:latin typeface="Malgun Gothic"/>
                </a:rPr>
                <a:t>회원 </a:t>
              </a:r>
              <a:r>
                <a:rPr lang="en-US" altLang="ko-KR" sz="1399" spc="-165" dirty="0">
                  <a:latin typeface="Malgun Gothic"/>
                </a:rPr>
                <a:t>APP - </a:t>
              </a:r>
              <a:r>
                <a:rPr lang="ko-KR" altLang="en-US" sz="1399" spc="-165" dirty="0">
                  <a:latin typeface="Malgun Gothic"/>
                </a:rPr>
                <a:t>로그인</a:t>
              </a:r>
              <a:endParaRPr lang="ko-KR" altLang="en-US" sz="1399" dirty="0"/>
            </a:p>
          </p:txBody>
        </p:sp>
      </p:grpSp>
      <p:grpSp>
        <p:nvGrpSpPr>
          <p:cNvPr id="5" name="그룹 4"/>
          <p:cNvGrpSpPr/>
          <p:nvPr/>
        </p:nvGrpSpPr>
        <p:grpSpPr>
          <a:xfrm>
            <a:off x="1625600" y="1600201"/>
            <a:ext cx="3123951" cy="7124979"/>
            <a:chOff x="5289800" y="1600201"/>
            <a:chExt cx="3123951" cy="7124979"/>
          </a:xfrm>
        </p:grpSpPr>
        <p:sp>
          <p:nvSpPr>
            <p:cNvPr id="128" name="직사각형 127"/>
            <p:cNvSpPr/>
            <p:nvPr/>
          </p:nvSpPr>
          <p:spPr>
            <a:xfrm>
              <a:off x="5289800" y="8232599"/>
              <a:ext cx="3117601" cy="49258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E5E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399" b="1" dirty="0">
                  <a:solidFill>
                    <a:sysClr val="windowText" lastClr="000000"/>
                  </a:solidFill>
                </a:rPr>
                <a:t>로그인</a:t>
              </a:r>
            </a:p>
          </p:txBody>
        </p:sp>
        <p:grpSp>
          <p:nvGrpSpPr>
            <p:cNvPr id="33" name="그룹 32"/>
            <p:cNvGrpSpPr/>
            <p:nvPr/>
          </p:nvGrpSpPr>
          <p:grpSpPr>
            <a:xfrm>
              <a:off x="5296150" y="1600201"/>
              <a:ext cx="3117601" cy="2666999"/>
              <a:chOff x="5289800" y="1600201"/>
              <a:chExt cx="3117601" cy="2666999"/>
            </a:xfrm>
          </p:grpSpPr>
          <p:sp>
            <p:nvSpPr>
              <p:cNvPr id="12" name="모서리가 둥근 직사각형 11"/>
              <p:cNvSpPr/>
              <p:nvPr/>
            </p:nvSpPr>
            <p:spPr>
              <a:xfrm>
                <a:off x="5289800" y="2057400"/>
                <a:ext cx="3117601" cy="2209800"/>
              </a:xfrm>
              <a:prstGeom prst="roundRect">
                <a:avLst>
                  <a:gd name="adj" fmla="val 19078"/>
                </a:avLst>
              </a:prstGeom>
              <a:solidFill>
                <a:srgbClr val="F1AF2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b="1" dirty="0"/>
              </a:p>
              <a:p>
                <a:pPr algn="ctr"/>
                <a:r>
                  <a:rPr lang="ko-KR" altLang="en-US" sz="2400" b="1" dirty="0" err="1"/>
                  <a:t>탄소뱅크</a:t>
                </a:r>
                <a:endParaRPr lang="ko-KR" altLang="en-US" sz="2400" b="1" dirty="0"/>
              </a:p>
            </p:txBody>
          </p:sp>
          <p:sp>
            <p:nvSpPr>
              <p:cNvPr id="28" name="직사각형 27"/>
              <p:cNvSpPr/>
              <p:nvPr/>
            </p:nvSpPr>
            <p:spPr>
              <a:xfrm>
                <a:off x="5289800" y="1600201"/>
                <a:ext cx="3117601" cy="1142999"/>
              </a:xfrm>
              <a:prstGeom prst="rect">
                <a:avLst/>
              </a:prstGeom>
              <a:solidFill>
                <a:srgbClr val="F1AF2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27" name="직사각형 126"/>
            <p:cNvSpPr/>
            <p:nvPr/>
          </p:nvSpPr>
          <p:spPr>
            <a:xfrm>
              <a:off x="5289800" y="1602288"/>
              <a:ext cx="3117601" cy="6480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grpSp>
          <p:nvGrpSpPr>
            <p:cNvPr id="59" name="그룹 58"/>
            <p:cNvGrpSpPr/>
            <p:nvPr/>
          </p:nvGrpSpPr>
          <p:grpSpPr>
            <a:xfrm>
              <a:off x="6527016" y="2133600"/>
              <a:ext cx="643167" cy="643167"/>
              <a:chOff x="8382001" y="194523"/>
              <a:chExt cx="1219200" cy="1219200"/>
            </a:xfrm>
          </p:grpSpPr>
          <p:sp>
            <p:nvSpPr>
              <p:cNvPr id="35" name="1/2 액자 34"/>
              <p:cNvSpPr/>
              <p:nvPr/>
            </p:nvSpPr>
            <p:spPr>
              <a:xfrm rot="13500000">
                <a:off x="8703601" y="365766"/>
                <a:ext cx="576000" cy="576000"/>
              </a:xfrm>
              <a:prstGeom prst="halfFrame">
                <a:avLst>
                  <a:gd name="adj1" fmla="val 15794"/>
                  <a:gd name="adj2" fmla="val 14332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타원 46"/>
              <p:cNvSpPr/>
              <p:nvPr/>
            </p:nvSpPr>
            <p:spPr>
              <a:xfrm>
                <a:off x="8382001" y="194523"/>
                <a:ext cx="1219200" cy="1219200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60" name="모서리가 둥근 직사각형 59"/>
            <p:cNvSpPr/>
            <p:nvPr/>
          </p:nvSpPr>
          <p:spPr>
            <a:xfrm>
              <a:off x="5498459" y="3886200"/>
              <a:ext cx="2700282" cy="3352800"/>
            </a:xfrm>
            <a:prstGeom prst="roundRect">
              <a:avLst>
                <a:gd name="adj" fmla="val 9804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모서리가 둥근 직사각형 70"/>
            <p:cNvSpPr/>
            <p:nvPr/>
          </p:nvSpPr>
          <p:spPr>
            <a:xfrm>
              <a:off x="5743700" y="4328883"/>
              <a:ext cx="2209800" cy="304800"/>
            </a:xfrm>
            <a:prstGeom prst="roundRect">
              <a:avLst>
                <a:gd name="adj" fmla="val 33542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>
                  <a:latin typeface="+mj-ea"/>
                  <a:ea typeface="+mj-ea"/>
                </a:rPr>
                <a:t>휴대폰 번호를 입력하세요</a:t>
              </a:r>
              <a:r>
                <a:rPr lang="en-US" altLang="ko-KR" sz="1000" b="1" dirty="0">
                  <a:latin typeface="+mj-ea"/>
                  <a:ea typeface="+mj-ea"/>
                </a:rPr>
                <a:t>.</a:t>
              </a:r>
              <a:endParaRPr lang="ko-KR" altLang="en-US" sz="1000" b="1" dirty="0">
                <a:latin typeface="+mj-ea"/>
                <a:ea typeface="+mj-ea"/>
              </a:endParaRPr>
            </a:p>
          </p:txBody>
        </p:sp>
        <p:sp>
          <p:nvSpPr>
            <p:cNvPr id="131" name="모서리가 둥근 직사각형 130"/>
            <p:cNvSpPr/>
            <p:nvPr/>
          </p:nvSpPr>
          <p:spPr>
            <a:xfrm>
              <a:off x="5743700" y="4783994"/>
              <a:ext cx="2209800" cy="304800"/>
            </a:xfrm>
            <a:prstGeom prst="roundRect">
              <a:avLst>
                <a:gd name="adj" fmla="val 34375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000" b="1" dirty="0">
                  <a:latin typeface="+mj-ea"/>
                  <a:ea typeface="+mj-ea"/>
                </a:rPr>
                <a:t>     비밀번호를 입력하세요</a:t>
              </a:r>
            </a:p>
          </p:txBody>
        </p:sp>
        <p:sp>
          <p:nvSpPr>
            <p:cNvPr id="83" name="모서리가 둥근 직사각형 82"/>
            <p:cNvSpPr/>
            <p:nvPr/>
          </p:nvSpPr>
          <p:spPr>
            <a:xfrm>
              <a:off x="5743700" y="5334000"/>
              <a:ext cx="2209800" cy="512178"/>
            </a:xfrm>
            <a:prstGeom prst="roundRect">
              <a:avLst>
                <a:gd name="adj" fmla="val 35878"/>
              </a:avLst>
            </a:prstGeom>
            <a:solidFill>
              <a:srgbClr val="F1AF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/>
                <a:t>로그인</a:t>
              </a:r>
            </a:p>
          </p:txBody>
        </p:sp>
        <p:sp>
          <p:nvSpPr>
            <p:cNvPr id="136" name="모서리가 둥근 직사각형 135"/>
            <p:cNvSpPr/>
            <p:nvPr/>
          </p:nvSpPr>
          <p:spPr>
            <a:xfrm>
              <a:off x="5955853" y="6336126"/>
              <a:ext cx="1785492" cy="28819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>
                  <a:solidFill>
                    <a:schemeClr val="bg1">
                      <a:lumMod val="65000"/>
                    </a:schemeClr>
                  </a:solidFill>
                </a:rPr>
                <a:t>회원가입</a:t>
              </a:r>
            </a:p>
          </p:txBody>
        </p:sp>
        <p:sp>
          <p:nvSpPr>
            <p:cNvPr id="4096" name="TextBox 4095"/>
            <p:cNvSpPr txBox="1"/>
            <p:nvPr/>
          </p:nvSpPr>
          <p:spPr>
            <a:xfrm>
              <a:off x="6143919" y="6002179"/>
              <a:ext cx="140936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chemeClr val="bg1">
                      <a:lumMod val="65000"/>
                    </a:schemeClr>
                  </a:solidFill>
                </a:rPr>
                <a:t>아이디 비밀번호 찾기</a:t>
              </a:r>
            </a:p>
          </p:txBody>
        </p:sp>
      </p:grpSp>
      <p:sp>
        <p:nvSpPr>
          <p:cNvPr id="6" name="모서리가 둥근 직사각형 135">
            <a:extLst>
              <a:ext uri="{FF2B5EF4-FFF2-40B4-BE49-F238E27FC236}">
                <a16:creationId xmlns:a16="http://schemas.microsoft.com/office/drawing/2014/main" id="{3C874FD8-C6DC-2EC5-7019-D610F6CE82ED}"/>
              </a:ext>
            </a:extLst>
          </p:cNvPr>
          <p:cNvSpPr/>
          <p:nvPr/>
        </p:nvSpPr>
        <p:spPr>
          <a:xfrm>
            <a:off x="2357120" y="6761480"/>
            <a:ext cx="1785492" cy="288194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>
                    <a:lumMod val="65000"/>
                  </a:schemeClr>
                </a:solidFill>
              </a:rPr>
              <a:t>가맹점가입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F77A02E-6D99-64A6-CAEF-D73B0228CAC0}"/>
              </a:ext>
            </a:extLst>
          </p:cNvPr>
          <p:cNvSpPr/>
          <p:nvPr/>
        </p:nvSpPr>
        <p:spPr>
          <a:xfrm>
            <a:off x="10921999" y="3124200"/>
            <a:ext cx="1524001" cy="381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AE97A67-B7C7-9AE8-E50D-239446C66926}"/>
              </a:ext>
            </a:extLst>
          </p:cNvPr>
          <p:cNvSpPr/>
          <p:nvPr/>
        </p:nvSpPr>
        <p:spPr>
          <a:xfrm>
            <a:off x="10922000" y="3657600"/>
            <a:ext cx="1524001" cy="381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E09AE8C-2488-2B6A-656F-7BB40C2C70B1}"/>
              </a:ext>
            </a:extLst>
          </p:cNvPr>
          <p:cNvSpPr/>
          <p:nvPr/>
        </p:nvSpPr>
        <p:spPr>
          <a:xfrm>
            <a:off x="10922000" y="4191000"/>
            <a:ext cx="1524001" cy="381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BB3D95-9B71-9E78-9154-EE0E6A270C29}"/>
              </a:ext>
            </a:extLst>
          </p:cNvPr>
          <p:cNvSpPr txBox="1"/>
          <p:nvPr/>
        </p:nvSpPr>
        <p:spPr>
          <a:xfrm>
            <a:off x="9398000" y="320040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1DE243-B605-7B7C-AFD0-B00B3CE0591E}"/>
              </a:ext>
            </a:extLst>
          </p:cNvPr>
          <p:cNvSpPr txBox="1"/>
          <p:nvPr/>
        </p:nvSpPr>
        <p:spPr>
          <a:xfrm>
            <a:off x="9398000" y="3669268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휴대폰 번호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EA4C03-0454-A387-E0E8-E64B51378C77}"/>
              </a:ext>
            </a:extLst>
          </p:cNvPr>
          <p:cNvSpPr txBox="1"/>
          <p:nvPr/>
        </p:nvSpPr>
        <p:spPr>
          <a:xfrm>
            <a:off x="9398000" y="412646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비밀번호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293009B-3977-5D79-CC86-83F76A4251CF}"/>
              </a:ext>
            </a:extLst>
          </p:cNvPr>
          <p:cNvSpPr/>
          <p:nvPr/>
        </p:nvSpPr>
        <p:spPr>
          <a:xfrm>
            <a:off x="9426582" y="6905577"/>
            <a:ext cx="3117601" cy="492581"/>
          </a:xfrm>
          <a:prstGeom prst="rect">
            <a:avLst/>
          </a:prstGeom>
          <a:solidFill>
            <a:schemeClr val="bg1"/>
          </a:solidFill>
          <a:ln w="127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399" b="1" dirty="0">
                <a:solidFill>
                  <a:sysClr val="windowText" lastClr="000000"/>
                </a:solidFill>
              </a:rPr>
              <a:t>회원가입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1166B48-2990-1C03-A6DA-9466BCF4622A}"/>
              </a:ext>
            </a:extLst>
          </p:cNvPr>
          <p:cNvSpPr/>
          <p:nvPr/>
        </p:nvSpPr>
        <p:spPr>
          <a:xfrm>
            <a:off x="9169400" y="1981200"/>
            <a:ext cx="3505200" cy="38649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8D44B86-6540-FED4-BE95-89233B4B06B4}"/>
              </a:ext>
            </a:extLst>
          </p:cNvPr>
          <p:cNvSpPr/>
          <p:nvPr/>
        </p:nvSpPr>
        <p:spPr>
          <a:xfrm>
            <a:off x="10159999" y="5200149"/>
            <a:ext cx="1447801" cy="28625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rgbClr val="FFFFFF"/>
                </a:solidFill>
              </a:rPr>
              <a:t>가입</a:t>
            </a:r>
            <a:endParaRPr lang="ko-KR" altLang="en-US" dirty="0">
              <a:solidFill>
                <a:srgbClr val="FFFFFF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EEF2A71-12BC-AE69-FAF9-42A434E397EC}"/>
              </a:ext>
            </a:extLst>
          </p:cNvPr>
          <p:cNvSpPr/>
          <p:nvPr/>
        </p:nvSpPr>
        <p:spPr>
          <a:xfrm>
            <a:off x="5061199" y="1600201"/>
            <a:ext cx="3117601" cy="6480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9415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071E969-2E2F-66C3-018E-31D2818DF8DC}"/>
              </a:ext>
            </a:extLst>
          </p:cNvPr>
          <p:cNvSpPr/>
          <p:nvPr/>
        </p:nvSpPr>
        <p:spPr>
          <a:xfrm>
            <a:off x="8559798" y="2714375"/>
            <a:ext cx="1447801" cy="28625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E4B387E-BA93-6551-5E4A-577277F43136}"/>
              </a:ext>
            </a:extLst>
          </p:cNvPr>
          <p:cNvSpPr/>
          <p:nvPr/>
        </p:nvSpPr>
        <p:spPr>
          <a:xfrm>
            <a:off x="5892800" y="1981200"/>
            <a:ext cx="4267200" cy="4495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95C70D-377E-4DFC-3F89-97FE0EFE1CB2}"/>
              </a:ext>
            </a:extLst>
          </p:cNvPr>
          <p:cNvSpPr txBox="1"/>
          <p:nvPr/>
        </p:nvSpPr>
        <p:spPr>
          <a:xfrm>
            <a:off x="787401" y="585889"/>
            <a:ext cx="2133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chemeClr val="bg1"/>
                </a:solidFill>
                <a:latin typeface="+mj-ea"/>
                <a:ea typeface="+mj-ea"/>
              </a:rPr>
              <a:t>가맹점 가입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68DC8C-E03E-C1C0-499D-3626E287438C}"/>
              </a:ext>
            </a:extLst>
          </p:cNvPr>
          <p:cNvSpPr txBox="1"/>
          <p:nvPr/>
        </p:nvSpPr>
        <p:spPr>
          <a:xfrm>
            <a:off x="6121400" y="2608308"/>
            <a:ext cx="2514600" cy="336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spc="-165" dirty="0">
                <a:latin typeface="Malgun Gothic"/>
                <a:ea typeface="굴림" panose="020B0600000101010101" pitchFamily="50" charset="-127"/>
              </a:rPr>
              <a:t>상호</a:t>
            </a:r>
            <a:endParaRPr lang="en-US" altLang="ko-KR" sz="1800" spc="-165" dirty="0">
              <a:latin typeface="Malgun Gothic"/>
              <a:ea typeface="굴림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800" spc="-165" dirty="0">
                <a:latin typeface="Malgun Gothic"/>
                <a:ea typeface="굴림" panose="020B0600000101010101" pitchFamily="50" charset="-127"/>
              </a:rPr>
              <a:t>대표자 성명</a:t>
            </a:r>
            <a:endParaRPr lang="en-US" altLang="ko-KR" sz="1800" spc="-165" dirty="0">
              <a:latin typeface="Malgun Gothic"/>
              <a:ea typeface="굴림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800" spc="-165" dirty="0">
                <a:latin typeface="Malgun Gothic"/>
                <a:ea typeface="굴림" panose="020B0600000101010101" pitchFamily="50" charset="-127"/>
              </a:rPr>
              <a:t>사업자 등록번호</a:t>
            </a:r>
            <a:endParaRPr lang="en-US" altLang="ko-KR" sz="1800" spc="-165" dirty="0">
              <a:latin typeface="Malgun Gothic"/>
              <a:ea typeface="굴림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800" spc="-165" dirty="0">
                <a:latin typeface="Malgun Gothic"/>
                <a:ea typeface="굴림" panose="020B0600000101010101" pitchFamily="50" charset="-127"/>
              </a:rPr>
              <a:t>휴대폰 번호</a:t>
            </a:r>
            <a:endParaRPr lang="en-US" altLang="ko-KR" sz="1800" spc="-165" dirty="0">
              <a:latin typeface="Malgun Gothic"/>
              <a:ea typeface="굴림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800" spc="-165" dirty="0">
                <a:latin typeface="Malgun Gothic"/>
                <a:ea typeface="굴림" panose="020B0600000101010101" pitchFamily="50" charset="-127"/>
              </a:rPr>
              <a:t>비밀번호 </a:t>
            </a:r>
            <a:r>
              <a:rPr lang="en-US" altLang="ko-KR" sz="1800" spc="-165" dirty="0">
                <a:latin typeface="Malgun Gothic"/>
                <a:ea typeface="굴림" panose="020B0600000101010101" pitchFamily="50" charset="-127"/>
              </a:rPr>
              <a:t>(6</a:t>
            </a:r>
            <a:r>
              <a:rPr lang="ko-KR" altLang="en-US" sz="1800" spc="-165" dirty="0">
                <a:latin typeface="Malgun Gothic"/>
                <a:ea typeface="굴림" panose="020B0600000101010101" pitchFamily="50" charset="-127"/>
              </a:rPr>
              <a:t>자리</a:t>
            </a:r>
            <a:r>
              <a:rPr lang="en-US" altLang="ko-KR" sz="1800" spc="-165" dirty="0">
                <a:latin typeface="Malgun Gothic"/>
                <a:ea typeface="굴림" panose="020B0600000101010101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pc="-165" dirty="0">
              <a:latin typeface="Malgun Gothic"/>
              <a:ea typeface="굴림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pc="-165" dirty="0">
                <a:latin typeface="Malgun Gothic"/>
                <a:ea typeface="굴림" panose="020B0600000101010101" pitchFamily="50" charset="-127"/>
              </a:rPr>
              <a:t>사업자등록증 사진</a:t>
            </a:r>
            <a:endParaRPr lang="en-US" altLang="ko-KR" spc="-165" dirty="0">
              <a:latin typeface="Malgun Gothic"/>
              <a:ea typeface="굴림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pc="-165" dirty="0">
                <a:latin typeface="Malgun Gothic"/>
                <a:ea typeface="굴림" panose="020B0600000101010101" pitchFamily="50" charset="-127"/>
              </a:rPr>
              <a:t>사업장 사진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9AC9159-1BE4-E67D-E2D0-09360D9EDCCE}"/>
              </a:ext>
            </a:extLst>
          </p:cNvPr>
          <p:cNvSpPr/>
          <p:nvPr/>
        </p:nvSpPr>
        <p:spPr>
          <a:xfrm>
            <a:off x="8559800" y="3142749"/>
            <a:ext cx="1447801" cy="28625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DC947B8-D984-4E07-44FA-EC2C10352C49}"/>
              </a:ext>
            </a:extLst>
          </p:cNvPr>
          <p:cNvSpPr/>
          <p:nvPr/>
        </p:nvSpPr>
        <p:spPr>
          <a:xfrm>
            <a:off x="8559799" y="3581400"/>
            <a:ext cx="1447801" cy="28625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845EBBC-A263-7B61-BE1B-1EE1A7F5ECF2}"/>
              </a:ext>
            </a:extLst>
          </p:cNvPr>
          <p:cNvSpPr/>
          <p:nvPr/>
        </p:nvSpPr>
        <p:spPr>
          <a:xfrm>
            <a:off x="8559800" y="4038600"/>
            <a:ext cx="1447801" cy="28625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D0A0149-748F-0DC5-945E-0BE0E2C3128F}"/>
              </a:ext>
            </a:extLst>
          </p:cNvPr>
          <p:cNvSpPr/>
          <p:nvPr/>
        </p:nvSpPr>
        <p:spPr>
          <a:xfrm>
            <a:off x="8559800" y="4438149"/>
            <a:ext cx="1447801" cy="28625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F7C0F82-0975-7BE7-8C14-867EA7489977}"/>
              </a:ext>
            </a:extLst>
          </p:cNvPr>
          <p:cNvSpPr/>
          <p:nvPr/>
        </p:nvSpPr>
        <p:spPr>
          <a:xfrm>
            <a:off x="8559800" y="5200149"/>
            <a:ext cx="1447801" cy="28625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FFFF"/>
                </a:solidFill>
              </a:rPr>
              <a:t>사진 촬영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B9B23F0-1E93-1FBC-C08D-5186A4395918}"/>
              </a:ext>
            </a:extLst>
          </p:cNvPr>
          <p:cNvSpPr/>
          <p:nvPr/>
        </p:nvSpPr>
        <p:spPr>
          <a:xfrm>
            <a:off x="8559800" y="5581149"/>
            <a:ext cx="1447801" cy="28625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FFFF"/>
                </a:solidFill>
              </a:rPr>
              <a:t>사진 촬영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F8567E2-C8EE-2EFD-1166-2E0E896CD292}"/>
              </a:ext>
            </a:extLst>
          </p:cNvPr>
          <p:cNvSpPr/>
          <p:nvPr/>
        </p:nvSpPr>
        <p:spPr>
          <a:xfrm>
            <a:off x="7188200" y="6114549"/>
            <a:ext cx="1447801" cy="28625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rgbClr val="FFFFFF"/>
                </a:solidFill>
              </a:rPr>
              <a:t>가입</a:t>
            </a:r>
            <a:endParaRPr lang="ko-KR" altLang="en-US" dirty="0">
              <a:solidFill>
                <a:srgbClr val="FFFFFF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8234B5E-438D-0284-3A4F-9046CA8935B5}"/>
              </a:ext>
            </a:extLst>
          </p:cNvPr>
          <p:cNvSpPr/>
          <p:nvPr/>
        </p:nvSpPr>
        <p:spPr>
          <a:xfrm>
            <a:off x="1778000" y="1600201"/>
            <a:ext cx="3117601" cy="6480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7658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87401" y="585889"/>
            <a:ext cx="2133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chemeClr val="bg1"/>
                </a:solidFill>
                <a:latin typeface="+mj-ea"/>
                <a:ea typeface="+mj-ea"/>
              </a:rPr>
              <a:t>메인</a:t>
            </a:r>
            <a:r>
              <a:rPr lang="en-US" altLang="ko-KR" b="1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b="1" dirty="0">
                <a:solidFill>
                  <a:schemeClr val="bg1"/>
                </a:solidFill>
                <a:latin typeface="+mj-ea"/>
                <a:ea typeface="+mj-ea"/>
              </a:rPr>
              <a:t>본사화면</a:t>
            </a:r>
            <a:r>
              <a:rPr lang="en-US" altLang="ko-KR" b="1" dirty="0">
                <a:solidFill>
                  <a:schemeClr val="bg1"/>
                </a:solidFill>
                <a:latin typeface="+mj-ea"/>
                <a:ea typeface="+mj-ea"/>
              </a:rPr>
              <a:t>)</a:t>
            </a:r>
            <a:endParaRPr lang="ko-KR" altLang="en-US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3" name="그룹 12"/>
          <p:cNvGrpSpPr/>
          <p:nvPr/>
        </p:nvGrpSpPr>
        <p:grpSpPr>
          <a:xfrm>
            <a:off x="1549400" y="1676400"/>
            <a:ext cx="2448000" cy="5940000"/>
            <a:chOff x="1235917" y="1123501"/>
            <a:chExt cx="2201348" cy="5011392"/>
          </a:xfrm>
        </p:grpSpPr>
        <p:sp>
          <p:nvSpPr>
            <p:cNvPr id="14" name="직사각형 13"/>
            <p:cNvSpPr/>
            <p:nvPr/>
          </p:nvSpPr>
          <p:spPr>
            <a:xfrm>
              <a:off x="1245202" y="5788547"/>
              <a:ext cx="2192063" cy="34634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E5E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4294" tIns="32147" rIns="64294" bIns="3214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100" b="1" dirty="0">
                  <a:solidFill>
                    <a:sysClr val="windowText" lastClr="000000"/>
                  </a:solidFill>
                </a:rPr>
                <a:t>메인 화면</a:t>
              </a:r>
              <a:r>
                <a:rPr lang="en-US" altLang="ko-KR" sz="1100" b="1" dirty="0">
                  <a:solidFill>
                    <a:sysClr val="windowText" lastClr="000000"/>
                  </a:solidFill>
                </a:rPr>
                <a:t>1</a:t>
              </a:r>
              <a:endParaRPr lang="ko-KR" altLang="en-US" sz="1100" b="1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2F9C514-9CF7-5FD6-734E-B30A04C93FAE}"/>
                </a:ext>
              </a:extLst>
            </p:cNvPr>
            <p:cNvSpPr/>
            <p:nvPr/>
          </p:nvSpPr>
          <p:spPr>
            <a:xfrm>
              <a:off x="1237329" y="5250657"/>
              <a:ext cx="2192063" cy="43073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66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B7A8DEE-CA0C-0EA1-AA0F-50A07E3C1B11}"/>
                </a:ext>
              </a:extLst>
            </p:cNvPr>
            <p:cNvSpPr txBox="1"/>
            <p:nvPr/>
          </p:nvSpPr>
          <p:spPr>
            <a:xfrm>
              <a:off x="1348021" y="5361035"/>
              <a:ext cx="1713931" cy="2437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84" dirty="0">
                  <a:latin typeface="+mj-ea"/>
                  <a:ea typeface="+mj-ea"/>
                </a:rPr>
                <a:t>홈    </a:t>
              </a:r>
              <a:r>
                <a:rPr lang="ko-KR" altLang="en-US" sz="984" dirty="0" err="1">
                  <a:latin typeface="+mj-ea"/>
                  <a:ea typeface="+mj-ea"/>
                </a:rPr>
                <a:t>제휴처</a:t>
              </a:r>
              <a:r>
                <a:rPr lang="ko-KR" altLang="en-US" sz="984" dirty="0">
                  <a:latin typeface="+mj-ea"/>
                  <a:ea typeface="+mj-ea"/>
                </a:rPr>
                <a:t>    </a:t>
              </a:r>
              <a:r>
                <a:rPr lang="en-US" altLang="ko-KR" sz="984" dirty="0">
                  <a:latin typeface="+mj-ea"/>
                  <a:ea typeface="+mj-ea"/>
                </a:rPr>
                <a:t> </a:t>
              </a:r>
              <a:r>
                <a:rPr lang="ko-KR" altLang="en-US" sz="984" dirty="0">
                  <a:latin typeface="+mj-ea"/>
                  <a:ea typeface="+mj-ea"/>
                </a:rPr>
                <a:t>공지    </a:t>
              </a:r>
              <a:r>
                <a:rPr lang="en-US" altLang="ko-KR" sz="984" dirty="0">
                  <a:latin typeface="+mj-ea"/>
                  <a:ea typeface="+mj-ea"/>
                </a:rPr>
                <a:t>MY</a:t>
              </a:r>
              <a:endParaRPr lang="ko-KR" altLang="en-US" sz="984" dirty="0">
                <a:latin typeface="+mj-ea"/>
                <a:ea typeface="+mj-ea"/>
              </a:endParaRPr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4AC777E3-252B-0F95-92B4-58DB23F39C59}"/>
                </a:ext>
              </a:extLst>
            </p:cNvPr>
            <p:cNvGrpSpPr/>
            <p:nvPr/>
          </p:nvGrpSpPr>
          <p:grpSpPr>
            <a:xfrm>
              <a:off x="3109175" y="5378339"/>
              <a:ext cx="213060" cy="167385"/>
              <a:chOff x="-303020" y="2353942"/>
              <a:chExt cx="511175" cy="317878"/>
            </a:xfrm>
          </p:grpSpPr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18FCDE7F-8377-9A9D-4CC4-3B96455A1C30}"/>
                  </a:ext>
                </a:extLst>
              </p:cNvPr>
              <p:cNvSpPr/>
              <p:nvPr/>
            </p:nvSpPr>
            <p:spPr>
              <a:xfrm>
                <a:off x="-299845" y="2353942"/>
                <a:ext cx="508000" cy="72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66"/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1E4E3B97-726C-843F-9B55-529BEF64994D}"/>
                  </a:ext>
                </a:extLst>
              </p:cNvPr>
              <p:cNvSpPr/>
              <p:nvPr/>
            </p:nvSpPr>
            <p:spPr>
              <a:xfrm>
                <a:off x="-303020" y="2474471"/>
                <a:ext cx="508000" cy="72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66"/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8B312279-A12F-650A-1281-B624B8663387}"/>
                  </a:ext>
                </a:extLst>
              </p:cNvPr>
              <p:cNvSpPr/>
              <p:nvPr/>
            </p:nvSpPr>
            <p:spPr>
              <a:xfrm>
                <a:off x="-303020" y="2599820"/>
                <a:ext cx="508000" cy="72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66"/>
              </a:p>
            </p:txBody>
          </p:sp>
        </p:grp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B301C174-2E4D-0870-BCD6-99C52690FF6A}"/>
                </a:ext>
              </a:extLst>
            </p:cNvPr>
            <p:cNvSpPr/>
            <p:nvPr/>
          </p:nvSpPr>
          <p:spPr>
            <a:xfrm>
              <a:off x="1235917" y="1123501"/>
              <a:ext cx="2188123" cy="909772"/>
            </a:xfrm>
            <a:prstGeom prst="rect">
              <a:avLst/>
            </a:prstGeom>
            <a:solidFill>
              <a:srgbClr val="F1AF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66" dirty="0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A317FB18-5E21-4E41-D4EA-D924B25931AA}"/>
                </a:ext>
              </a:extLst>
            </p:cNvPr>
            <p:cNvSpPr/>
            <p:nvPr/>
          </p:nvSpPr>
          <p:spPr>
            <a:xfrm>
              <a:off x="1237329" y="1125141"/>
              <a:ext cx="2192063" cy="455625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4294" tIns="32147" rIns="64294" bIns="3214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844" b="1" dirty="0">
                <a:solidFill>
                  <a:schemeClr val="tx1"/>
                </a:solidFill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9B08F51F-B8C1-EBDC-A82B-E95C8F8E7E0C}"/>
                </a:ext>
              </a:extLst>
            </p:cNvPr>
            <p:cNvGrpSpPr/>
            <p:nvPr/>
          </p:nvGrpSpPr>
          <p:grpSpPr>
            <a:xfrm>
              <a:off x="1327747" y="1203258"/>
              <a:ext cx="730746" cy="253126"/>
              <a:chOff x="5451973" y="1727860"/>
              <a:chExt cx="1039283" cy="360001"/>
            </a:xfrm>
            <a:solidFill>
              <a:schemeClr val="bg1"/>
            </a:solidFill>
          </p:grpSpPr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2A4A326D-80AD-E39F-21D7-152B5E78207C}"/>
                  </a:ext>
                </a:extLst>
              </p:cNvPr>
              <p:cNvSpPr/>
              <p:nvPr/>
            </p:nvSpPr>
            <p:spPr>
              <a:xfrm>
                <a:off x="5451973" y="1727861"/>
                <a:ext cx="229286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84" b="1" dirty="0">
                    <a:solidFill>
                      <a:schemeClr val="tx1"/>
                    </a:solidFill>
                  </a:rPr>
                  <a:t>인</a:t>
                </a:r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70C7AB82-999E-C8F1-1780-9C4C5AD04C90}"/>
                  </a:ext>
                </a:extLst>
              </p:cNvPr>
              <p:cNvSpPr/>
              <p:nvPr/>
            </p:nvSpPr>
            <p:spPr>
              <a:xfrm>
                <a:off x="5721972" y="1727860"/>
                <a:ext cx="229286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84" b="1" dirty="0">
                    <a:solidFill>
                      <a:schemeClr val="tx1"/>
                    </a:solidFill>
                  </a:rPr>
                  <a:t>천</a:t>
                </a:r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DCAFC7A7-0FE1-BA6A-3A31-30B7AAC104D9}"/>
                  </a:ext>
                </a:extLst>
              </p:cNvPr>
              <p:cNvSpPr/>
              <p:nvPr/>
            </p:nvSpPr>
            <p:spPr>
              <a:xfrm>
                <a:off x="5991971" y="1727860"/>
                <a:ext cx="229286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84" b="1" dirty="0">
                    <a:solidFill>
                      <a:schemeClr val="tx1"/>
                    </a:solidFill>
                  </a:rPr>
                  <a:t>광</a:t>
                </a:r>
              </a:p>
            </p:txBody>
          </p:sp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0A79A76F-EBA8-14C2-C86E-116CB443D8AC}"/>
                  </a:ext>
                </a:extLst>
              </p:cNvPr>
              <p:cNvSpPr/>
              <p:nvPr/>
            </p:nvSpPr>
            <p:spPr>
              <a:xfrm>
                <a:off x="6261970" y="1727860"/>
                <a:ext cx="229286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84" b="1">
                    <a:solidFill>
                      <a:schemeClr val="tx1"/>
                    </a:solidFill>
                  </a:rPr>
                  <a:t>역</a:t>
                </a:r>
                <a:endParaRPr lang="ko-KR" altLang="en-US" sz="984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52D5503-FCF8-2177-5DC2-727A857E147A}"/>
                </a:ext>
              </a:extLst>
            </p:cNvPr>
            <p:cNvSpPr/>
            <p:nvPr/>
          </p:nvSpPr>
          <p:spPr>
            <a:xfrm>
              <a:off x="1315245" y="5000953"/>
              <a:ext cx="2036229" cy="241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66" dirty="0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0A79A76F-EBA8-14C2-C86E-116CB443D8AC}"/>
                </a:ext>
              </a:extLst>
            </p:cNvPr>
            <p:cNvSpPr/>
            <p:nvPr/>
          </p:nvSpPr>
          <p:spPr>
            <a:xfrm>
              <a:off x="2082000" y="1210000"/>
              <a:ext cx="161217" cy="2531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84" b="1" dirty="0">
                  <a:solidFill>
                    <a:schemeClr val="tx1"/>
                  </a:solidFill>
                </a:rPr>
                <a:t>시</a:t>
              </a:r>
            </a:p>
          </p:txBody>
        </p:sp>
        <p:pic>
          <p:nvPicPr>
            <p:cNvPr id="23" name="그림 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72996" y="3513436"/>
              <a:ext cx="2101530" cy="703427"/>
            </a:xfrm>
            <a:prstGeom prst="rect">
              <a:avLst/>
            </a:prstGeom>
          </p:spPr>
        </p:pic>
        <p:pic>
          <p:nvPicPr>
            <p:cNvPr id="24" name="그림 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6827" y="2615130"/>
              <a:ext cx="2138448" cy="795393"/>
            </a:xfrm>
            <a:prstGeom prst="rect">
              <a:avLst/>
            </a:prstGeom>
          </p:spPr>
        </p:pic>
        <p:pic>
          <p:nvPicPr>
            <p:cNvPr id="25" name="그림 2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61806" y="1680791"/>
              <a:ext cx="2140415" cy="871428"/>
            </a:xfrm>
            <a:prstGeom prst="rect">
              <a:avLst/>
            </a:prstGeom>
          </p:spPr>
        </p:pic>
        <p:pic>
          <p:nvPicPr>
            <p:cNvPr id="26" name="그림 2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45202" y="1174472"/>
              <a:ext cx="2156034" cy="429127"/>
            </a:xfrm>
            <a:prstGeom prst="rect">
              <a:avLst/>
            </a:prstGeom>
          </p:spPr>
        </p:pic>
        <p:pic>
          <p:nvPicPr>
            <p:cNvPr id="27" name="그림 2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53493" y="5262123"/>
              <a:ext cx="2151782" cy="419267"/>
            </a:xfrm>
            <a:prstGeom prst="rect">
              <a:avLst/>
            </a:prstGeom>
          </p:spPr>
        </p:pic>
        <p:sp>
          <p:nvSpPr>
            <p:cNvPr id="28" name="모서리가 둥근 직사각형 27"/>
            <p:cNvSpPr/>
            <p:nvPr/>
          </p:nvSpPr>
          <p:spPr>
            <a:xfrm>
              <a:off x="1290033" y="4390921"/>
              <a:ext cx="2088000" cy="72000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66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517590" y="4456294"/>
              <a:ext cx="1591585" cy="220712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100" dirty="0"/>
                <a:t>      이벤트 </a:t>
              </a:r>
              <a:r>
                <a:rPr lang="ko-KR" altLang="en-US" sz="1100" dirty="0" err="1"/>
                <a:t>한건</a:t>
              </a:r>
              <a:endParaRPr lang="en-US" altLang="ko-KR" sz="1100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530025" y="4785975"/>
              <a:ext cx="1591585" cy="26161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100" dirty="0"/>
                <a:t>     당첨자 관리</a:t>
              </a:r>
              <a:endParaRPr lang="en-US" altLang="ko-KR" sz="1100" dirty="0"/>
            </a:p>
          </p:txBody>
        </p:sp>
      </p:grpSp>
      <p:sp>
        <p:nvSpPr>
          <p:cNvPr id="65" name="TextBox 64"/>
          <p:cNvSpPr txBox="1"/>
          <p:nvPr/>
        </p:nvSpPr>
        <p:spPr>
          <a:xfrm>
            <a:off x="7188200" y="2286000"/>
            <a:ext cx="169469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좌측 이미지 </a:t>
            </a:r>
            <a:r>
              <a:rPr lang="en-US" altLang="ko-KR" sz="1400" dirty="0"/>
              <a:t>+ </a:t>
            </a:r>
            <a:r>
              <a:rPr lang="ko-KR" altLang="en-US" sz="1400" dirty="0"/>
              <a:t>제목</a:t>
            </a:r>
            <a:endParaRPr lang="en-US" altLang="ko-KR" sz="1400" dirty="0"/>
          </a:p>
        </p:txBody>
      </p:sp>
      <p:sp>
        <p:nvSpPr>
          <p:cNvPr id="51" name="직사각형 50"/>
          <p:cNvSpPr/>
          <p:nvPr/>
        </p:nvSpPr>
        <p:spPr>
          <a:xfrm>
            <a:off x="4749800" y="7205742"/>
            <a:ext cx="2378889" cy="410658"/>
          </a:xfrm>
          <a:prstGeom prst="rect">
            <a:avLst/>
          </a:prstGeom>
          <a:solidFill>
            <a:schemeClr val="bg1"/>
          </a:solidFill>
          <a:ln w="127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294" tIns="32147" rIns="64294" bIns="321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b="1" dirty="0">
                <a:solidFill>
                  <a:sysClr val="windowText" lastClr="000000"/>
                </a:solidFill>
              </a:rPr>
              <a:t>메인 화면</a:t>
            </a:r>
            <a:r>
              <a:rPr lang="en-US" altLang="ko-KR" sz="1100" b="1" dirty="0">
                <a:solidFill>
                  <a:sysClr val="windowText" lastClr="000000"/>
                </a:solidFill>
              </a:rPr>
              <a:t>2 /</a:t>
            </a:r>
            <a:r>
              <a:rPr lang="ko-KR" altLang="en-US" sz="1100" b="1" dirty="0">
                <a:solidFill>
                  <a:sysClr val="windowText" lastClr="000000"/>
                </a:solidFill>
              </a:rPr>
              <a:t>연결 페이지</a:t>
            </a:r>
          </a:p>
        </p:txBody>
      </p:sp>
      <p:grpSp>
        <p:nvGrpSpPr>
          <p:cNvPr id="52" name="그룹 51"/>
          <p:cNvGrpSpPr/>
          <p:nvPr/>
        </p:nvGrpSpPr>
        <p:grpSpPr>
          <a:xfrm>
            <a:off x="4749800" y="1676400"/>
            <a:ext cx="2378889" cy="5402288"/>
            <a:chOff x="5289800" y="1600201"/>
            <a:chExt cx="3117601" cy="6480000"/>
          </a:xfrm>
        </p:grpSpPr>
        <p:sp>
          <p:nvSpPr>
            <p:cNvPr id="70" name="직사각형 69"/>
            <p:cNvSpPr/>
            <p:nvPr/>
          </p:nvSpPr>
          <p:spPr>
            <a:xfrm>
              <a:off x="5289800" y="7467600"/>
              <a:ext cx="3117601" cy="61260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66"/>
            </a:p>
          </p:txBody>
        </p:sp>
        <p:grpSp>
          <p:nvGrpSpPr>
            <p:cNvPr id="71" name="그룹 70"/>
            <p:cNvGrpSpPr/>
            <p:nvPr/>
          </p:nvGrpSpPr>
          <p:grpSpPr>
            <a:xfrm>
              <a:off x="5534409" y="3253984"/>
              <a:ext cx="393720" cy="374970"/>
              <a:chOff x="2082800" y="5562600"/>
              <a:chExt cx="1600200" cy="1524000"/>
            </a:xfrm>
          </p:grpSpPr>
          <p:sp>
            <p:nvSpPr>
              <p:cNvPr id="79" name="직사각형 78"/>
              <p:cNvSpPr/>
              <p:nvPr/>
            </p:nvSpPr>
            <p:spPr>
              <a:xfrm>
                <a:off x="2082800" y="6172200"/>
                <a:ext cx="1600200" cy="3048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66"/>
              </a:p>
            </p:txBody>
          </p:sp>
          <p:sp>
            <p:nvSpPr>
              <p:cNvPr id="80" name="직사각형 79"/>
              <p:cNvSpPr/>
              <p:nvPr/>
            </p:nvSpPr>
            <p:spPr>
              <a:xfrm>
                <a:off x="2692400" y="5562600"/>
                <a:ext cx="381000" cy="1524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66"/>
              </a:p>
            </p:txBody>
          </p:sp>
        </p:grpSp>
        <p:sp>
          <p:nvSpPr>
            <p:cNvPr id="72" name="TextBox 71"/>
            <p:cNvSpPr txBox="1"/>
            <p:nvPr/>
          </p:nvSpPr>
          <p:spPr>
            <a:xfrm>
              <a:off x="5447229" y="7624584"/>
              <a:ext cx="2437591" cy="3467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84" dirty="0">
                  <a:latin typeface="+mj-ea"/>
                  <a:ea typeface="+mj-ea"/>
                </a:rPr>
                <a:t>홈    </a:t>
              </a:r>
              <a:r>
                <a:rPr lang="ko-KR" altLang="en-US" sz="984" dirty="0" err="1">
                  <a:latin typeface="+mj-ea"/>
                  <a:ea typeface="+mj-ea"/>
                </a:rPr>
                <a:t>제휴처</a:t>
              </a:r>
              <a:r>
                <a:rPr lang="ko-KR" altLang="en-US" sz="984" dirty="0">
                  <a:latin typeface="+mj-ea"/>
                  <a:ea typeface="+mj-ea"/>
                </a:rPr>
                <a:t>    </a:t>
              </a:r>
              <a:r>
                <a:rPr lang="en-US" altLang="ko-KR" sz="984" dirty="0">
                  <a:latin typeface="+mj-ea"/>
                  <a:ea typeface="+mj-ea"/>
                </a:rPr>
                <a:t> </a:t>
              </a:r>
              <a:r>
                <a:rPr lang="ko-KR" altLang="en-US" sz="984" dirty="0">
                  <a:latin typeface="+mj-ea"/>
                  <a:ea typeface="+mj-ea"/>
                </a:rPr>
                <a:t>공지    </a:t>
              </a:r>
              <a:r>
                <a:rPr lang="en-US" altLang="ko-KR" sz="984" dirty="0">
                  <a:latin typeface="+mj-ea"/>
                  <a:ea typeface="+mj-ea"/>
                </a:rPr>
                <a:t>MY</a:t>
              </a:r>
              <a:endParaRPr lang="ko-KR" altLang="en-US" sz="984" dirty="0">
                <a:latin typeface="+mj-ea"/>
                <a:ea typeface="+mj-ea"/>
              </a:endParaRPr>
            </a:p>
          </p:txBody>
        </p:sp>
        <p:sp>
          <p:nvSpPr>
            <p:cNvPr id="73" name="직사각형 72"/>
            <p:cNvSpPr/>
            <p:nvPr/>
          </p:nvSpPr>
          <p:spPr>
            <a:xfrm>
              <a:off x="5294984" y="7336154"/>
              <a:ext cx="3112417" cy="1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66"/>
            </a:p>
          </p:txBody>
        </p:sp>
        <p:sp>
          <p:nvSpPr>
            <p:cNvPr id="74" name="직사각형 73"/>
            <p:cNvSpPr/>
            <p:nvPr/>
          </p:nvSpPr>
          <p:spPr>
            <a:xfrm>
              <a:off x="5289800" y="1600201"/>
              <a:ext cx="3117601" cy="6480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4294" tIns="32147" rIns="64294" bIns="3214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844" b="1" dirty="0">
                <a:solidFill>
                  <a:schemeClr val="tx1"/>
                </a:solidFill>
              </a:endParaRPr>
            </a:p>
          </p:txBody>
        </p:sp>
        <p:grpSp>
          <p:nvGrpSpPr>
            <p:cNvPr id="75" name="그룹 74"/>
            <p:cNvGrpSpPr/>
            <p:nvPr/>
          </p:nvGrpSpPr>
          <p:grpSpPr>
            <a:xfrm>
              <a:off x="7951981" y="7649194"/>
              <a:ext cx="303019" cy="238058"/>
              <a:chOff x="-303020" y="2353942"/>
              <a:chExt cx="511175" cy="317878"/>
            </a:xfrm>
          </p:grpSpPr>
          <p:sp>
            <p:nvSpPr>
              <p:cNvPr id="76" name="직사각형 75"/>
              <p:cNvSpPr/>
              <p:nvPr/>
            </p:nvSpPr>
            <p:spPr>
              <a:xfrm>
                <a:off x="-299845" y="2353942"/>
                <a:ext cx="508000" cy="72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66"/>
              </a:p>
            </p:txBody>
          </p:sp>
          <p:sp>
            <p:nvSpPr>
              <p:cNvPr id="77" name="직사각형 76"/>
              <p:cNvSpPr/>
              <p:nvPr/>
            </p:nvSpPr>
            <p:spPr>
              <a:xfrm>
                <a:off x="-303020" y="2474471"/>
                <a:ext cx="508000" cy="72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66"/>
              </a:p>
            </p:txBody>
          </p:sp>
          <p:sp>
            <p:nvSpPr>
              <p:cNvPr id="78" name="직사각형 77"/>
              <p:cNvSpPr/>
              <p:nvPr/>
            </p:nvSpPr>
            <p:spPr>
              <a:xfrm>
                <a:off x="-303020" y="2599820"/>
                <a:ext cx="508000" cy="72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66"/>
              </a:p>
            </p:txBody>
          </p:sp>
        </p:grpSp>
      </p:grpSp>
      <p:pic>
        <p:nvPicPr>
          <p:cNvPr id="53" name="그림 5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763" y="1691931"/>
            <a:ext cx="2339790" cy="508810"/>
          </a:xfrm>
          <a:prstGeom prst="rect">
            <a:avLst/>
          </a:prstGeom>
        </p:spPr>
      </p:pic>
      <p:pic>
        <p:nvPicPr>
          <p:cNvPr id="54" name="그림 5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0855" y="2275999"/>
            <a:ext cx="2338869" cy="1206378"/>
          </a:xfrm>
          <a:prstGeom prst="rect">
            <a:avLst/>
          </a:prstGeom>
        </p:spPr>
      </p:pic>
      <p:pic>
        <p:nvPicPr>
          <p:cNvPr id="55" name="그림 5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3304" y="6551582"/>
            <a:ext cx="2335175" cy="497120"/>
          </a:xfrm>
          <a:prstGeom prst="rect">
            <a:avLst/>
          </a:prstGeom>
        </p:spPr>
      </p:pic>
      <p:sp>
        <p:nvSpPr>
          <p:cNvPr id="56" name="직사각형 55"/>
          <p:cNvSpPr/>
          <p:nvPr/>
        </p:nvSpPr>
        <p:spPr>
          <a:xfrm>
            <a:off x="4750142" y="3504672"/>
            <a:ext cx="2374934" cy="4042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66"/>
          </a:p>
        </p:txBody>
      </p:sp>
      <p:sp>
        <p:nvSpPr>
          <p:cNvPr id="60" name="직사각형 59"/>
          <p:cNvSpPr/>
          <p:nvPr/>
        </p:nvSpPr>
        <p:spPr>
          <a:xfrm>
            <a:off x="4755608" y="5707261"/>
            <a:ext cx="2374934" cy="1502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66"/>
          </a:p>
        </p:txBody>
      </p:sp>
      <p:pic>
        <p:nvPicPr>
          <p:cNvPr id="67" name="그림 6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4670" y="3505200"/>
            <a:ext cx="2354075" cy="1021625"/>
          </a:xfrm>
          <a:prstGeom prst="rect">
            <a:avLst/>
          </a:prstGeom>
        </p:spPr>
      </p:pic>
      <p:cxnSp>
        <p:nvCxnSpPr>
          <p:cNvPr id="82" name="직선 화살표 연결선 81"/>
          <p:cNvCxnSpPr/>
          <p:nvPr/>
        </p:nvCxnSpPr>
        <p:spPr>
          <a:xfrm flipH="1">
            <a:off x="7171695" y="3482377"/>
            <a:ext cx="5292000" cy="0"/>
          </a:xfrm>
          <a:prstGeom prst="straightConnector1">
            <a:avLst/>
          </a:prstGeom>
          <a:ln w="63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/>
          <p:cNvCxnSpPr/>
          <p:nvPr/>
        </p:nvCxnSpPr>
        <p:spPr>
          <a:xfrm flipH="1">
            <a:off x="7132084" y="7048702"/>
            <a:ext cx="5292000" cy="0"/>
          </a:xfrm>
          <a:prstGeom prst="straightConnector1">
            <a:avLst/>
          </a:prstGeom>
          <a:ln w="63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327BDE5D-B450-76A9-06E5-5A22D0022D6F}"/>
              </a:ext>
            </a:extLst>
          </p:cNvPr>
          <p:cNvSpPr/>
          <p:nvPr/>
        </p:nvSpPr>
        <p:spPr>
          <a:xfrm>
            <a:off x="1625600" y="3443191"/>
            <a:ext cx="2305050" cy="9345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/>
              <a:t>나의 실천 정보</a:t>
            </a:r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r>
              <a:rPr lang="ko-KR" altLang="en-US" sz="1200" dirty="0"/>
              <a:t>실천 건수                          건</a:t>
            </a:r>
            <a:endParaRPr lang="en-US" altLang="ko-KR" sz="1200" dirty="0"/>
          </a:p>
          <a:p>
            <a:pPr algn="l"/>
            <a:r>
              <a:rPr lang="ko-KR" altLang="en-US" sz="1200" dirty="0"/>
              <a:t>랭킹 순위                           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B67B9C6-1A3A-132A-9DC3-7BA8CAD90E73}"/>
              </a:ext>
            </a:extLst>
          </p:cNvPr>
          <p:cNvSpPr/>
          <p:nvPr/>
        </p:nvSpPr>
        <p:spPr>
          <a:xfrm>
            <a:off x="1606550" y="5466251"/>
            <a:ext cx="2305050" cy="9345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/>
              <a:t>이벤트                                  </a:t>
            </a:r>
            <a:r>
              <a:rPr lang="ko-KR" altLang="en-US" sz="1200" dirty="0" err="1"/>
              <a:t>더보기</a:t>
            </a:r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r>
              <a:rPr lang="ko-KR" altLang="en-US" sz="1200" dirty="0" err="1"/>
              <a:t>이베트</a:t>
            </a:r>
            <a:r>
              <a:rPr lang="ko-KR" altLang="en-US" sz="1200" dirty="0"/>
              <a:t> 리스트 </a:t>
            </a:r>
            <a:r>
              <a:rPr lang="en-US" altLang="ko-KR" sz="1200" dirty="0"/>
              <a:t>2</a:t>
            </a:r>
            <a:r>
              <a:rPr lang="ko-KR" altLang="en-US" sz="1200" dirty="0"/>
              <a:t>건</a:t>
            </a:r>
            <a:endParaRPr lang="en-US" altLang="ko-KR" sz="12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F2E99BC-1941-92A5-1BD6-E23970D9589C}"/>
              </a:ext>
            </a:extLst>
          </p:cNvPr>
          <p:cNvSpPr/>
          <p:nvPr/>
        </p:nvSpPr>
        <p:spPr>
          <a:xfrm>
            <a:off x="1625600" y="6629400"/>
            <a:ext cx="2305050" cy="3522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800" dirty="0"/>
              <a:t>홈      탄소활동    </a:t>
            </a:r>
            <a:r>
              <a:rPr lang="en-US" altLang="ko-KR" sz="800" dirty="0"/>
              <a:t>QR</a:t>
            </a:r>
            <a:r>
              <a:rPr lang="ko-KR" altLang="en-US" sz="800" dirty="0"/>
              <a:t>이미지      뉴스     마이페이지</a:t>
            </a:r>
            <a:endParaRPr lang="en-US" altLang="ko-KR" sz="800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C07EA87D-8974-65C3-D184-162016E795D2}"/>
              </a:ext>
            </a:extLst>
          </p:cNvPr>
          <p:cNvSpPr/>
          <p:nvPr/>
        </p:nvSpPr>
        <p:spPr>
          <a:xfrm>
            <a:off x="4846959" y="6629400"/>
            <a:ext cx="2305050" cy="3522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800" dirty="0"/>
              <a:t>홈      탄소활동    </a:t>
            </a:r>
            <a:r>
              <a:rPr lang="en-US" altLang="ko-KR" sz="800" dirty="0"/>
              <a:t>QR</a:t>
            </a:r>
            <a:r>
              <a:rPr lang="ko-KR" altLang="en-US" sz="800" dirty="0"/>
              <a:t>이미지      뉴스     마이페이지</a:t>
            </a:r>
            <a:endParaRPr lang="en-US" altLang="ko-KR" sz="800" dirty="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9E9EB7A-8CB7-6AAA-EADF-68A4069715F4}"/>
              </a:ext>
            </a:extLst>
          </p:cNvPr>
          <p:cNvSpPr/>
          <p:nvPr/>
        </p:nvSpPr>
        <p:spPr>
          <a:xfrm>
            <a:off x="4789809" y="2209800"/>
            <a:ext cx="2305050" cy="11968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/>
              <a:t>환경뉴스                              </a:t>
            </a:r>
            <a:r>
              <a:rPr lang="ko-KR" altLang="en-US" sz="1200" dirty="0" err="1"/>
              <a:t>더보기</a:t>
            </a:r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r>
              <a:rPr lang="ko-KR" altLang="en-US" sz="1200" dirty="0"/>
              <a:t>뉴스 리스트 </a:t>
            </a:r>
            <a:r>
              <a:rPr lang="en-US" altLang="ko-KR" sz="1200" dirty="0"/>
              <a:t>2</a:t>
            </a:r>
            <a:r>
              <a:rPr lang="ko-KR" altLang="en-US" sz="1200" dirty="0"/>
              <a:t>건</a:t>
            </a:r>
            <a:endParaRPr lang="en-US" altLang="ko-KR" sz="12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E807E1F-D556-AA91-FA44-A619135D7359}"/>
              </a:ext>
            </a:extLst>
          </p:cNvPr>
          <p:cNvSpPr txBox="1"/>
          <p:nvPr/>
        </p:nvSpPr>
        <p:spPr>
          <a:xfrm>
            <a:off x="7188200" y="2677180"/>
            <a:ext cx="1882247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상단 이미지 </a:t>
            </a:r>
            <a:r>
              <a:rPr lang="en-US" altLang="ko-KR" sz="1400" dirty="0"/>
              <a:t>(1 ~ 3</a:t>
            </a:r>
            <a:r>
              <a:rPr lang="ko-KR" altLang="en-US" sz="1400" dirty="0"/>
              <a:t>개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/>
              <a:t>+ </a:t>
            </a:r>
            <a:r>
              <a:rPr lang="ko-KR" altLang="en-US" sz="1400" dirty="0"/>
              <a:t>제목</a:t>
            </a:r>
            <a:endParaRPr lang="en-US" altLang="ko-KR" sz="1400" dirty="0"/>
          </a:p>
        </p:txBody>
      </p:sp>
      <p:pic>
        <p:nvPicPr>
          <p:cNvPr id="90" name="그림 89">
            <a:extLst>
              <a:ext uri="{FF2B5EF4-FFF2-40B4-BE49-F238E27FC236}">
                <a16:creationId xmlns:a16="http://schemas.microsoft.com/office/drawing/2014/main" id="{A4EFAE2B-163B-5CCD-5B9A-0A43575DC5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5491" y="1841826"/>
            <a:ext cx="2338819" cy="845962"/>
          </a:xfrm>
          <a:prstGeom prst="rect">
            <a:avLst/>
          </a:prstGeom>
        </p:spPr>
      </p:pic>
      <p:sp>
        <p:nvSpPr>
          <p:cNvPr id="92" name="직사각형 91">
            <a:extLst>
              <a:ext uri="{FF2B5EF4-FFF2-40B4-BE49-F238E27FC236}">
                <a16:creationId xmlns:a16="http://schemas.microsoft.com/office/drawing/2014/main" id="{A5E9A255-9459-29A6-7297-C5C26FCC3532}"/>
              </a:ext>
            </a:extLst>
          </p:cNvPr>
          <p:cNvSpPr/>
          <p:nvPr/>
        </p:nvSpPr>
        <p:spPr>
          <a:xfrm>
            <a:off x="4826000" y="4648200"/>
            <a:ext cx="2305050" cy="11968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/>
              <a:t>기관 핫뉴스                    </a:t>
            </a:r>
            <a:r>
              <a:rPr lang="ko-KR" altLang="en-US" sz="1200" dirty="0" err="1"/>
              <a:t>더보기</a:t>
            </a:r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r>
              <a:rPr lang="ko-KR" altLang="en-US" sz="1200" dirty="0"/>
              <a:t>뉴스 리스트 </a:t>
            </a:r>
            <a:r>
              <a:rPr lang="en-US" altLang="ko-KR" sz="1200" dirty="0"/>
              <a:t>2</a:t>
            </a:r>
            <a:r>
              <a:rPr lang="ko-KR" altLang="en-US" sz="1200" dirty="0"/>
              <a:t>건</a:t>
            </a:r>
            <a:endParaRPr lang="en-US" altLang="ko-KR" sz="1200" dirty="0"/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4E1C0840-0101-D5A2-7BBA-5DB44682B48D}"/>
              </a:ext>
            </a:extLst>
          </p:cNvPr>
          <p:cNvSpPr/>
          <p:nvPr/>
        </p:nvSpPr>
        <p:spPr>
          <a:xfrm>
            <a:off x="4826000" y="5879196"/>
            <a:ext cx="2305050" cy="6740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/>
              <a:t>텀블러 광고</a:t>
            </a:r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019505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87401" y="585889"/>
            <a:ext cx="2133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chemeClr val="bg1"/>
                </a:solidFill>
                <a:latin typeface="+mj-ea"/>
                <a:ea typeface="+mj-ea"/>
              </a:rPr>
              <a:t>메인</a:t>
            </a:r>
            <a:r>
              <a:rPr lang="en-US" altLang="ko-KR" b="1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b="1" dirty="0">
                <a:solidFill>
                  <a:schemeClr val="bg1"/>
                </a:solidFill>
                <a:latin typeface="+mj-ea"/>
                <a:ea typeface="+mj-ea"/>
              </a:rPr>
              <a:t>본사화면</a:t>
            </a:r>
            <a:r>
              <a:rPr lang="en-US" altLang="ko-KR" b="1" dirty="0">
                <a:solidFill>
                  <a:schemeClr val="bg1"/>
                </a:solidFill>
                <a:latin typeface="+mj-ea"/>
                <a:ea typeface="+mj-ea"/>
              </a:rPr>
              <a:t>)</a:t>
            </a:r>
            <a:endParaRPr lang="ko-KR" altLang="en-US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3" name="그룹 12"/>
          <p:cNvGrpSpPr/>
          <p:nvPr/>
        </p:nvGrpSpPr>
        <p:grpSpPr>
          <a:xfrm>
            <a:off x="1549400" y="1676400"/>
            <a:ext cx="2448000" cy="5940000"/>
            <a:chOff x="1235917" y="1123501"/>
            <a:chExt cx="2201348" cy="5011392"/>
          </a:xfrm>
        </p:grpSpPr>
        <p:sp>
          <p:nvSpPr>
            <p:cNvPr id="14" name="직사각형 13"/>
            <p:cNvSpPr/>
            <p:nvPr/>
          </p:nvSpPr>
          <p:spPr>
            <a:xfrm>
              <a:off x="1245202" y="5788547"/>
              <a:ext cx="2192063" cy="34634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E5E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4294" tIns="32147" rIns="64294" bIns="3214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100" b="1" dirty="0">
                  <a:solidFill>
                    <a:sysClr val="windowText" lastClr="000000"/>
                  </a:solidFill>
                </a:rPr>
                <a:t>메인 화면</a:t>
              </a:r>
              <a:r>
                <a:rPr lang="en-US" altLang="ko-KR" sz="1100" b="1" dirty="0">
                  <a:solidFill>
                    <a:sysClr val="windowText" lastClr="000000"/>
                  </a:solidFill>
                </a:rPr>
                <a:t>1</a:t>
              </a:r>
              <a:endParaRPr lang="ko-KR" altLang="en-US" sz="1100" b="1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2F9C514-9CF7-5FD6-734E-B30A04C93FAE}"/>
                </a:ext>
              </a:extLst>
            </p:cNvPr>
            <p:cNvSpPr/>
            <p:nvPr/>
          </p:nvSpPr>
          <p:spPr>
            <a:xfrm>
              <a:off x="1237329" y="5250657"/>
              <a:ext cx="2192063" cy="43073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66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B7A8DEE-CA0C-0EA1-AA0F-50A07E3C1B11}"/>
                </a:ext>
              </a:extLst>
            </p:cNvPr>
            <p:cNvSpPr txBox="1"/>
            <p:nvPr/>
          </p:nvSpPr>
          <p:spPr>
            <a:xfrm>
              <a:off x="1348021" y="5361035"/>
              <a:ext cx="1713931" cy="2437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84" dirty="0">
                  <a:latin typeface="+mj-ea"/>
                  <a:ea typeface="+mj-ea"/>
                </a:rPr>
                <a:t>홈    </a:t>
              </a:r>
              <a:r>
                <a:rPr lang="ko-KR" altLang="en-US" sz="984" dirty="0" err="1">
                  <a:latin typeface="+mj-ea"/>
                  <a:ea typeface="+mj-ea"/>
                </a:rPr>
                <a:t>제휴처</a:t>
              </a:r>
              <a:r>
                <a:rPr lang="ko-KR" altLang="en-US" sz="984" dirty="0">
                  <a:latin typeface="+mj-ea"/>
                  <a:ea typeface="+mj-ea"/>
                </a:rPr>
                <a:t>    </a:t>
              </a:r>
              <a:r>
                <a:rPr lang="en-US" altLang="ko-KR" sz="984" dirty="0">
                  <a:latin typeface="+mj-ea"/>
                  <a:ea typeface="+mj-ea"/>
                </a:rPr>
                <a:t> </a:t>
              </a:r>
              <a:r>
                <a:rPr lang="ko-KR" altLang="en-US" sz="984" dirty="0">
                  <a:latin typeface="+mj-ea"/>
                  <a:ea typeface="+mj-ea"/>
                </a:rPr>
                <a:t>공지    </a:t>
              </a:r>
              <a:r>
                <a:rPr lang="en-US" altLang="ko-KR" sz="984" dirty="0">
                  <a:latin typeface="+mj-ea"/>
                  <a:ea typeface="+mj-ea"/>
                </a:rPr>
                <a:t>MY</a:t>
              </a:r>
              <a:endParaRPr lang="ko-KR" altLang="en-US" sz="984" dirty="0">
                <a:latin typeface="+mj-ea"/>
                <a:ea typeface="+mj-ea"/>
              </a:endParaRPr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4AC777E3-252B-0F95-92B4-58DB23F39C59}"/>
                </a:ext>
              </a:extLst>
            </p:cNvPr>
            <p:cNvGrpSpPr/>
            <p:nvPr/>
          </p:nvGrpSpPr>
          <p:grpSpPr>
            <a:xfrm>
              <a:off x="3109175" y="5378339"/>
              <a:ext cx="213060" cy="167385"/>
              <a:chOff x="-303020" y="2353942"/>
              <a:chExt cx="511175" cy="317878"/>
            </a:xfrm>
          </p:grpSpPr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18FCDE7F-8377-9A9D-4CC4-3B96455A1C30}"/>
                  </a:ext>
                </a:extLst>
              </p:cNvPr>
              <p:cNvSpPr/>
              <p:nvPr/>
            </p:nvSpPr>
            <p:spPr>
              <a:xfrm>
                <a:off x="-299845" y="2353942"/>
                <a:ext cx="508000" cy="72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66"/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1E4E3B97-726C-843F-9B55-529BEF64994D}"/>
                  </a:ext>
                </a:extLst>
              </p:cNvPr>
              <p:cNvSpPr/>
              <p:nvPr/>
            </p:nvSpPr>
            <p:spPr>
              <a:xfrm>
                <a:off x="-303020" y="2474471"/>
                <a:ext cx="508000" cy="72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66"/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8B312279-A12F-650A-1281-B624B8663387}"/>
                  </a:ext>
                </a:extLst>
              </p:cNvPr>
              <p:cNvSpPr/>
              <p:nvPr/>
            </p:nvSpPr>
            <p:spPr>
              <a:xfrm>
                <a:off x="-303020" y="2599820"/>
                <a:ext cx="508000" cy="72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66"/>
              </a:p>
            </p:txBody>
          </p:sp>
        </p:grp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B301C174-2E4D-0870-BCD6-99C52690FF6A}"/>
                </a:ext>
              </a:extLst>
            </p:cNvPr>
            <p:cNvSpPr/>
            <p:nvPr/>
          </p:nvSpPr>
          <p:spPr>
            <a:xfrm>
              <a:off x="1235917" y="1123501"/>
              <a:ext cx="2188123" cy="909772"/>
            </a:xfrm>
            <a:prstGeom prst="rect">
              <a:avLst/>
            </a:prstGeom>
            <a:solidFill>
              <a:srgbClr val="F1AF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66" dirty="0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A317FB18-5E21-4E41-D4EA-D924B25931AA}"/>
                </a:ext>
              </a:extLst>
            </p:cNvPr>
            <p:cNvSpPr/>
            <p:nvPr/>
          </p:nvSpPr>
          <p:spPr>
            <a:xfrm>
              <a:off x="1237329" y="1125141"/>
              <a:ext cx="2192063" cy="455625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4294" tIns="32147" rIns="64294" bIns="3214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844" b="1" dirty="0">
                <a:solidFill>
                  <a:schemeClr val="tx1"/>
                </a:solidFill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9B08F51F-B8C1-EBDC-A82B-E95C8F8E7E0C}"/>
                </a:ext>
              </a:extLst>
            </p:cNvPr>
            <p:cNvGrpSpPr/>
            <p:nvPr/>
          </p:nvGrpSpPr>
          <p:grpSpPr>
            <a:xfrm>
              <a:off x="1327747" y="1203258"/>
              <a:ext cx="730746" cy="253126"/>
              <a:chOff x="5451973" y="1727860"/>
              <a:chExt cx="1039283" cy="360001"/>
            </a:xfrm>
            <a:solidFill>
              <a:schemeClr val="bg1"/>
            </a:solidFill>
          </p:grpSpPr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2A4A326D-80AD-E39F-21D7-152B5E78207C}"/>
                  </a:ext>
                </a:extLst>
              </p:cNvPr>
              <p:cNvSpPr/>
              <p:nvPr/>
            </p:nvSpPr>
            <p:spPr>
              <a:xfrm>
                <a:off x="5451973" y="1727861"/>
                <a:ext cx="229286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84" b="1" dirty="0">
                    <a:solidFill>
                      <a:schemeClr val="tx1"/>
                    </a:solidFill>
                  </a:rPr>
                  <a:t>인</a:t>
                </a:r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70C7AB82-999E-C8F1-1780-9C4C5AD04C90}"/>
                  </a:ext>
                </a:extLst>
              </p:cNvPr>
              <p:cNvSpPr/>
              <p:nvPr/>
            </p:nvSpPr>
            <p:spPr>
              <a:xfrm>
                <a:off x="5721972" y="1727860"/>
                <a:ext cx="229286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84" b="1" dirty="0">
                    <a:solidFill>
                      <a:schemeClr val="tx1"/>
                    </a:solidFill>
                  </a:rPr>
                  <a:t>천</a:t>
                </a:r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DCAFC7A7-0FE1-BA6A-3A31-30B7AAC104D9}"/>
                  </a:ext>
                </a:extLst>
              </p:cNvPr>
              <p:cNvSpPr/>
              <p:nvPr/>
            </p:nvSpPr>
            <p:spPr>
              <a:xfrm>
                <a:off x="5991971" y="1727860"/>
                <a:ext cx="229286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84" b="1" dirty="0">
                    <a:solidFill>
                      <a:schemeClr val="tx1"/>
                    </a:solidFill>
                  </a:rPr>
                  <a:t>광</a:t>
                </a:r>
              </a:p>
            </p:txBody>
          </p:sp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0A79A76F-EBA8-14C2-C86E-116CB443D8AC}"/>
                  </a:ext>
                </a:extLst>
              </p:cNvPr>
              <p:cNvSpPr/>
              <p:nvPr/>
            </p:nvSpPr>
            <p:spPr>
              <a:xfrm>
                <a:off x="6261970" y="1727860"/>
                <a:ext cx="229286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84" b="1">
                    <a:solidFill>
                      <a:schemeClr val="tx1"/>
                    </a:solidFill>
                  </a:rPr>
                  <a:t>역</a:t>
                </a:r>
                <a:endParaRPr lang="ko-KR" altLang="en-US" sz="984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52D5503-FCF8-2177-5DC2-727A857E147A}"/>
                </a:ext>
              </a:extLst>
            </p:cNvPr>
            <p:cNvSpPr/>
            <p:nvPr/>
          </p:nvSpPr>
          <p:spPr>
            <a:xfrm>
              <a:off x="1315245" y="5000953"/>
              <a:ext cx="2036229" cy="241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66" dirty="0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0A79A76F-EBA8-14C2-C86E-116CB443D8AC}"/>
                </a:ext>
              </a:extLst>
            </p:cNvPr>
            <p:cNvSpPr/>
            <p:nvPr/>
          </p:nvSpPr>
          <p:spPr>
            <a:xfrm>
              <a:off x="2082000" y="1210000"/>
              <a:ext cx="161217" cy="2531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84" b="1" dirty="0">
                  <a:solidFill>
                    <a:schemeClr val="tx1"/>
                  </a:solidFill>
                </a:rPr>
                <a:t>시</a:t>
              </a:r>
            </a:p>
          </p:txBody>
        </p:sp>
        <p:pic>
          <p:nvPicPr>
            <p:cNvPr id="23" name="그림 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72996" y="3513436"/>
              <a:ext cx="2101530" cy="703427"/>
            </a:xfrm>
            <a:prstGeom prst="rect">
              <a:avLst/>
            </a:prstGeom>
          </p:spPr>
        </p:pic>
        <p:pic>
          <p:nvPicPr>
            <p:cNvPr id="24" name="그림 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6827" y="2615130"/>
              <a:ext cx="2138448" cy="795393"/>
            </a:xfrm>
            <a:prstGeom prst="rect">
              <a:avLst/>
            </a:prstGeom>
          </p:spPr>
        </p:pic>
        <p:pic>
          <p:nvPicPr>
            <p:cNvPr id="25" name="그림 2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61806" y="1680791"/>
              <a:ext cx="2140415" cy="871428"/>
            </a:xfrm>
            <a:prstGeom prst="rect">
              <a:avLst/>
            </a:prstGeom>
          </p:spPr>
        </p:pic>
        <p:pic>
          <p:nvPicPr>
            <p:cNvPr id="26" name="그림 2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45202" y="1174472"/>
              <a:ext cx="2156034" cy="429127"/>
            </a:xfrm>
            <a:prstGeom prst="rect">
              <a:avLst/>
            </a:prstGeom>
          </p:spPr>
        </p:pic>
        <p:pic>
          <p:nvPicPr>
            <p:cNvPr id="27" name="그림 2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53493" y="5262123"/>
              <a:ext cx="2151782" cy="419267"/>
            </a:xfrm>
            <a:prstGeom prst="rect">
              <a:avLst/>
            </a:prstGeom>
          </p:spPr>
        </p:pic>
        <p:sp>
          <p:nvSpPr>
            <p:cNvPr id="28" name="모서리가 둥근 직사각형 27"/>
            <p:cNvSpPr/>
            <p:nvPr/>
          </p:nvSpPr>
          <p:spPr>
            <a:xfrm>
              <a:off x="1290033" y="4390921"/>
              <a:ext cx="2088000" cy="72000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66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517590" y="4456294"/>
              <a:ext cx="1591585" cy="220712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100" dirty="0"/>
                <a:t>      이벤트 </a:t>
              </a:r>
              <a:r>
                <a:rPr lang="ko-KR" altLang="en-US" sz="1100" dirty="0" err="1"/>
                <a:t>한건</a:t>
              </a:r>
              <a:endParaRPr lang="en-US" altLang="ko-KR" sz="1100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530025" y="4785975"/>
              <a:ext cx="1591585" cy="26161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100" dirty="0"/>
                <a:t>     당첨자 관리</a:t>
              </a:r>
              <a:endParaRPr lang="en-US" altLang="ko-KR" sz="1100" dirty="0"/>
            </a:p>
          </p:txBody>
        </p:sp>
      </p:grpSp>
      <p:sp>
        <p:nvSpPr>
          <p:cNvPr id="51" name="직사각형 50"/>
          <p:cNvSpPr/>
          <p:nvPr/>
        </p:nvSpPr>
        <p:spPr>
          <a:xfrm>
            <a:off x="4368800" y="3910465"/>
            <a:ext cx="2305050" cy="410658"/>
          </a:xfrm>
          <a:prstGeom prst="rect">
            <a:avLst/>
          </a:prstGeom>
          <a:solidFill>
            <a:schemeClr val="bg1"/>
          </a:solidFill>
          <a:ln w="127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294" tIns="32147" rIns="64294" bIns="321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b="1" dirty="0">
                <a:solidFill>
                  <a:sysClr val="windowText" lastClr="000000"/>
                </a:solidFill>
              </a:rPr>
              <a:t>메인 </a:t>
            </a:r>
            <a:r>
              <a:rPr lang="ko-KR" altLang="en-US" sz="1100" b="1" dirty="0" smtClean="0">
                <a:solidFill>
                  <a:sysClr val="windowText" lastClr="000000"/>
                </a:solidFill>
              </a:rPr>
              <a:t>화면</a:t>
            </a:r>
            <a:r>
              <a:rPr lang="en-US" altLang="ko-KR" sz="1100" b="1" dirty="0" smtClean="0">
                <a:solidFill>
                  <a:sysClr val="windowText" lastClr="000000"/>
                </a:solidFill>
              </a:rPr>
              <a:t>1 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27BDE5D-B450-76A9-06E5-5A22D0022D6F}"/>
              </a:ext>
            </a:extLst>
          </p:cNvPr>
          <p:cNvSpPr/>
          <p:nvPr/>
        </p:nvSpPr>
        <p:spPr>
          <a:xfrm>
            <a:off x="1625600" y="3443191"/>
            <a:ext cx="2305050" cy="9345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/>
              <a:t>나의 실천 정보</a:t>
            </a:r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r>
              <a:rPr lang="ko-KR" altLang="en-US" sz="1200" dirty="0"/>
              <a:t>실천 건수                          건</a:t>
            </a:r>
            <a:endParaRPr lang="en-US" altLang="ko-KR" sz="1200" dirty="0"/>
          </a:p>
          <a:p>
            <a:pPr algn="l"/>
            <a:r>
              <a:rPr lang="ko-KR" altLang="en-US" sz="1200" dirty="0"/>
              <a:t>랭킹 순위                           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B67B9C6-1A3A-132A-9DC3-7BA8CAD90E73}"/>
              </a:ext>
            </a:extLst>
          </p:cNvPr>
          <p:cNvSpPr/>
          <p:nvPr/>
        </p:nvSpPr>
        <p:spPr>
          <a:xfrm>
            <a:off x="1606550" y="5466251"/>
            <a:ext cx="2305050" cy="9345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/>
              <a:t>이벤트                                  </a:t>
            </a:r>
            <a:r>
              <a:rPr lang="ko-KR" altLang="en-US" sz="1200" dirty="0" err="1"/>
              <a:t>더보기</a:t>
            </a:r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r>
              <a:rPr lang="ko-KR" altLang="en-US" sz="1200" dirty="0" err="1"/>
              <a:t>이베트</a:t>
            </a:r>
            <a:r>
              <a:rPr lang="ko-KR" altLang="en-US" sz="1200" dirty="0"/>
              <a:t> 리스트 </a:t>
            </a:r>
            <a:r>
              <a:rPr lang="en-US" altLang="ko-KR" sz="1200" dirty="0"/>
              <a:t>2</a:t>
            </a:r>
            <a:r>
              <a:rPr lang="ko-KR" altLang="en-US" sz="1200" dirty="0"/>
              <a:t>건</a:t>
            </a:r>
            <a:endParaRPr lang="en-US" altLang="ko-KR" sz="12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F2E99BC-1941-92A5-1BD6-E23970D9589C}"/>
              </a:ext>
            </a:extLst>
          </p:cNvPr>
          <p:cNvSpPr/>
          <p:nvPr/>
        </p:nvSpPr>
        <p:spPr>
          <a:xfrm>
            <a:off x="1625600" y="6629400"/>
            <a:ext cx="2305050" cy="3522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800" dirty="0"/>
              <a:t>홈      탄소활동    </a:t>
            </a:r>
            <a:r>
              <a:rPr lang="en-US" altLang="ko-KR" sz="800" dirty="0"/>
              <a:t>QR</a:t>
            </a:r>
            <a:r>
              <a:rPr lang="ko-KR" altLang="en-US" sz="800" dirty="0"/>
              <a:t>이미지      뉴스     마이페이지</a:t>
            </a:r>
            <a:endParaRPr lang="en-US" altLang="ko-KR" sz="800" dirty="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9E9EB7A-8CB7-6AAA-EADF-68A4069715F4}"/>
              </a:ext>
            </a:extLst>
          </p:cNvPr>
          <p:cNvSpPr/>
          <p:nvPr/>
        </p:nvSpPr>
        <p:spPr>
          <a:xfrm>
            <a:off x="10083800" y="2336956"/>
            <a:ext cx="2305050" cy="11968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sz="1200" dirty="0"/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A5E9A255-9459-29A6-7297-C5C26FCC3532}"/>
              </a:ext>
            </a:extLst>
          </p:cNvPr>
          <p:cNvSpPr/>
          <p:nvPr/>
        </p:nvSpPr>
        <p:spPr>
          <a:xfrm>
            <a:off x="4368800" y="2336956"/>
            <a:ext cx="2305050" cy="11968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sz="1200" dirty="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29E9EB7A-8CB7-6AAA-EADF-68A4069715F4}"/>
              </a:ext>
            </a:extLst>
          </p:cNvPr>
          <p:cNvSpPr/>
          <p:nvPr/>
        </p:nvSpPr>
        <p:spPr>
          <a:xfrm>
            <a:off x="7226300" y="2336956"/>
            <a:ext cx="2305050" cy="11968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sz="1200" dirty="0"/>
          </a:p>
        </p:txBody>
      </p:sp>
      <p:sp>
        <p:nvSpPr>
          <p:cNvPr id="61" name="직사각형 60"/>
          <p:cNvSpPr/>
          <p:nvPr/>
        </p:nvSpPr>
        <p:spPr>
          <a:xfrm>
            <a:off x="7226300" y="3910465"/>
            <a:ext cx="2305050" cy="410658"/>
          </a:xfrm>
          <a:prstGeom prst="rect">
            <a:avLst/>
          </a:prstGeom>
          <a:solidFill>
            <a:schemeClr val="bg1"/>
          </a:solidFill>
          <a:ln w="127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294" tIns="32147" rIns="64294" bIns="321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b="1" dirty="0">
                <a:solidFill>
                  <a:sysClr val="windowText" lastClr="000000"/>
                </a:solidFill>
              </a:rPr>
              <a:t>메인 화면</a:t>
            </a:r>
            <a:r>
              <a:rPr lang="en-US" altLang="ko-KR" sz="1100" b="1" dirty="0">
                <a:solidFill>
                  <a:sysClr val="windowText" lastClr="000000"/>
                </a:solidFill>
              </a:rPr>
              <a:t>2 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10083800" y="3910465"/>
            <a:ext cx="2305050" cy="410658"/>
          </a:xfrm>
          <a:prstGeom prst="rect">
            <a:avLst/>
          </a:prstGeom>
          <a:solidFill>
            <a:schemeClr val="bg1"/>
          </a:solidFill>
          <a:ln w="127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294" tIns="32147" rIns="64294" bIns="321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b="1" dirty="0">
                <a:solidFill>
                  <a:sysClr val="windowText" lastClr="000000"/>
                </a:solidFill>
              </a:rPr>
              <a:t>메인 </a:t>
            </a:r>
            <a:r>
              <a:rPr lang="ko-KR" altLang="en-US" sz="1100" b="1" dirty="0" smtClean="0">
                <a:solidFill>
                  <a:sysClr val="windowText" lastClr="000000"/>
                </a:solidFill>
              </a:rPr>
              <a:t>화면</a:t>
            </a:r>
            <a:r>
              <a:rPr lang="en-US" altLang="ko-KR" sz="1100" b="1" dirty="0">
                <a:solidFill>
                  <a:sysClr val="windowText" lastClr="000000"/>
                </a:solidFill>
              </a:rPr>
              <a:t>3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0BB3D95-9B71-9E78-9154-EE0E6A270C29}"/>
              </a:ext>
            </a:extLst>
          </p:cNvPr>
          <p:cNvSpPr txBox="1"/>
          <p:nvPr/>
        </p:nvSpPr>
        <p:spPr>
          <a:xfrm>
            <a:off x="10083800" y="840685"/>
            <a:ext cx="2254143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 smtClean="0"/>
              <a:t>지구를 지키는 우리의 작은 실천</a:t>
            </a:r>
            <a:r>
              <a:rPr lang="en-US" altLang="ko-KR" sz="1050" dirty="0" smtClean="0"/>
              <a:t>!</a:t>
            </a:r>
          </a:p>
          <a:p>
            <a:endParaRPr lang="en-US" altLang="ko-KR" sz="1050" dirty="0" smtClean="0"/>
          </a:p>
          <a:p>
            <a:r>
              <a:rPr lang="ko-KR" altLang="en-US" sz="1050" dirty="0" smtClean="0"/>
              <a:t>텀블러 사용의 일상화로 탄소 절감 </a:t>
            </a:r>
            <a:endParaRPr lang="en-US" altLang="ko-KR" sz="1050" dirty="0" smtClean="0"/>
          </a:p>
          <a:p>
            <a:r>
              <a:rPr lang="ko-KR" altLang="en-US" sz="1050" dirty="0" smtClean="0"/>
              <a:t>운동의 작은 실천을 통해 위기의 </a:t>
            </a:r>
            <a:endParaRPr lang="en-US" altLang="ko-KR" sz="1050" dirty="0" smtClean="0"/>
          </a:p>
          <a:p>
            <a:r>
              <a:rPr lang="ko-KR" altLang="en-US" sz="1050" dirty="0" smtClean="0"/>
              <a:t>지구를 우리 함께 지킵시다</a:t>
            </a:r>
            <a:r>
              <a:rPr lang="en-US" altLang="ko-KR" sz="1050" dirty="0" smtClean="0"/>
              <a:t>.</a:t>
            </a:r>
            <a:r>
              <a:rPr lang="ko-KR" altLang="en-US" sz="1050" dirty="0" smtClean="0"/>
              <a:t> </a:t>
            </a:r>
            <a:endParaRPr lang="en-US" altLang="ko-KR" sz="1050" dirty="0" smtClean="0"/>
          </a:p>
          <a:p>
            <a:endParaRPr lang="en-US" altLang="ko-KR" sz="1050" dirty="0" smtClean="0"/>
          </a:p>
        </p:txBody>
      </p:sp>
      <p:pic>
        <p:nvPicPr>
          <p:cNvPr id="68" name="그림 6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00" y="1371600"/>
            <a:ext cx="3124200" cy="6705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72912" y="544182"/>
            <a:ext cx="2443298" cy="11926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/>
              <a:t>올바른 원산지표시실천협회와</a:t>
            </a:r>
            <a:endParaRPr lang="en-US" altLang="ko-KR" sz="1100" dirty="0" smtClean="0"/>
          </a:p>
          <a:p>
            <a:r>
              <a:rPr lang="ko-KR" altLang="en-US" sz="1100" dirty="0" smtClean="0"/>
              <a:t>협회 가맹점은 탄소 뱅크와 함께</a:t>
            </a:r>
            <a:r>
              <a:rPr lang="en-US" altLang="ko-KR" sz="1100" dirty="0" smtClean="0"/>
              <a:t>!!</a:t>
            </a:r>
          </a:p>
          <a:p>
            <a:endParaRPr lang="en-US" altLang="ko-KR" dirty="0"/>
          </a:p>
          <a:p>
            <a:r>
              <a:rPr lang="en-US" altLang="ko-KR" sz="1050" dirty="0" smtClean="0"/>
              <a:t>Net Zero 2050  </a:t>
            </a:r>
            <a:r>
              <a:rPr lang="ko-KR" altLang="en-US" sz="1050" dirty="0" smtClean="0"/>
              <a:t>운동에 적극 동참하며</a:t>
            </a:r>
            <a:r>
              <a:rPr lang="en-US" altLang="ko-KR" sz="1050" dirty="0" smtClean="0"/>
              <a:t>,</a:t>
            </a:r>
          </a:p>
          <a:p>
            <a:r>
              <a:rPr lang="en-US" altLang="ko-KR" sz="1050" dirty="0" smtClean="0"/>
              <a:t>Carbon Neutral </a:t>
            </a:r>
            <a:r>
              <a:rPr lang="ko-KR" altLang="en-US" sz="1050" dirty="0" smtClean="0"/>
              <a:t>운동에 행동으로 </a:t>
            </a:r>
            <a:endParaRPr lang="en-US" altLang="ko-KR" sz="1050" dirty="0" smtClean="0"/>
          </a:p>
          <a:p>
            <a:r>
              <a:rPr lang="ko-KR" altLang="en-US" sz="1050" dirty="0" smtClean="0"/>
              <a:t>실천 합니다</a:t>
            </a:r>
            <a:r>
              <a:rPr lang="en-US" altLang="ko-KR" sz="1050" dirty="0" smtClean="0"/>
              <a:t>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458594" y="372160"/>
            <a:ext cx="228780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환경 뉴스 구독은  녹색 실천</a:t>
            </a:r>
            <a:endParaRPr lang="en-US" altLang="ko-KR" sz="1200" dirty="0" smtClean="0"/>
          </a:p>
          <a:p>
            <a:r>
              <a:rPr lang="ko-KR" altLang="en-US" sz="1200" dirty="0" smtClean="0"/>
              <a:t>활동의 새로운 시작입니다</a:t>
            </a:r>
            <a:r>
              <a:rPr lang="en-US" altLang="ko-KR" sz="1200" dirty="0" smtClean="0"/>
              <a:t>.</a:t>
            </a:r>
          </a:p>
          <a:p>
            <a:endParaRPr lang="en-US" altLang="ko-KR" sz="1200" dirty="0" smtClean="0"/>
          </a:p>
          <a:p>
            <a:r>
              <a:rPr lang="ko-KR" altLang="en-US" sz="1200" dirty="0" smtClean="0"/>
              <a:t>지구온난화 </a:t>
            </a:r>
            <a:r>
              <a:rPr lang="en-US" altLang="ko-KR" sz="1200" dirty="0" smtClean="0"/>
              <a:t>1.5</a:t>
            </a:r>
            <a:r>
              <a:rPr lang="en-US" altLang="ko-KR" sz="1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℃</a:t>
            </a:r>
            <a:r>
              <a:rPr lang="ko-KR" altLang="en-US" sz="1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이하 유지를 </a:t>
            </a:r>
            <a:endParaRPr lang="en-US" altLang="ko-KR" sz="120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위하여</a:t>
            </a:r>
            <a:r>
              <a:rPr lang="en-US" altLang="ko-KR" sz="120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200" dirty="0" smtClean="0"/>
              <a:t>Co2 </a:t>
            </a:r>
            <a:r>
              <a:rPr lang="ko-KR" altLang="en-US" sz="1200" dirty="0" smtClean="0"/>
              <a:t>줄이기 습관을 </a:t>
            </a:r>
            <a:endParaRPr lang="en-US" altLang="ko-KR" sz="1200" dirty="0" smtClean="0"/>
          </a:p>
          <a:p>
            <a:r>
              <a:rPr lang="ko-KR" altLang="en-US" sz="1200" dirty="0" smtClean="0"/>
              <a:t>생활화 합시다</a:t>
            </a:r>
            <a:r>
              <a:rPr lang="en-US" altLang="ko-KR" sz="1200" dirty="0" smtClean="0"/>
              <a:t>.</a:t>
            </a:r>
            <a:endParaRPr lang="ko-KR" altLang="en-US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BB3D95-9B71-9E78-9154-EE0E6A270C29}"/>
              </a:ext>
            </a:extLst>
          </p:cNvPr>
          <p:cNvSpPr txBox="1"/>
          <p:nvPr/>
        </p:nvSpPr>
        <p:spPr>
          <a:xfrm>
            <a:off x="4487621" y="4553418"/>
            <a:ext cx="2315057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 smtClean="0"/>
              <a:t>녹색실천활동</a:t>
            </a:r>
            <a:endParaRPr lang="en-US" altLang="ko-KR" sz="1050" dirty="0" smtClean="0"/>
          </a:p>
          <a:p>
            <a:r>
              <a:rPr lang="ko-KR" altLang="en-US" sz="1050" dirty="0" smtClean="0"/>
              <a:t>포인트를 모아보세요</a:t>
            </a:r>
            <a:endParaRPr lang="en-US" altLang="ko-KR" sz="1050" dirty="0" smtClean="0"/>
          </a:p>
          <a:p>
            <a:endParaRPr lang="en-US" altLang="ko-KR" sz="1050" dirty="0"/>
          </a:p>
          <a:p>
            <a:r>
              <a:rPr lang="ko-KR" altLang="en-US" sz="1050" dirty="0" smtClean="0"/>
              <a:t>텀블러를 사용할 때마다 </a:t>
            </a:r>
            <a:r>
              <a:rPr lang="en-US" altLang="ko-KR" sz="1050" dirty="0" smtClean="0"/>
              <a:t>300</a:t>
            </a:r>
            <a:r>
              <a:rPr lang="ko-KR" altLang="en-US" sz="1050" dirty="0" smtClean="0"/>
              <a:t>원씩</a:t>
            </a:r>
            <a:endParaRPr lang="en-US" altLang="ko-KR" sz="1050" dirty="0" smtClean="0"/>
          </a:p>
          <a:p>
            <a:r>
              <a:rPr lang="ko-KR" altLang="en-US" sz="1050" dirty="0" smtClean="0"/>
              <a:t>녹색실천활동 포인트가 적립됩니다</a:t>
            </a:r>
            <a:r>
              <a:rPr lang="en-US" altLang="ko-KR" sz="1050" dirty="0" smtClean="0"/>
              <a:t>.</a:t>
            </a:r>
          </a:p>
          <a:p>
            <a:endParaRPr lang="en-US" altLang="ko-KR" sz="1050" dirty="0" smtClean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0BB3D95-9B71-9E78-9154-EE0E6A270C29}"/>
              </a:ext>
            </a:extLst>
          </p:cNvPr>
          <p:cNvSpPr txBox="1"/>
          <p:nvPr/>
        </p:nvSpPr>
        <p:spPr>
          <a:xfrm>
            <a:off x="4479177" y="5733055"/>
            <a:ext cx="2180405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 smtClean="0"/>
              <a:t>텀블러 받고</a:t>
            </a:r>
            <a:endParaRPr lang="en-US" altLang="ko-KR" sz="1050" dirty="0" smtClean="0"/>
          </a:p>
          <a:p>
            <a:r>
              <a:rPr lang="ko-KR" altLang="en-US" sz="1050" dirty="0" smtClean="0"/>
              <a:t>탄소 회원 가입하세요</a:t>
            </a:r>
            <a:endParaRPr lang="en-US" altLang="ko-KR" sz="1050" dirty="0" smtClean="0"/>
          </a:p>
          <a:p>
            <a:endParaRPr lang="en-US" altLang="ko-KR" sz="1050" dirty="0"/>
          </a:p>
          <a:p>
            <a:r>
              <a:rPr lang="ko-KR" altLang="en-US" sz="1050" dirty="0" smtClean="0"/>
              <a:t>텀블러로 탄소 회원으로 가입하고</a:t>
            </a:r>
            <a:endParaRPr lang="en-US" altLang="ko-KR" sz="1050" dirty="0" smtClean="0"/>
          </a:p>
          <a:p>
            <a:r>
              <a:rPr lang="ko-KR" altLang="en-US" sz="1050" dirty="0" smtClean="0"/>
              <a:t>녹색실천활동을 바로 시작하세요</a:t>
            </a:r>
            <a:r>
              <a:rPr lang="en-US" altLang="ko-KR" sz="1050" dirty="0" smtClean="0"/>
              <a:t>.</a:t>
            </a:r>
          </a:p>
          <a:p>
            <a:endParaRPr lang="en-US" altLang="ko-KR" sz="1050" dirty="0" smtClean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0BB3D95-9B71-9E78-9154-EE0E6A270C29}"/>
              </a:ext>
            </a:extLst>
          </p:cNvPr>
          <p:cNvSpPr txBox="1"/>
          <p:nvPr/>
        </p:nvSpPr>
        <p:spPr>
          <a:xfrm>
            <a:off x="4493445" y="6912692"/>
            <a:ext cx="2658100" cy="12234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 smtClean="0"/>
              <a:t>지구를 살리는데</a:t>
            </a:r>
            <a:endParaRPr lang="en-US" altLang="ko-KR" sz="1050" dirty="0" smtClean="0"/>
          </a:p>
          <a:p>
            <a:r>
              <a:rPr lang="ko-KR" altLang="en-US" sz="1050" dirty="0" smtClean="0"/>
              <a:t>지금 동참하세요</a:t>
            </a:r>
            <a:endParaRPr lang="en-US" altLang="ko-KR" sz="1050" dirty="0" smtClean="0"/>
          </a:p>
          <a:p>
            <a:endParaRPr lang="en-US" altLang="ko-KR" sz="1050" dirty="0"/>
          </a:p>
          <a:p>
            <a:r>
              <a:rPr lang="ko-KR" altLang="en-US" sz="1050" dirty="0" smtClean="0"/>
              <a:t>기후 온난화로 인해 지구가 많이</a:t>
            </a:r>
            <a:endParaRPr lang="en-US" altLang="ko-KR" sz="1050" dirty="0" smtClean="0"/>
          </a:p>
          <a:p>
            <a:r>
              <a:rPr lang="ko-KR" altLang="en-US" sz="1050" dirty="0" smtClean="0"/>
              <a:t>아픕니다</a:t>
            </a:r>
            <a:r>
              <a:rPr lang="en-US" altLang="ko-KR" sz="1050" dirty="0" smtClean="0"/>
              <a:t>. </a:t>
            </a:r>
            <a:r>
              <a:rPr lang="ko-KR" altLang="en-US" sz="1050" dirty="0" smtClean="0"/>
              <a:t>텀블러를 사용하여 탄소 절감에</a:t>
            </a:r>
            <a:endParaRPr lang="en-US" altLang="ko-KR" sz="1050" dirty="0" smtClean="0"/>
          </a:p>
          <a:p>
            <a:r>
              <a:rPr lang="ko-KR" altLang="en-US" sz="1050" dirty="0" smtClean="0"/>
              <a:t>적극적으로 참여해주세요</a:t>
            </a:r>
            <a:r>
              <a:rPr lang="en-US" altLang="ko-KR" sz="1050" dirty="0" smtClean="0"/>
              <a:t>.</a:t>
            </a:r>
          </a:p>
          <a:p>
            <a:endParaRPr lang="en-US" altLang="ko-KR" sz="1050" dirty="0" smtClean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0BB3D95-9B71-9E78-9154-EE0E6A270C29}"/>
              </a:ext>
            </a:extLst>
          </p:cNvPr>
          <p:cNvSpPr txBox="1"/>
          <p:nvPr/>
        </p:nvSpPr>
        <p:spPr>
          <a:xfrm>
            <a:off x="7250655" y="4512980"/>
            <a:ext cx="2517036" cy="12234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 smtClean="0"/>
              <a:t>“</a:t>
            </a:r>
            <a:r>
              <a:rPr lang="ko-KR" altLang="en-US" sz="1050" dirty="0" smtClean="0"/>
              <a:t>한국산업환경 기술원</a:t>
            </a:r>
            <a:r>
              <a:rPr lang="en-US" altLang="ko-KR" sz="1050" dirty="0" smtClean="0"/>
              <a:t>”</a:t>
            </a:r>
            <a:r>
              <a:rPr lang="ko-KR" altLang="en-US" sz="1050" dirty="0" smtClean="0"/>
              <a:t>의</a:t>
            </a:r>
            <a:endParaRPr lang="en-US" altLang="ko-KR" sz="1050" dirty="0" smtClean="0"/>
          </a:p>
          <a:p>
            <a:r>
              <a:rPr lang="ko-KR" altLang="en-US" sz="1050" dirty="0" smtClean="0"/>
              <a:t>탄소중립 실천 포인트 회원가입으로</a:t>
            </a:r>
            <a:endParaRPr lang="en-US" altLang="ko-KR" sz="1050" dirty="0" smtClean="0"/>
          </a:p>
          <a:p>
            <a:endParaRPr lang="en-US" altLang="ko-KR" sz="1050" dirty="0" smtClean="0"/>
          </a:p>
          <a:p>
            <a:r>
              <a:rPr lang="ko-KR" altLang="en-US" sz="1050" dirty="0" smtClean="0"/>
              <a:t>친환경 소비 시 마다 </a:t>
            </a:r>
            <a:r>
              <a:rPr lang="en-US" altLang="ko-KR" sz="1050" dirty="0" smtClean="0"/>
              <a:t>300 </a:t>
            </a:r>
            <a:r>
              <a:rPr lang="ko-KR" altLang="en-US" sz="1050" dirty="0" smtClean="0"/>
              <a:t>포인트 적립과</a:t>
            </a:r>
            <a:endParaRPr lang="en-US" altLang="ko-KR" sz="1050" dirty="0" smtClean="0"/>
          </a:p>
          <a:p>
            <a:r>
              <a:rPr lang="ko-KR" altLang="en-US" sz="1050" dirty="0" smtClean="0"/>
              <a:t>자원 순환과 흡수 원 보호로 </a:t>
            </a:r>
            <a:endParaRPr lang="en-US" altLang="ko-KR" sz="1050" dirty="0" smtClean="0"/>
          </a:p>
          <a:p>
            <a:r>
              <a:rPr lang="ko-KR" altLang="en-US" sz="1050" dirty="0" smtClean="0"/>
              <a:t>녹색실천활동을</a:t>
            </a:r>
            <a:r>
              <a:rPr lang="en-US" altLang="ko-KR" sz="1050" dirty="0"/>
              <a:t> </a:t>
            </a:r>
            <a:r>
              <a:rPr lang="ko-KR" altLang="en-US" sz="1050" dirty="0" smtClean="0"/>
              <a:t>실천 합니다</a:t>
            </a:r>
            <a:r>
              <a:rPr lang="en-US" altLang="ko-KR" sz="1050" dirty="0" smtClean="0"/>
              <a:t>.</a:t>
            </a:r>
          </a:p>
          <a:p>
            <a:endParaRPr lang="en-US" altLang="ko-KR" sz="1050" dirty="0" smtClean="0"/>
          </a:p>
        </p:txBody>
      </p:sp>
    </p:spTree>
    <p:extLst>
      <p:ext uri="{BB962C8B-B14F-4D97-AF65-F5344CB8AC3E}">
        <p14:creationId xmlns:p14="http://schemas.microsoft.com/office/powerpoint/2010/main" val="2689826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5E59D-DC05-6232-8063-81A8D6ACC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D9D8B2-65AD-FBC3-9ADF-FF790999F79A}"/>
              </a:ext>
            </a:extLst>
          </p:cNvPr>
          <p:cNvSpPr txBox="1"/>
          <p:nvPr/>
        </p:nvSpPr>
        <p:spPr>
          <a:xfrm>
            <a:off x="787401" y="585889"/>
            <a:ext cx="2133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chemeClr val="bg1"/>
                </a:solidFill>
                <a:latin typeface="+mj-ea"/>
                <a:ea typeface="+mj-ea"/>
              </a:rPr>
              <a:t>메인</a:t>
            </a:r>
            <a:r>
              <a:rPr lang="en-US" altLang="ko-KR" b="1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b="1" dirty="0">
                <a:solidFill>
                  <a:schemeClr val="bg1"/>
                </a:solidFill>
                <a:latin typeface="+mj-ea"/>
                <a:ea typeface="+mj-ea"/>
              </a:rPr>
              <a:t>지자체화면</a:t>
            </a:r>
            <a:r>
              <a:rPr lang="en-US" altLang="ko-KR" b="1" dirty="0">
                <a:solidFill>
                  <a:schemeClr val="bg1"/>
                </a:solidFill>
                <a:latin typeface="+mj-ea"/>
                <a:ea typeface="+mj-ea"/>
              </a:rPr>
              <a:t>)</a:t>
            </a:r>
            <a:endParaRPr lang="ko-KR" altLang="en-US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4239272" y="1608080"/>
            <a:ext cx="7910950" cy="6041578"/>
            <a:chOff x="1994873" y="1608080"/>
            <a:chExt cx="7552822" cy="6041578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91D9527B-23B9-14E0-43E9-C05A1BA3D4EC}"/>
                </a:ext>
              </a:extLst>
            </p:cNvPr>
            <p:cNvGrpSpPr/>
            <p:nvPr/>
          </p:nvGrpSpPr>
          <p:grpSpPr>
            <a:xfrm>
              <a:off x="1994873" y="1680000"/>
              <a:ext cx="2448000" cy="5940000"/>
              <a:chOff x="1235917" y="1123501"/>
              <a:chExt cx="2201348" cy="5011392"/>
            </a:xfrm>
          </p:grpSpPr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3F5B8578-F7EA-4E53-BF3C-3F5ECF68FF2A}"/>
                  </a:ext>
                </a:extLst>
              </p:cNvPr>
              <p:cNvSpPr/>
              <p:nvPr/>
            </p:nvSpPr>
            <p:spPr>
              <a:xfrm>
                <a:off x="1245202" y="5788547"/>
                <a:ext cx="2192063" cy="3463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5E5E5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4294" tIns="32147" rIns="64294" bIns="3214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ko-KR" altLang="en-US" sz="1100" b="1" dirty="0">
                    <a:solidFill>
                      <a:sysClr val="windowText" lastClr="000000"/>
                    </a:solidFill>
                  </a:rPr>
                  <a:t>메인 화면</a:t>
                </a:r>
                <a:r>
                  <a:rPr lang="en-US" altLang="ko-KR" sz="1100" b="1" dirty="0">
                    <a:solidFill>
                      <a:sysClr val="windowText" lastClr="000000"/>
                    </a:solidFill>
                  </a:rPr>
                  <a:t>1</a:t>
                </a:r>
                <a:endParaRPr lang="ko-KR" altLang="en-US" sz="11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A428FEC6-0431-B04D-FC29-DEAC995F9A7E}"/>
                  </a:ext>
                </a:extLst>
              </p:cNvPr>
              <p:cNvSpPr/>
              <p:nvPr/>
            </p:nvSpPr>
            <p:spPr>
              <a:xfrm>
                <a:off x="1237329" y="5250657"/>
                <a:ext cx="2192063" cy="430735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66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8AC45EA-7AB5-70B6-DC6D-C6AB93BB51CC}"/>
                  </a:ext>
                </a:extLst>
              </p:cNvPr>
              <p:cNvSpPr txBox="1"/>
              <p:nvPr/>
            </p:nvSpPr>
            <p:spPr>
              <a:xfrm>
                <a:off x="1348021" y="5361035"/>
                <a:ext cx="1713931" cy="2437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984" dirty="0">
                    <a:latin typeface="+mj-ea"/>
                    <a:ea typeface="+mj-ea"/>
                  </a:rPr>
                  <a:t>홈    </a:t>
                </a:r>
                <a:r>
                  <a:rPr lang="ko-KR" altLang="en-US" sz="984" dirty="0" err="1">
                    <a:latin typeface="+mj-ea"/>
                    <a:ea typeface="+mj-ea"/>
                  </a:rPr>
                  <a:t>제휴처</a:t>
                </a:r>
                <a:r>
                  <a:rPr lang="ko-KR" altLang="en-US" sz="984" dirty="0">
                    <a:latin typeface="+mj-ea"/>
                    <a:ea typeface="+mj-ea"/>
                  </a:rPr>
                  <a:t>    </a:t>
                </a:r>
                <a:r>
                  <a:rPr lang="en-US" altLang="ko-KR" sz="984" dirty="0">
                    <a:latin typeface="+mj-ea"/>
                    <a:ea typeface="+mj-ea"/>
                  </a:rPr>
                  <a:t> </a:t>
                </a:r>
                <a:r>
                  <a:rPr lang="ko-KR" altLang="en-US" sz="984" dirty="0">
                    <a:latin typeface="+mj-ea"/>
                    <a:ea typeface="+mj-ea"/>
                  </a:rPr>
                  <a:t>공지    </a:t>
                </a:r>
                <a:r>
                  <a:rPr lang="en-US" altLang="ko-KR" sz="984" dirty="0">
                    <a:latin typeface="+mj-ea"/>
                    <a:ea typeface="+mj-ea"/>
                  </a:rPr>
                  <a:t>MY</a:t>
                </a:r>
                <a:endParaRPr lang="ko-KR" altLang="en-US" sz="984" dirty="0">
                  <a:latin typeface="+mj-ea"/>
                  <a:ea typeface="+mj-ea"/>
                </a:endParaRPr>
              </a:p>
            </p:txBody>
          </p:sp>
          <p:grpSp>
            <p:nvGrpSpPr>
              <p:cNvPr id="17" name="그룹 16">
                <a:extLst>
                  <a:ext uri="{FF2B5EF4-FFF2-40B4-BE49-F238E27FC236}">
                    <a16:creationId xmlns:a16="http://schemas.microsoft.com/office/drawing/2014/main" id="{E2F55DD0-03CB-BFC7-A156-1E3447EA99BE}"/>
                  </a:ext>
                </a:extLst>
              </p:cNvPr>
              <p:cNvGrpSpPr/>
              <p:nvPr/>
            </p:nvGrpSpPr>
            <p:grpSpPr>
              <a:xfrm>
                <a:off x="3109175" y="5378339"/>
                <a:ext cx="213060" cy="167385"/>
                <a:chOff x="-303020" y="2353942"/>
                <a:chExt cx="511175" cy="317878"/>
              </a:xfrm>
            </p:grpSpPr>
            <p:sp>
              <p:nvSpPr>
                <p:cNvPr id="35" name="직사각형 34">
                  <a:extLst>
                    <a:ext uri="{FF2B5EF4-FFF2-40B4-BE49-F238E27FC236}">
                      <a16:creationId xmlns:a16="http://schemas.microsoft.com/office/drawing/2014/main" id="{62472773-A94F-092C-0793-6D908CD25513}"/>
                    </a:ext>
                  </a:extLst>
                </p:cNvPr>
                <p:cNvSpPr/>
                <p:nvPr/>
              </p:nvSpPr>
              <p:spPr>
                <a:xfrm>
                  <a:off x="-299845" y="2353942"/>
                  <a:ext cx="508000" cy="72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266"/>
                </a:p>
              </p:txBody>
            </p:sp>
            <p:sp>
              <p:nvSpPr>
                <p:cNvPr id="36" name="직사각형 35">
                  <a:extLst>
                    <a:ext uri="{FF2B5EF4-FFF2-40B4-BE49-F238E27FC236}">
                      <a16:creationId xmlns:a16="http://schemas.microsoft.com/office/drawing/2014/main" id="{C8884382-2755-A3C6-5B57-CC5285D76D4E}"/>
                    </a:ext>
                  </a:extLst>
                </p:cNvPr>
                <p:cNvSpPr/>
                <p:nvPr/>
              </p:nvSpPr>
              <p:spPr>
                <a:xfrm>
                  <a:off x="-303020" y="2474471"/>
                  <a:ext cx="508000" cy="72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266"/>
                </a:p>
              </p:txBody>
            </p:sp>
            <p:sp>
              <p:nvSpPr>
                <p:cNvPr id="37" name="직사각형 36">
                  <a:extLst>
                    <a:ext uri="{FF2B5EF4-FFF2-40B4-BE49-F238E27FC236}">
                      <a16:creationId xmlns:a16="http://schemas.microsoft.com/office/drawing/2014/main" id="{BF570770-1367-154F-D139-92238C2D19A4}"/>
                    </a:ext>
                  </a:extLst>
                </p:cNvPr>
                <p:cNvSpPr/>
                <p:nvPr/>
              </p:nvSpPr>
              <p:spPr>
                <a:xfrm>
                  <a:off x="-303020" y="2599820"/>
                  <a:ext cx="508000" cy="72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266"/>
                </a:p>
              </p:txBody>
            </p:sp>
          </p:grp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23227083-6B32-239A-7C60-DE28B44F044F}"/>
                  </a:ext>
                </a:extLst>
              </p:cNvPr>
              <p:cNvSpPr/>
              <p:nvPr/>
            </p:nvSpPr>
            <p:spPr>
              <a:xfrm>
                <a:off x="1235917" y="1123501"/>
                <a:ext cx="2188123" cy="909772"/>
              </a:xfrm>
              <a:prstGeom prst="rect">
                <a:avLst/>
              </a:prstGeom>
              <a:solidFill>
                <a:srgbClr val="F1AF2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66" dirty="0"/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2E7E5A62-9736-F121-3226-EE0B60B0C8F9}"/>
                  </a:ext>
                </a:extLst>
              </p:cNvPr>
              <p:cNvSpPr/>
              <p:nvPr/>
            </p:nvSpPr>
            <p:spPr>
              <a:xfrm>
                <a:off x="1237329" y="1125141"/>
                <a:ext cx="2192063" cy="455625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4294" tIns="32147" rIns="64294" bIns="3214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44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B6CED669-D338-3C9B-EEA6-C403C2AEC2A2}"/>
                  </a:ext>
                </a:extLst>
              </p:cNvPr>
              <p:cNvGrpSpPr/>
              <p:nvPr/>
            </p:nvGrpSpPr>
            <p:grpSpPr>
              <a:xfrm>
                <a:off x="1327747" y="1203258"/>
                <a:ext cx="730746" cy="253126"/>
                <a:chOff x="5451973" y="1727860"/>
                <a:chExt cx="1039283" cy="360001"/>
              </a:xfrm>
              <a:solidFill>
                <a:schemeClr val="bg1"/>
              </a:solidFill>
            </p:grpSpPr>
            <p:sp>
              <p:nvSpPr>
                <p:cNvPr id="31" name="직사각형 30">
                  <a:extLst>
                    <a:ext uri="{FF2B5EF4-FFF2-40B4-BE49-F238E27FC236}">
                      <a16:creationId xmlns:a16="http://schemas.microsoft.com/office/drawing/2014/main" id="{70020791-7941-3CDB-B79D-9869F861D0AB}"/>
                    </a:ext>
                  </a:extLst>
                </p:cNvPr>
                <p:cNvSpPr/>
                <p:nvPr/>
              </p:nvSpPr>
              <p:spPr>
                <a:xfrm>
                  <a:off x="5451973" y="1727861"/>
                  <a:ext cx="229286" cy="36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84" b="1" dirty="0">
                      <a:solidFill>
                        <a:schemeClr val="tx1"/>
                      </a:solidFill>
                    </a:rPr>
                    <a:t>인</a:t>
                  </a:r>
                </a:p>
              </p:txBody>
            </p:sp>
            <p:sp>
              <p:nvSpPr>
                <p:cNvPr id="32" name="직사각형 31">
                  <a:extLst>
                    <a:ext uri="{FF2B5EF4-FFF2-40B4-BE49-F238E27FC236}">
                      <a16:creationId xmlns:a16="http://schemas.microsoft.com/office/drawing/2014/main" id="{EDC389E1-C14F-54D4-85D9-05D7DE8987AE}"/>
                    </a:ext>
                  </a:extLst>
                </p:cNvPr>
                <p:cNvSpPr/>
                <p:nvPr/>
              </p:nvSpPr>
              <p:spPr>
                <a:xfrm>
                  <a:off x="5721972" y="1727860"/>
                  <a:ext cx="229286" cy="36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84" b="1" dirty="0">
                      <a:solidFill>
                        <a:schemeClr val="tx1"/>
                      </a:solidFill>
                    </a:rPr>
                    <a:t>천</a:t>
                  </a:r>
                </a:p>
              </p:txBody>
            </p:sp>
            <p:sp>
              <p:nvSpPr>
                <p:cNvPr id="33" name="직사각형 32">
                  <a:extLst>
                    <a:ext uri="{FF2B5EF4-FFF2-40B4-BE49-F238E27FC236}">
                      <a16:creationId xmlns:a16="http://schemas.microsoft.com/office/drawing/2014/main" id="{A17FB0FA-CAC0-8D42-3035-B8E7016175AB}"/>
                    </a:ext>
                  </a:extLst>
                </p:cNvPr>
                <p:cNvSpPr/>
                <p:nvPr/>
              </p:nvSpPr>
              <p:spPr>
                <a:xfrm>
                  <a:off x="5991971" y="1727860"/>
                  <a:ext cx="229286" cy="36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84" b="1" dirty="0">
                      <a:solidFill>
                        <a:schemeClr val="tx1"/>
                      </a:solidFill>
                    </a:rPr>
                    <a:t>광</a:t>
                  </a:r>
                </a:p>
              </p:txBody>
            </p:sp>
            <p:sp>
              <p:nvSpPr>
                <p:cNvPr id="34" name="직사각형 33">
                  <a:extLst>
                    <a:ext uri="{FF2B5EF4-FFF2-40B4-BE49-F238E27FC236}">
                      <a16:creationId xmlns:a16="http://schemas.microsoft.com/office/drawing/2014/main" id="{82B723B8-3717-2E88-020B-78E66BC706B5}"/>
                    </a:ext>
                  </a:extLst>
                </p:cNvPr>
                <p:cNvSpPr/>
                <p:nvPr/>
              </p:nvSpPr>
              <p:spPr>
                <a:xfrm>
                  <a:off x="6261970" y="1727860"/>
                  <a:ext cx="229286" cy="36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84" b="1">
                      <a:solidFill>
                        <a:schemeClr val="tx1"/>
                      </a:solidFill>
                    </a:rPr>
                    <a:t>역</a:t>
                  </a:r>
                  <a:endParaRPr lang="ko-KR" altLang="en-US" sz="984" b="1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AB7E986D-63AF-56F2-8CE1-B73D91FEF6F0}"/>
                  </a:ext>
                </a:extLst>
              </p:cNvPr>
              <p:cNvSpPr/>
              <p:nvPr/>
            </p:nvSpPr>
            <p:spPr>
              <a:xfrm>
                <a:off x="1315245" y="5000953"/>
                <a:ext cx="2036229" cy="2417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66" dirty="0"/>
              </a:p>
            </p:txBody>
          </p:sp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EDC875C2-F122-BD0A-95F2-0842F180A062}"/>
                  </a:ext>
                </a:extLst>
              </p:cNvPr>
              <p:cNvSpPr/>
              <p:nvPr/>
            </p:nvSpPr>
            <p:spPr>
              <a:xfrm>
                <a:off x="2082000" y="1210000"/>
                <a:ext cx="161217" cy="2531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84" b="1" dirty="0">
                    <a:solidFill>
                      <a:schemeClr val="tx1"/>
                    </a:solidFill>
                  </a:rPr>
                  <a:t>시</a:t>
                </a:r>
              </a:p>
            </p:txBody>
          </p:sp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F63B368F-9058-EACE-91D9-57569384AF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72996" y="3513436"/>
                <a:ext cx="2101530" cy="703427"/>
              </a:xfrm>
              <a:prstGeom prst="rect">
                <a:avLst/>
              </a:prstGeom>
            </p:spPr>
          </p:pic>
          <p:pic>
            <p:nvPicPr>
              <p:cNvPr id="24" name="그림 23">
                <a:extLst>
                  <a:ext uri="{FF2B5EF4-FFF2-40B4-BE49-F238E27FC236}">
                    <a16:creationId xmlns:a16="http://schemas.microsoft.com/office/drawing/2014/main" id="{60B768CD-3398-29AE-C0BC-05E6927988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66827" y="2615130"/>
                <a:ext cx="2138448" cy="795393"/>
              </a:xfrm>
              <a:prstGeom prst="rect">
                <a:avLst/>
              </a:prstGeom>
            </p:spPr>
          </p:pic>
          <p:pic>
            <p:nvPicPr>
              <p:cNvPr id="25" name="그림 24">
                <a:extLst>
                  <a:ext uri="{FF2B5EF4-FFF2-40B4-BE49-F238E27FC236}">
                    <a16:creationId xmlns:a16="http://schemas.microsoft.com/office/drawing/2014/main" id="{33D3C20C-2941-A416-97E4-5A1C1E188D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1806" y="1680791"/>
                <a:ext cx="2140415" cy="871428"/>
              </a:xfrm>
              <a:prstGeom prst="rect">
                <a:avLst/>
              </a:prstGeom>
            </p:spPr>
          </p:pic>
          <p:pic>
            <p:nvPicPr>
              <p:cNvPr id="26" name="그림 25">
                <a:extLst>
                  <a:ext uri="{FF2B5EF4-FFF2-40B4-BE49-F238E27FC236}">
                    <a16:creationId xmlns:a16="http://schemas.microsoft.com/office/drawing/2014/main" id="{7D631536-47C3-E387-74F6-AFE4BC7FBB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45202" y="1174472"/>
                <a:ext cx="2156034" cy="429127"/>
              </a:xfrm>
              <a:prstGeom prst="rect">
                <a:avLst/>
              </a:prstGeom>
            </p:spPr>
          </p:pic>
          <p:pic>
            <p:nvPicPr>
              <p:cNvPr id="27" name="그림 26">
                <a:extLst>
                  <a:ext uri="{FF2B5EF4-FFF2-40B4-BE49-F238E27FC236}">
                    <a16:creationId xmlns:a16="http://schemas.microsoft.com/office/drawing/2014/main" id="{37F3A863-A4D6-198F-09A9-B01BABDF62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53493" y="5262123"/>
                <a:ext cx="2151782" cy="419267"/>
              </a:xfrm>
              <a:prstGeom prst="rect">
                <a:avLst/>
              </a:prstGeom>
            </p:spPr>
          </p:pic>
          <p:sp>
            <p:nvSpPr>
              <p:cNvPr id="28" name="모서리가 둥근 직사각형 27">
                <a:extLst>
                  <a:ext uri="{FF2B5EF4-FFF2-40B4-BE49-F238E27FC236}">
                    <a16:creationId xmlns:a16="http://schemas.microsoft.com/office/drawing/2014/main" id="{3CE9DD31-151D-4739-5987-DC53810B698D}"/>
                  </a:ext>
                </a:extLst>
              </p:cNvPr>
              <p:cNvSpPr/>
              <p:nvPr/>
            </p:nvSpPr>
            <p:spPr>
              <a:xfrm>
                <a:off x="1290033" y="4390921"/>
                <a:ext cx="2088000" cy="720000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66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212C11A-933B-9FF2-F8AC-41613239B537}"/>
                  </a:ext>
                </a:extLst>
              </p:cNvPr>
              <p:cNvSpPr txBox="1"/>
              <p:nvPr/>
            </p:nvSpPr>
            <p:spPr>
              <a:xfrm>
                <a:off x="1517590" y="4456294"/>
                <a:ext cx="1591585" cy="220712"/>
              </a:xfrm>
              <a:prstGeom prst="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100" dirty="0"/>
                  <a:t>      이벤트 </a:t>
                </a:r>
                <a:r>
                  <a:rPr lang="ko-KR" altLang="en-US" sz="1100" dirty="0" err="1"/>
                  <a:t>한건</a:t>
                </a:r>
                <a:endParaRPr lang="en-US" altLang="ko-KR" sz="1100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29BABB3-EFF2-D0E9-BBA5-9E6261C97610}"/>
                  </a:ext>
                </a:extLst>
              </p:cNvPr>
              <p:cNvSpPr txBox="1"/>
              <p:nvPr/>
            </p:nvSpPr>
            <p:spPr>
              <a:xfrm>
                <a:off x="1530025" y="4785975"/>
                <a:ext cx="1591585" cy="261610"/>
              </a:xfrm>
              <a:prstGeom prst="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100" dirty="0"/>
                  <a:t>     당첨자 관리</a:t>
                </a:r>
                <a:endParaRPr lang="en-US" altLang="ko-KR" sz="1100" dirty="0"/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62D8B6B-1FBD-9881-B19B-23C87CE3A91B}"/>
                </a:ext>
              </a:extLst>
            </p:cNvPr>
            <p:cNvSpPr txBox="1"/>
            <p:nvPr/>
          </p:nvSpPr>
          <p:spPr>
            <a:xfrm>
              <a:off x="7188200" y="2514600"/>
              <a:ext cx="1694695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좌측 이미지 </a:t>
              </a:r>
              <a:r>
                <a:rPr lang="en-US" altLang="ko-KR" sz="1400" dirty="0"/>
                <a:t>+ </a:t>
              </a:r>
              <a:r>
                <a:rPr lang="ko-KR" altLang="en-US" sz="1400" dirty="0"/>
                <a:t>제목</a:t>
              </a:r>
              <a:endParaRPr lang="en-US" altLang="ko-KR" sz="1400" dirty="0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710F4DB3-374F-E0CA-A4E4-604A95FC9AAD}"/>
                </a:ext>
              </a:extLst>
            </p:cNvPr>
            <p:cNvSpPr/>
            <p:nvPr/>
          </p:nvSpPr>
          <p:spPr>
            <a:xfrm>
              <a:off x="4749800" y="7239000"/>
              <a:ext cx="2378889" cy="41065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E5E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4294" tIns="32147" rIns="64294" bIns="3214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100" b="1" dirty="0">
                  <a:solidFill>
                    <a:sysClr val="windowText" lastClr="000000"/>
                  </a:solidFill>
                </a:rPr>
                <a:t>메인 화면</a:t>
              </a:r>
              <a:r>
                <a:rPr lang="en-US" altLang="ko-KR" sz="1100" b="1" dirty="0">
                  <a:solidFill>
                    <a:sysClr val="windowText" lastClr="000000"/>
                  </a:solidFill>
                </a:rPr>
                <a:t>2 /</a:t>
              </a:r>
              <a:r>
                <a:rPr lang="ko-KR" altLang="en-US" sz="1100" b="1" dirty="0">
                  <a:solidFill>
                    <a:sysClr val="windowText" lastClr="000000"/>
                  </a:solidFill>
                </a:rPr>
                <a:t>연결 페이지</a:t>
              </a:r>
            </a:p>
          </p:txBody>
        </p: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A064636D-0EAA-81DA-2B49-7A55C1C97FFC}"/>
                </a:ext>
              </a:extLst>
            </p:cNvPr>
            <p:cNvGrpSpPr/>
            <p:nvPr/>
          </p:nvGrpSpPr>
          <p:grpSpPr>
            <a:xfrm>
              <a:off x="4749800" y="1676400"/>
              <a:ext cx="2378889" cy="5402288"/>
              <a:chOff x="5289800" y="1600201"/>
              <a:chExt cx="3117601" cy="6480000"/>
            </a:xfrm>
          </p:grpSpPr>
          <p:sp>
            <p:nvSpPr>
              <p:cNvPr id="70" name="직사각형 69">
                <a:extLst>
                  <a:ext uri="{FF2B5EF4-FFF2-40B4-BE49-F238E27FC236}">
                    <a16:creationId xmlns:a16="http://schemas.microsoft.com/office/drawing/2014/main" id="{9A78D6FE-926A-901D-7ADF-8908E2E6936B}"/>
                  </a:ext>
                </a:extLst>
              </p:cNvPr>
              <p:cNvSpPr/>
              <p:nvPr/>
            </p:nvSpPr>
            <p:spPr>
              <a:xfrm>
                <a:off x="5289800" y="7467600"/>
                <a:ext cx="3117601" cy="61260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66"/>
              </a:p>
            </p:txBody>
          </p:sp>
          <p:grpSp>
            <p:nvGrpSpPr>
              <p:cNvPr id="71" name="그룹 70">
                <a:extLst>
                  <a:ext uri="{FF2B5EF4-FFF2-40B4-BE49-F238E27FC236}">
                    <a16:creationId xmlns:a16="http://schemas.microsoft.com/office/drawing/2014/main" id="{1B6892D5-F1DF-0207-2991-ADBB08203AF5}"/>
                  </a:ext>
                </a:extLst>
              </p:cNvPr>
              <p:cNvGrpSpPr/>
              <p:nvPr/>
            </p:nvGrpSpPr>
            <p:grpSpPr>
              <a:xfrm>
                <a:off x="5534409" y="3253984"/>
                <a:ext cx="393720" cy="374970"/>
                <a:chOff x="2082800" y="5562600"/>
                <a:chExt cx="1600200" cy="1524000"/>
              </a:xfrm>
            </p:grpSpPr>
            <p:sp>
              <p:nvSpPr>
                <p:cNvPr id="79" name="직사각형 78">
                  <a:extLst>
                    <a:ext uri="{FF2B5EF4-FFF2-40B4-BE49-F238E27FC236}">
                      <a16:creationId xmlns:a16="http://schemas.microsoft.com/office/drawing/2014/main" id="{A5D7CF58-D462-1439-745B-648BEFDF8FD0}"/>
                    </a:ext>
                  </a:extLst>
                </p:cNvPr>
                <p:cNvSpPr/>
                <p:nvPr/>
              </p:nvSpPr>
              <p:spPr>
                <a:xfrm>
                  <a:off x="2082800" y="6172200"/>
                  <a:ext cx="1600200" cy="304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266"/>
                </a:p>
              </p:txBody>
            </p:sp>
            <p:sp>
              <p:nvSpPr>
                <p:cNvPr id="80" name="직사각형 79">
                  <a:extLst>
                    <a:ext uri="{FF2B5EF4-FFF2-40B4-BE49-F238E27FC236}">
                      <a16:creationId xmlns:a16="http://schemas.microsoft.com/office/drawing/2014/main" id="{7E8CE278-F73E-166D-5F00-47401EEAFF44}"/>
                    </a:ext>
                  </a:extLst>
                </p:cNvPr>
                <p:cNvSpPr/>
                <p:nvPr/>
              </p:nvSpPr>
              <p:spPr>
                <a:xfrm>
                  <a:off x="2692400" y="5562600"/>
                  <a:ext cx="381000" cy="1524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266"/>
                </a:p>
              </p:txBody>
            </p:sp>
          </p:grp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CB86DA4-22BC-D9BA-E09F-B3EB2423C03B}"/>
                  </a:ext>
                </a:extLst>
              </p:cNvPr>
              <p:cNvSpPr txBox="1"/>
              <p:nvPr/>
            </p:nvSpPr>
            <p:spPr>
              <a:xfrm>
                <a:off x="5447229" y="7624584"/>
                <a:ext cx="2437591" cy="3467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984" dirty="0">
                    <a:latin typeface="+mj-ea"/>
                    <a:ea typeface="+mj-ea"/>
                  </a:rPr>
                  <a:t>홈    </a:t>
                </a:r>
                <a:r>
                  <a:rPr lang="ko-KR" altLang="en-US" sz="984" dirty="0" err="1">
                    <a:latin typeface="+mj-ea"/>
                    <a:ea typeface="+mj-ea"/>
                  </a:rPr>
                  <a:t>제휴처</a:t>
                </a:r>
                <a:r>
                  <a:rPr lang="ko-KR" altLang="en-US" sz="984" dirty="0">
                    <a:latin typeface="+mj-ea"/>
                    <a:ea typeface="+mj-ea"/>
                  </a:rPr>
                  <a:t>    </a:t>
                </a:r>
                <a:r>
                  <a:rPr lang="en-US" altLang="ko-KR" sz="984" dirty="0">
                    <a:latin typeface="+mj-ea"/>
                    <a:ea typeface="+mj-ea"/>
                  </a:rPr>
                  <a:t> </a:t>
                </a:r>
                <a:r>
                  <a:rPr lang="ko-KR" altLang="en-US" sz="984" dirty="0">
                    <a:latin typeface="+mj-ea"/>
                    <a:ea typeface="+mj-ea"/>
                  </a:rPr>
                  <a:t>공지    </a:t>
                </a:r>
                <a:r>
                  <a:rPr lang="en-US" altLang="ko-KR" sz="984" dirty="0">
                    <a:latin typeface="+mj-ea"/>
                    <a:ea typeface="+mj-ea"/>
                  </a:rPr>
                  <a:t>MY</a:t>
                </a:r>
                <a:endParaRPr lang="ko-KR" altLang="en-US" sz="984" dirty="0">
                  <a:latin typeface="+mj-ea"/>
                  <a:ea typeface="+mj-ea"/>
                </a:endParaRPr>
              </a:p>
            </p:txBody>
          </p:sp>
          <p:sp>
            <p:nvSpPr>
              <p:cNvPr id="73" name="직사각형 72">
                <a:extLst>
                  <a:ext uri="{FF2B5EF4-FFF2-40B4-BE49-F238E27FC236}">
                    <a16:creationId xmlns:a16="http://schemas.microsoft.com/office/drawing/2014/main" id="{19CB7998-3ED9-D919-A8BC-A3862A64116D}"/>
                  </a:ext>
                </a:extLst>
              </p:cNvPr>
              <p:cNvSpPr/>
              <p:nvPr/>
            </p:nvSpPr>
            <p:spPr>
              <a:xfrm>
                <a:off x="5294984" y="7336154"/>
                <a:ext cx="3112417" cy="18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66"/>
              </a:p>
            </p:txBody>
          </p:sp>
          <p:sp>
            <p:nvSpPr>
              <p:cNvPr id="74" name="직사각형 73">
                <a:extLst>
                  <a:ext uri="{FF2B5EF4-FFF2-40B4-BE49-F238E27FC236}">
                    <a16:creationId xmlns:a16="http://schemas.microsoft.com/office/drawing/2014/main" id="{89B3769A-606B-22D9-9001-F839B11F240D}"/>
                  </a:ext>
                </a:extLst>
              </p:cNvPr>
              <p:cNvSpPr/>
              <p:nvPr/>
            </p:nvSpPr>
            <p:spPr>
              <a:xfrm>
                <a:off x="5289800" y="1600201"/>
                <a:ext cx="3117601" cy="6480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4294" tIns="32147" rIns="64294" bIns="3214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44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75" name="그룹 74">
                <a:extLst>
                  <a:ext uri="{FF2B5EF4-FFF2-40B4-BE49-F238E27FC236}">
                    <a16:creationId xmlns:a16="http://schemas.microsoft.com/office/drawing/2014/main" id="{D74AE1F4-7113-C0A8-A99E-6F39303AA071}"/>
                  </a:ext>
                </a:extLst>
              </p:cNvPr>
              <p:cNvGrpSpPr/>
              <p:nvPr/>
            </p:nvGrpSpPr>
            <p:grpSpPr>
              <a:xfrm>
                <a:off x="7951981" y="7649194"/>
                <a:ext cx="303019" cy="238058"/>
                <a:chOff x="-303020" y="2353942"/>
                <a:chExt cx="511175" cy="317878"/>
              </a:xfrm>
            </p:grpSpPr>
            <p:sp>
              <p:nvSpPr>
                <p:cNvPr id="76" name="직사각형 75">
                  <a:extLst>
                    <a:ext uri="{FF2B5EF4-FFF2-40B4-BE49-F238E27FC236}">
                      <a16:creationId xmlns:a16="http://schemas.microsoft.com/office/drawing/2014/main" id="{C60A2A03-A384-EA0C-E194-12FACFCCC38F}"/>
                    </a:ext>
                  </a:extLst>
                </p:cNvPr>
                <p:cNvSpPr/>
                <p:nvPr/>
              </p:nvSpPr>
              <p:spPr>
                <a:xfrm>
                  <a:off x="-299845" y="2353942"/>
                  <a:ext cx="508000" cy="72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266"/>
                </a:p>
              </p:txBody>
            </p:sp>
            <p:sp>
              <p:nvSpPr>
                <p:cNvPr id="77" name="직사각형 76">
                  <a:extLst>
                    <a:ext uri="{FF2B5EF4-FFF2-40B4-BE49-F238E27FC236}">
                      <a16:creationId xmlns:a16="http://schemas.microsoft.com/office/drawing/2014/main" id="{D2CD92E2-23A2-126E-69FB-ACC11C5FB7A4}"/>
                    </a:ext>
                  </a:extLst>
                </p:cNvPr>
                <p:cNvSpPr/>
                <p:nvPr/>
              </p:nvSpPr>
              <p:spPr>
                <a:xfrm>
                  <a:off x="-303020" y="2474471"/>
                  <a:ext cx="508000" cy="72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266"/>
                </a:p>
              </p:txBody>
            </p:sp>
            <p:sp>
              <p:nvSpPr>
                <p:cNvPr id="78" name="직사각형 77">
                  <a:extLst>
                    <a:ext uri="{FF2B5EF4-FFF2-40B4-BE49-F238E27FC236}">
                      <a16:creationId xmlns:a16="http://schemas.microsoft.com/office/drawing/2014/main" id="{21475751-38AD-9678-E015-5B11372F7B8E}"/>
                    </a:ext>
                  </a:extLst>
                </p:cNvPr>
                <p:cNvSpPr/>
                <p:nvPr/>
              </p:nvSpPr>
              <p:spPr>
                <a:xfrm>
                  <a:off x="-303020" y="2599820"/>
                  <a:ext cx="508000" cy="72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266"/>
                </a:p>
              </p:txBody>
            </p:sp>
          </p:grpSp>
        </p:grpSp>
        <p:pic>
          <p:nvPicPr>
            <p:cNvPr id="53" name="그림 52">
              <a:extLst>
                <a:ext uri="{FF2B5EF4-FFF2-40B4-BE49-F238E27FC236}">
                  <a16:creationId xmlns:a16="http://schemas.microsoft.com/office/drawing/2014/main" id="{B88599BB-AF9E-6D2D-D692-D1483C4D7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64763" y="1691931"/>
              <a:ext cx="2339790" cy="508810"/>
            </a:xfrm>
            <a:prstGeom prst="rect">
              <a:avLst/>
            </a:prstGeom>
          </p:spPr>
        </p:pic>
        <p:pic>
          <p:nvPicPr>
            <p:cNvPr id="54" name="그림 53">
              <a:extLst>
                <a:ext uri="{FF2B5EF4-FFF2-40B4-BE49-F238E27FC236}">
                  <a16:creationId xmlns:a16="http://schemas.microsoft.com/office/drawing/2014/main" id="{2A6A4EF6-CEA8-8821-74D1-960F5D6FDF3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770855" y="2275999"/>
              <a:ext cx="2338869" cy="1206378"/>
            </a:xfrm>
            <a:prstGeom prst="rect">
              <a:avLst/>
            </a:prstGeom>
          </p:spPr>
        </p:pic>
        <p:pic>
          <p:nvPicPr>
            <p:cNvPr id="55" name="그림 54">
              <a:extLst>
                <a:ext uri="{FF2B5EF4-FFF2-40B4-BE49-F238E27FC236}">
                  <a16:creationId xmlns:a16="http://schemas.microsoft.com/office/drawing/2014/main" id="{5463CA90-B2B6-7893-0382-DA5D5065B7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73304" y="6551582"/>
              <a:ext cx="2335175" cy="497120"/>
            </a:xfrm>
            <a:prstGeom prst="rect">
              <a:avLst/>
            </a:prstGeom>
          </p:spPr>
        </p:pic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5D492C20-79C2-F6D3-571C-480BDCC91C2B}"/>
                </a:ext>
              </a:extLst>
            </p:cNvPr>
            <p:cNvSpPr/>
            <p:nvPr/>
          </p:nvSpPr>
          <p:spPr>
            <a:xfrm>
              <a:off x="4750142" y="3504672"/>
              <a:ext cx="2374934" cy="40424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66"/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1E2BDC7F-1E8D-6509-7DBC-3903A9064F1C}"/>
                </a:ext>
              </a:extLst>
            </p:cNvPr>
            <p:cNvSpPr/>
            <p:nvPr/>
          </p:nvSpPr>
          <p:spPr>
            <a:xfrm>
              <a:off x="4755608" y="5707261"/>
              <a:ext cx="2374934" cy="15023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66"/>
            </a:p>
          </p:txBody>
        </p:sp>
        <p:pic>
          <p:nvPicPr>
            <p:cNvPr id="67" name="그림 66">
              <a:extLst>
                <a:ext uri="{FF2B5EF4-FFF2-40B4-BE49-F238E27FC236}">
                  <a16:creationId xmlns:a16="http://schemas.microsoft.com/office/drawing/2014/main" id="{6D44D185-57EB-5D64-CAFF-F8820DB6ADC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764670" y="3505201"/>
              <a:ext cx="2354075" cy="858614"/>
            </a:xfrm>
            <a:prstGeom prst="rect">
              <a:avLst/>
            </a:prstGeom>
          </p:spPr>
        </p:pic>
        <p:cxnSp>
          <p:nvCxnSpPr>
            <p:cNvPr id="82" name="직선 화살표 연결선 81">
              <a:extLst>
                <a:ext uri="{FF2B5EF4-FFF2-40B4-BE49-F238E27FC236}">
                  <a16:creationId xmlns:a16="http://schemas.microsoft.com/office/drawing/2014/main" id="{F58C5078-D88C-2313-C6E5-5A52D4A2F242}"/>
                </a:ext>
              </a:extLst>
            </p:cNvPr>
            <p:cNvCxnSpPr/>
            <p:nvPr/>
          </p:nvCxnSpPr>
          <p:spPr>
            <a:xfrm flipH="1">
              <a:off x="7171695" y="3482377"/>
              <a:ext cx="2376000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직선 화살표 연결선 84">
              <a:extLst>
                <a:ext uri="{FF2B5EF4-FFF2-40B4-BE49-F238E27FC236}">
                  <a16:creationId xmlns:a16="http://schemas.microsoft.com/office/drawing/2014/main" id="{99F0F446-0C98-9E63-555F-F2E2587C4131}"/>
                </a:ext>
              </a:extLst>
            </p:cNvPr>
            <p:cNvCxnSpPr/>
            <p:nvPr/>
          </p:nvCxnSpPr>
          <p:spPr>
            <a:xfrm flipH="1">
              <a:off x="7132084" y="5439815"/>
              <a:ext cx="2376000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직선 화살표 연결선 86">
              <a:extLst>
                <a:ext uri="{FF2B5EF4-FFF2-40B4-BE49-F238E27FC236}">
                  <a16:creationId xmlns:a16="http://schemas.microsoft.com/office/drawing/2014/main" id="{650D087B-3A81-5C85-75DF-BF4F958672C9}"/>
                </a:ext>
              </a:extLst>
            </p:cNvPr>
            <p:cNvCxnSpPr/>
            <p:nvPr/>
          </p:nvCxnSpPr>
          <p:spPr>
            <a:xfrm flipH="1">
              <a:off x="7132084" y="7048702"/>
              <a:ext cx="2376000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A16D3122-1C98-8562-DED5-F287A35CB6C2}"/>
                </a:ext>
              </a:extLst>
            </p:cNvPr>
            <p:cNvSpPr/>
            <p:nvPr/>
          </p:nvSpPr>
          <p:spPr>
            <a:xfrm>
              <a:off x="2063750" y="3429000"/>
              <a:ext cx="2305050" cy="9345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/>
                <a:t>나의 실천 정보</a:t>
              </a:r>
              <a:endParaRPr lang="en-US" altLang="ko-KR" sz="1200" dirty="0"/>
            </a:p>
            <a:p>
              <a:pPr algn="l"/>
              <a:endParaRPr lang="en-US" altLang="ko-KR" sz="1200" dirty="0"/>
            </a:p>
            <a:p>
              <a:pPr algn="l"/>
              <a:r>
                <a:rPr lang="ko-KR" altLang="en-US" sz="1200" dirty="0"/>
                <a:t>실천 건수                          건</a:t>
              </a:r>
              <a:endParaRPr lang="en-US" altLang="ko-KR" sz="1200" dirty="0"/>
            </a:p>
            <a:p>
              <a:pPr algn="l"/>
              <a:r>
                <a:rPr lang="ko-KR" altLang="en-US" sz="1200" dirty="0"/>
                <a:t>랭킹 순위                           위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A0C5B9E-27B8-960E-0515-2C03D166FF95}"/>
                </a:ext>
              </a:extLst>
            </p:cNvPr>
            <p:cNvSpPr/>
            <p:nvPr/>
          </p:nvSpPr>
          <p:spPr>
            <a:xfrm>
              <a:off x="2139950" y="5562600"/>
              <a:ext cx="2305050" cy="9345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/>
                <a:t>이벤트                                  </a:t>
              </a:r>
              <a:r>
                <a:rPr lang="ko-KR" altLang="en-US" sz="1200" dirty="0" err="1"/>
                <a:t>더보기</a:t>
              </a:r>
              <a:endParaRPr lang="en-US" altLang="ko-KR" sz="1200" dirty="0"/>
            </a:p>
            <a:p>
              <a:pPr algn="l"/>
              <a:endParaRPr lang="en-US" altLang="ko-KR" sz="1200" dirty="0"/>
            </a:p>
            <a:p>
              <a:pPr algn="l"/>
              <a:endParaRPr lang="en-US" altLang="ko-KR" sz="1200" dirty="0"/>
            </a:p>
            <a:p>
              <a:pPr algn="l"/>
              <a:r>
                <a:rPr lang="ko-KR" altLang="en-US" sz="1200" dirty="0" err="1"/>
                <a:t>이베트</a:t>
              </a:r>
              <a:r>
                <a:rPr lang="ko-KR" altLang="en-US" sz="1200" dirty="0"/>
                <a:t> 리스트 </a:t>
              </a:r>
              <a:r>
                <a:rPr lang="en-US" altLang="ko-KR" sz="1200" dirty="0"/>
                <a:t>2</a:t>
              </a:r>
              <a:r>
                <a:rPr lang="ko-KR" altLang="en-US" sz="1200" dirty="0"/>
                <a:t>건</a:t>
              </a:r>
              <a:endParaRPr lang="en-US" altLang="ko-KR" sz="1200" dirty="0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57EF816-3FA3-FEC5-F9B2-7ABF820B79F5}"/>
                </a:ext>
              </a:extLst>
            </p:cNvPr>
            <p:cNvSpPr/>
            <p:nvPr/>
          </p:nvSpPr>
          <p:spPr>
            <a:xfrm>
              <a:off x="2063750" y="6629400"/>
              <a:ext cx="2305050" cy="35225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800" dirty="0"/>
                <a:t>홈      탄소활동    </a:t>
              </a:r>
              <a:r>
                <a:rPr lang="en-US" altLang="ko-KR" sz="800" dirty="0"/>
                <a:t>QR</a:t>
              </a:r>
              <a:r>
                <a:rPr lang="ko-KR" altLang="en-US" sz="800" dirty="0"/>
                <a:t>이미지      뉴스     마이페이지</a:t>
              </a:r>
              <a:endParaRPr lang="en-US" altLang="ko-KR" sz="800" dirty="0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849842AD-18B7-849D-B240-64138EA96753}"/>
                </a:ext>
              </a:extLst>
            </p:cNvPr>
            <p:cNvSpPr/>
            <p:nvPr/>
          </p:nvSpPr>
          <p:spPr>
            <a:xfrm>
              <a:off x="4826000" y="6629400"/>
              <a:ext cx="2305050" cy="35225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800" dirty="0"/>
                <a:t>홈      탄소활동    </a:t>
              </a:r>
              <a:r>
                <a:rPr lang="en-US" altLang="ko-KR" sz="800" dirty="0"/>
                <a:t>QR</a:t>
              </a:r>
              <a:r>
                <a:rPr lang="ko-KR" altLang="en-US" sz="800" dirty="0"/>
                <a:t>이미지      뉴스     마이페이지</a:t>
              </a:r>
              <a:endParaRPr lang="en-US" altLang="ko-KR" sz="800" dirty="0"/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410FCBE2-BAC9-9F1E-0763-26EB48B61B38}"/>
                </a:ext>
              </a:extLst>
            </p:cNvPr>
            <p:cNvSpPr/>
            <p:nvPr/>
          </p:nvSpPr>
          <p:spPr>
            <a:xfrm>
              <a:off x="4789809" y="2209800"/>
              <a:ext cx="2305050" cy="119688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/>
                <a:t>홍보                              </a:t>
              </a:r>
              <a:r>
                <a:rPr lang="ko-KR" altLang="en-US" sz="1200" dirty="0" err="1"/>
                <a:t>더보기</a:t>
              </a:r>
              <a:endParaRPr lang="en-US" altLang="ko-KR" sz="1200" dirty="0"/>
            </a:p>
            <a:p>
              <a:pPr algn="l"/>
              <a:endParaRPr lang="en-US" altLang="ko-KR" sz="1200" dirty="0"/>
            </a:p>
            <a:p>
              <a:pPr algn="l"/>
              <a:endParaRPr lang="en-US" altLang="ko-KR" sz="1200" dirty="0"/>
            </a:p>
            <a:p>
              <a:pPr algn="l"/>
              <a:endParaRPr lang="en-US" altLang="ko-KR" sz="1200" dirty="0"/>
            </a:p>
            <a:p>
              <a:pPr algn="l"/>
              <a:endParaRPr lang="en-US" altLang="ko-KR" sz="1200" dirty="0"/>
            </a:p>
            <a:p>
              <a:pPr algn="l"/>
              <a:r>
                <a:rPr lang="ko-KR" altLang="en-US" sz="1200" dirty="0"/>
                <a:t>시정 홍보 기사 리스트 </a:t>
              </a:r>
              <a:r>
                <a:rPr lang="en-US" altLang="ko-KR" sz="1200" dirty="0"/>
                <a:t>2</a:t>
              </a:r>
              <a:r>
                <a:rPr lang="ko-KR" altLang="en-US" sz="1200" dirty="0"/>
                <a:t>건</a:t>
              </a:r>
              <a:endParaRPr lang="en-US" altLang="ko-KR" sz="1200" dirty="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22E046C7-2670-F81E-17DA-78B1C8C11BB2}"/>
                </a:ext>
              </a:extLst>
            </p:cNvPr>
            <p:cNvSpPr txBox="1"/>
            <p:nvPr/>
          </p:nvSpPr>
          <p:spPr>
            <a:xfrm>
              <a:off x="7188200" y="2895600"/>
              <a:ext cx="1882247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상단 이미지 </a:t>
              </a:r>
              <a:r>
                <a:rPr lang="en-US" altLang="ko-KR" sz="1400" dirty="0"/>
                <a:t>(1 ~ 3</a:t>
              </a:r>
              <a:r>
                <a:rPr lang="ko-KR" altLang="en-US" sz="1400" dirty="0"/>
                <a:t>개</a:t>
              </a:r>
              <a:r>
                <a:rPr lang="en-US" altLang="ko-KR" sz="1400" dirty="0"/>
                <a:t>)</a:t>
              </a:r>
            </a:p>
            <a:p>
              <a:r>
                <a:rPr lang="en-US" altLang="ko-KR" sz="1400" dirty="0"/>
                <a:t>+ </a:t>
              </a:r>
              <a:r>
                <a:rPr lang="ko-KR" altLang="en-US" sz="1400" dirty="0"/>
                <a:t>제목</a:t>
              </a:r>
              <a:endParaRPr lang="en-US" altLang="ko-KR" sz="1400" dirty="0"/>
            </a:p>
          </p:txBody>
        </p:sp>
        <p:pic>
          <p:nvPicPr>
            <p:cNvPr id="90" name="그림 89">
              <a:extLst>
                <a:ext uri="{FF2B5EF4-FFF2-40B4-BE49-F238E27FC236}">
                  <a16:creationId xmlns:a16="http://schemas.microsoft.com/office/drawing/2014/main" id="{3F4C4A87-3092-4F13-94E8-AEC11D53151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180575" y="1608080"/>
              <a:ext cx="2338819" cy="845962"/>
            </a:xfrm>
            <a:prstGeom prst="rect">
              <a:avLst/>
            </a:prstGeom>
          </p:spPr>
        </p:pic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533904DD-5E56-94CB-4277-845C444F179D}"/>
                </a:ext>
              </a:extLst>
            </p:cNvPr>
            <p:cNvSpPr/>
            <p:nvPr/>
          </p:nvSpPr>
          <p:spPr>
            <a:xfrm>
              <a:off x="4749800" y="4419600"/>
              <a:ext cx="2305050" cy="94346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/>
                <a:t>시정뉴스                    </a:t>
              </a:r>
              <a:r>
                <a:rPr lang="ko-KR" altLang="en-US" sz="1200" dirty="0" err="1"/>
                <a:t>더보기</a:t>
              </a:r>
              <a:endParaRPr lang="en-US" altLang="ko-KR" sz="1200" dirty="0"/>
            </a:p>
            <a:p>
              <a:pPr algn="l"/>
              <a:endParaRPr lang="en-US" altLang="ko-KR" sz="1200" dirty="0"/>
            </a:p>
            <a:p>
              <a:pPr algn="l"/>
              <a:endParaRPr lang="en-US" altLang="ko-KR" sz="1200" dirty="0"/>
            </a:p>
            <a:p>
              <a:pPr algn="l"/>
              <a:r>
                <a:rPr lang="ko-KR" altLang="en-US" sz="1200" dirty="0"/>
                <a:t>뉴스 리스트 </a:t>
              </a:r>
              <a:r>
                <a:rPr lang="en-US" altLang="ko-KR" sz="1200" dirty="0"/>
                <a:t>2</a:t>
              </a:r>
              <a:r>
                <a:rPr lang="ko-KR" altLang="en-US" sz="1200" dirty="0"/>
                <a:t>건</a:t>
              </a:r>
              <a:endParaRPr lang="en-US" altLang="ko-KR" sz="1200" dirty="0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3F400BC-9282-4B40-CDB2-B9EE1C246613}"/>
                </a:ext>
              </a:extLst>
            </p:cNvPr>
            <p:cNvSpPr txBox="1"/>
            <p:nvPr/>
          </p:nvSpPr>
          <p:spPr>
            <a:xfrm>
              <a:off x="2775527" y="1981200"/>
              <a:ext cx="831273" cy="230832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900" dirty="0"/>
                <a:t>인천광역시</a:t>
              </a:r>
            </a:p>
          </p:txBody>
        </p:sp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5842B585-0B3F-C970-09D1-3168F1509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188200" y="4390806"/>
              <a:ext cx="2338819" cy="845962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433B0C3D-5077-4B34-2876-1CF72F71D7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188200" y="5636348"/>
              <a:ext cx="2323571" cy="719451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EA8E83B-A625-7A98-3025-97C6C17C8999}"/>
                </a:ext>
              </a:extLst>
            </p:cNvPr>
            <p:cNvSpPr/>
            <p:nvPr/>
          </p:nvSpPr>
          <p:spPr>
            <a:xfrm>
              <a:off x="4749800" y="5432514"/>
              <a:ext cx="2305050" cy="10746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/>
                <a:t>시정활동 영상                    </a:t>
              </a:r>
              <a:r>
                <a:rPr lang="ko-KR" altLang="en-US" sz="1200" dirty="0" err="1"/>
                <a:t>더보기</a:t>
              </a:r>
              <a:endParaRPr lang="en-US" altLang="ko-KR" sz="1200" dirty="0"/>
            </a:p>
            <a:p>
              <a:pPr algn="l"/>
              <a:endParaRPr lang="en-US" altLang="ko-KR" sz="1200" dirty="0"/>
            </a:p>
            <a:p>
              <a:pPr algn="l"/>
              <a:endParaRPr lang="en-US" altLang="ko-KR" sz="1200" dirty="0"/>
            </a:p>
            <a:p>
              <a:pPr algn="l"/>
              <a:r>
                <a:rPr lang="ko-KR" altLang="en-US" sz="1200" dirty="0"/>
                <a:t>영상 리스트 </a:t>
              </a:r>
              <a:r>
                <a:rPr lang="en-US" altLang="ko-KR" sz="1200" dirty="0"/>
                <a:t>2</a:t>
              </a:r>
              <a:r>
                <a:rPr lang="ko-KR" altLang="en-US" sz="1200" dirty="0"/>
                <a:t>건</a:t>
              </a:r>
              <a:endParaRPr lang="en-US" altLang="ko-KR" sz="12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3E83C4D-9F52-72CB-366C-AF1DAB09C4DB}"/>
                </a:ext>
              </a:extLst>
            </p:cNvPr>
            <p:cNvSpPr txBox="1"/>
            <p:nvPr/>
          </p:nvSpPr>
          <p:spPr>
            <a:xfrm>
              <a:off x="5518727" y="1981200"/>
              <a:ext cx="831273" cy="230832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900" dirty="0"/>
                <a:t>인천광역시</a:t>
              </a: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40BB3D95-9B71-9E78-9154-EE0E6A270C29}"/>
              </a:ext>
            </a:extLst>
          </p:cNvPr>
          <p:cNvSpPr txBox="1"/>
          <p:nvPr/>
        </p:nvSpPr>
        <p:spPr>
          <a:xfrm>
            <a:off x="966222" y="6233401"/>
            <a:ext cx="2566831" cy="1061829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50" dirty="0" smtClean="0"/>
              <a:t>지구를 지키는 </a:t>
            </a:r>
            <a:r>
              <a:rPr lang="ko-KR" altLang="en-US" sz="1050" dirty="0"/>
              <a:t>나</a:t>
            </a:r>
            <a:r>
              <a:rPr lang="ko-KR" altLang="en-US" sz="1050" dirty="0" smtClean="0"/>
              <a:t>의 작은 실천</a:t>
            </a:r>
            <a:r>
              <a:rPr lang="en-US" altLang="ko-KR" sz="1050" dirty="0" smtClean="0"/>
              <a:t>!</a:t>
            </a:r>
          </a:p>
          <a:p>
            <a:endParaRPr lang="en-US" altLang="ko-KR" sz="1050" dirty="0" smtClean="0"/>
          </a:p>
          <a:p>
            <a:r>
              <a:rPr lang="ko-KR" altLang="en-US" sz="1050" dirty="0" smtClean="0"/>
              <a:t>텀블러 사용의 일상화로 탄소 절감 </a:t>
            </a:r>
            <a:endParaRPr lang="en-US" altLang="ko-KR" sz="1050" dirty="0" smtClean="0"/>
          </a:p>
          <a:p>
            <a:r>
              <a:rPr lang="ko-KR" altLang="en-US" sz="1050" dirty="0" smtClean="0"/>
              <a:t>운동의 작은 실천을 통해 위기의 </a:t>
            </a:r>
            <a:endParaRPr lang="en-US" altLang="ko-KR" sz="1050" dirty="0" smtClean="0"/>
          </a:p>
          <a:p>
            <a:r>
              <a:rPr lang="ko-KR" altLang="en-US" sz="1050" dirty="0" smtClean="0"/>
              <a:t>지구를 우리 함께 지킵시다</a:t>
            </a:r>
            <a:r>
              <a:rPr lang="en-US" altLang="ko-KR" sz="1050" dirty="0" smtClean="0"/>
              <a:t>.</a:t>
            </a:r>
            <a:r>
              <a:rPr lang="ko-KR" altLang="en-US" sz="1050" dirty="0" smtClean="0"/>
              <a:t> </a:t>
            </a:r>
            <a:endParaRPr lang="en-US" altLang="ko-KR" sz="1050" dirty="0" smtClean="0"/>
          </a:p>
          <a:p>
            <a:endParaRPr lang="en-US" altLang="ko-KR" sz="1050" dirty="0" smtClean="0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3F5B8578-F7EA-4E53-BF3C-3F5ECF68FF2A}"/>
              </a:ext>
            </a:extLst>
          </p:cNvPr>
          <p:cNvSpPr/>
          <p:nvPr/>
        </p:nvSpPr>
        <p:spPr>
          <a:xfrm>
            <a:off x="1533172" y="3329400"/>
            <a:ext cx="1332000" cy="2520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294" tIns="32147" rIns="64294" bIns="321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</a:rPr>
              <a:t>메인 화면</a:t>
            </a:r>
            <a:r>
              <a:rPr lang="en-US" altLang="ko-KR" sz="1100" b="1" dirty="0">
                <a:solidFill>
                  <a:srgbClr val="FF0000"/>
                </a:solidFill>
              </a:rPr>
              <a:t>1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3F5B8578-F7EA-4E53-BF3C-3F5ECF68FF2A}"/>
              </a:ext>
            </a:extLst>
          </p:cNvPr>
          <p:cNvSpPr/>
          <p:nvPr/>
        </p:nvSpPr>
        <p:spPr>
          <a:xfrm>
            <a:off x="1543283" y="5879450"/>
            <a:ext cx="1260000" cy="2520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294" tIns="32147" rIns="64294" bIns="321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</a:rPr>
              <a:t>메인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화면</a:t>
            </a:r>
            <a:r>
              <a:rPr lang="en-US" altLang="ko-KR" sz="1100" b="1" dirty="0">
                <a:solidFill>
                  <a:srgbClr val="FF0000"/>
                </a:solidFill>
              </a:rPr>
              <a:t>2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3F5B8578-F7EA-4E53-BF3C-3F5ECF68FF2A}"/>
              </a:ext>
            </a:extLst>
          </p:cNvPr>
          <p:cNvSpPr/>
          <p:nvPr/>
        </p:nvSpPr>
        <p:spPr>
          <a:xfrm>
            <a:off x="1533172" y="8538324"/>
            <a:ext cx="1260000" cy="2520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294" tIns="32147" rIns="64294" bIns="321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</a:rPr>
              <a:t>메인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화면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3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cxnSp>
        <p:nvCxnSpPr>
          <p:cNvPr id="91" name="직선 화살표 연결선 90"/>
          <p:cNvCxnSpPr/>
          <p:nvPr/>
        </p:nvCxnSpPr>
        <p:spPr>
          <a:xfrm flipH="1">
            <a:off x="3683000" y="2895600"/>
            <a:ext cx="540000" cy="0"/>
          </a:xfrm>
          <a:prstGeom prst="straightConnector1">
            <a:avLst/>
          </a:prstGeom>
          <a:ln w="63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055E6F8D-E112-806A-0F8A-1261676F511B}"/>
              </a:ext>
            </a:extLst>
          </p:cNvPr>
          <p:cNvCxnSpPr/>
          <p:nvPr/>
        </p:nvCxnSpPr>
        <p:spPr>
          <a:xfrm rot="5400000" flipH="1">
            <a:off x="479000" y="4880401"/>
            <a:ext cx="6408000" cy="0"/>
          </a:xfrm>
          <a:prstGeom prst="straightConnector1">
            <a:avLst/>
          </a:prstGeom>
          <a:ln w="63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055E6F8D-E112-806A-0F8A-1261676F511B}"/>
              </a:ext>
            </a:extLst>
          </p:cNvPr>
          <p:cNvCxnSpPr/>
          <p:nvPr/>
        </p:nvCxnSpPr>
        <p:spPr>
          <a:xfrm flipH="1">
            <a:off x="3555901" y="1676400"/>
            <a:ext cx="144000" cy="0"/>
          </a:xfrm>
          <a:prstGeom prst="straightConnector1">
            <a:avLst/>
          </a:prstGeom>
          <a:ln w="63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055E6F8D-E112-806A-0F8A-1261676F511B}"/>
              </a:ext>
            </a:extLst>
          </p:cNvPr>
          <p:cNvCxnSpPr/>
          <p:nvPr/>
        </p:nvCxnSpPr>
        <p:spPr>
          <a:xfrm flipH="1">
            <a:off x="3530600" y="8077200"/>
            <a:ext cx="144000" cy="0"/>
          </a:xfrm>
          <a:prstGeom prst="straightConnector1">
            <a:avLst/>
          </a:prstGeom>
          <a:ln w="63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990802" y="1143000"/>
            <a:ext cx="2565099" cy="97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50" dirty="0" smtClean="0"/>
              <a:t>Net Zero 2050 </a:t>
            </a:r>
            <a:r>
              <a:rPr lang="ko-KR" altLang="en-US" sz="1050" dirty="0" smtClean="0"/>
              <a:t>선언과</a:t>
            </a:r>
            <a:r>
              <a:rPr lang="en-US" altLang="ko-KR" sz="1050" dirty="0" smtClean="0"/>
              <a:t> </a:t>
            </a:r>
          </a:p>
          <a:p>
            <a:r>
              <a:rPr lang="ko-KR" altLang="en-US" sz="1050" dirty="0" smtClean="0"/>
              <a:t>탄소중립 실천 운동에</a:t>
            </a:r>
            <a:endParaRPr lang="en-US" altLang="ko-KR" sz="1050" dirty="0" smtClean="0"/>
          </a:p>
          <a:p>
            <a:endParaRPr lang="en-US" altLang="ko-KR" sz="1050" dirty="0"/>
          </a:p>
          <a:p>
            <a:r>
              <a:rPr lang="ko-KR" altLang="en-US" sz="1050" dirty="0" smtClean="0"/>
              <a:t>올바른 원산지표시실천협회와</a:t>
            </a:r>
            <a:endParaRPr lang="en-US" altLang="ko-KR" sz="1050" dirty="0" smtClean="0"/>
          </a:p>
          <a:p>
            <a:r>
              <a:rPr lang="ko-KR" altLang="en-US" sz="1050" dirty="0" smtClean="0"/>
              <a:t>협회 가맹점은 탄소 뱅크와 함께</a:t>
            </a:r>
            <a:r>
              <a:rPr lang="en-US" altLang="ko-KR" sz="1050" dirty="0"/>
              <a:t> </a:t>
            </a:r>
            <a:r>
              <a:rPr lang="ko-KR" altLang="en-US" sz="1050" dirty="0" smtClean="0"/>
              <a:t>합니다</a:t>
            </a:r>
            <a:r>
              <a:rPr lang="en-US" altLang="ko-KR" sz="1050" dirty="0" smtClean="0"/>
              <a:t>.</a:t>
            </a:r>
          </a:p>
          <a:p>
            <a:r>
              <a:rPr lang="ko-KR" altLang="en-US" sz="1050" dirty="0" smtClean="0"/>
              <a:t>  </a:t>
            </a:r>
            <a:endParaRPr lang="en-US" altLang="ko-KR" sz="1050" dirty="0" smtClean="0"/>
          </a:p>
          <a:p>
            <a:endParaRPr lang="en-US" altLang="ko-KR" sz="1050" dirty="0" smtClean="0"/>
          </a:p>
        </p:txBody>
      </p:sp>
      <p:sp>
        <p:nvSpPr>
          <p:cNvPr id="98" name="TextBox 97"/>
          <p:cNvSpPr txBox="1"/>
          <p:nvPr/>
        </p:nvSpPr>
        <p:spPr>
          <a:xfrm>
            <a:off x="979199" y="2217271"/>
            <a:ext cx="2578926" cy="1061829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50" dirty="0" smtClean="0"/>
              <a:t>Net Zero 2050</a:t>
            </a:r>
            <a:r>
              <a:rPr lang="ko-KR" altLang="en-US" sz="1050" dirty="0" smtClean="0"/>
              <a:t>은 미래 생존을 위한 </a:t>
            </a:r>
            <a:endParaRPr lang="en-US" altLang="ko-KR" sz="1050" dirty="0" smtClean="0"/>
          </a:p>
          <a:p>
            <a:r>
              <a:rPr lang="ko-KR" altLang="en-US" sz="1050" dirty="0" smtClean="0"/>
              <a:t>세계 인류가 실천할 마지막 기회를</a:t>
            </a:r>
            <a:r>
              <a:rPr lang="en-US" altLang="ko-KR" sz="1050" dirty="0" smtClean="0"/>
              <a:t>...</a:t>
            </a:r>
          </a:p>
          <a:p>
            <a:endParaRPr lang="en-US" altLang="ko-KR" sz="1050" dirty="0"/>
          </a:p>
          <a:p>
            <a:r>
              <a:rPr lang="ko-KR" altLang="en-US" sz="1050" dirty="0" smtClean="0"/>
              <a:t>올바른 원산지표시실천협회와</a:t>
            </a:r>
            <a:endParaRPr lang="en-US" altLang="ko-KR" sz="1050" dirty="0" smtClean="0"/>
          </a:p>
          <a:p>
            <a:r>
              <a:rPr lang="ko-KR" altLang="en-US" sz="1050" dirty="0" smtClean="0"/>
              <a:t>협회 가맹점</a:t>
            </a:r>
            <a:r>
              <a:rPr lang="en-US" altLang="ko-KR" sz="1050" dirty="0" smtClean="0"/>
              <a:t>&amp;</a:t>
            </a:r>
            <a:r>
              <a:rPr lang="ko-KR" altLang="en-US" sz="1050" dirty="0" smtClean="0"/>
              <a:t> 탄소 뱅크와 함께</a:t>
            </a:r>
            <a:endParaRPr lang="en-US" altLang="ko-KR" sz="1050" dirty="0" smtClean="0"/>
          </a:p>
          <a:p>
            <a:r>
              <a:rPr lang="ko-KR" altLang="en-US" sz="1050" dirty="0" smtClean="0"/>
              <a:t>환경 운동에 진심을 다 하겠습니다</a:t>
            </a:r>
            <a:r>
              <a:rPr lang="en-US" altLang="ko-KR" sz="1050" dirty="0" smtClean="0"/>
              <a:t>.</a:t>
            </a:r>
            <a:r>
              <a:rPr lang="ko-KR" altLang="en-US" sz="1050" dirty="0" smtClean="0"/>
              <a:t> </a:t>
            </a:r>
            <a:endParaRPr lang="en-US" altLang="ko-KR" sz="1050" dirty="0" smtClean="0"/>
          </a:p>
        </p:txBody>
      </p:sp>
      <p:sp>
        <p:nvSpPr>
          <p:cNvPr id="100" name="TextBox 99"/>
          <p:cNvSpPr txBox="1"/>
          <p:nvPr/>
        </p:nvSpPr>
        <p:spPr>
          <a:xfrm>
            <a:off x="963833" y="4828890"/>
            <a:ext cx="2569221" cy="1061829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50" dirty="0" smtClean="0"/>
              <a:t>환경 뉴스 구독은  녹색 실천</a:t>
            </a:r>
            <a:endParaRPr lang="en-US" altLang="ko-KR" sz="1050" dirty="0" smtClean="0"/>
          </a:p>
          <a:p>
            <a:r>
              <a:rPr lang="ko-KR" altLang="en-US" sz="1050" dirty="0" smtClean="0"/>
              <a:t>활동의 새로운 운동 입니다</a:t>
            </a:r>
            <a:r>
              <a:rPr lang="en-US" altLang="ko-KR" sz="1050" dirty="0" smtClean="0"/>
              <a:t>.</a:t>
            </a:r>
          </a:p>
          <a:p>
            <a:endParaRPr lang="en-US" altLang="ko-KR" sz="1050" dirty="0" smtClean="0"/>
          </a:p>
          <a:p>
            <a:r>
              <a:rPr lang="ko-KR" altLang="en-US" sz="10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생활 속</a:t>
            </a:r>
            <a:r>
              <a:rPr lang="en-US" altLang="ko-KR" sz="10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050" dirty="0" smtClean="0"/>
              <a:t>Co2 </a:t>
            </a:r>
            <a:r>
              <a:rPr lang="ko-KR" altLang="en-US" sz="1050" dirty="0" smtClean="0"/>
              <a:t>줄이기 실천 과 습관은</a:t>
            </a:r>
            <a:endParaRPr lang="en-US" altLang="ko-KR" sz="1050" dirty="0" smtClean="0"/>
          </a:p>
          <a:p>
            <a:r>
              <a:rPr lang="ko-KR" altLang="en-US" sz="1050" dirty="0" smtClean="0"/>
              <a:t>지구 온도 </a:t>
            </a:r>
            <a:r>
              <a:rPr lang="en-US" altLang="ko-KR" sz="1050" dirty="0" smtClean="0"/>
              <a:t>1.5</a:t>
            </a:r>
            <a:r>
              <a:rPr lang="en-US" altLang="ko-KR" sz="10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℃</a:t>
            </a:r>
            <a:r>
              <a:rPr lang="ko-KR" altLang="en-US" sz="10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이하 유지를 위해 </a:t>
            </a:r>
            <a:endParaRPr lang="en-US" altLang="ko-KR" sz="105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050" dirty="0" smtClean="0"/>
              <a:t>우리 곁에 환경 뉴스가 동행 합니다</a:t>
            </a:r>
            <a:r>
              <a:rPr lang="en-US" altLang="ko-KR" sz="1050" dirty="0" smtClean="0"/>
              <a:t>.</a:t>
            </a:r>
            <a:r>
              <a:rPr lang="ko-KR" altLang="en-US" sz="1050" dirty="0" smtClean="0"/>
              <a:t> </a:t>
            </a:r>
            <a:endParaRPr lang="ko-KR" altLang="en-US" sz="1050" dirty="0"/>
          </a:p>
        </p:txBody>
      </p:sp>
      <p:sp>
        <p:nvSpPr>
          <p:cNvPr id="81" name="TextBox 80"/>
          <p:cNvSpPr txBox="1"/>
          <p:nvPr/>
        </p:nvSpPr>
        <p:spPr>
          <a:xfrm>
            <a:off x="971419" y="3581400"/>
            <a:ext cx="2561635" cy="1061829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50" dirty="0" smtClean="0"/>
              <a:t>오늘도</a:t>
            </a:r>
            <a:r>
              <a:rPr lang="en-US" altLang="ko-KR" sz="1050" dirty="0" smtClean="0"/>
              <a:t>, </a:t>
            </a:r>
          </a:p>
          <a:p>
            <a:r>
              <a:rPr lang="ko-KR" altLang="en-US" sz="1050" dirty="0"/>
              <a:t>나</a:t>
            </a:r>
            <a:r>
              <a:rPr lang="ko-KR" altLang="en-US" sz="1050" dirty="0" smtClean="0"/>
              <a:t>는 환경 뉴스와 동행 합니다</a:t>
            </a:r>
            <a:r>
              <a:rPr lang="en-US" altLang="ko-KR" sz="1050" dirty="0" smtClean="0"/>
              <a:t>.</a:t>
            </a:r>
          </a:p>
          <a:p>
            <a:endParaRPr lang="en-US" altLang="ko-KR" sz="1050" dirty="0" smtClean="0"/>
          </a:p>
          <a:p>
            <a:r>
              <a:rPr lang="ko-KR" altLang="en-US" sz="1050" dirty="0" smtClean="0"/>
              <a:t>지구 온도 </a:t>
            </a:r>
            <a:r>
              <a:rPr lang="en-US" altLang="ko-KR" sz="1050" dirty="0" smtClean="0"/>
              <a:t>1.5</a:t>
            </a:r>
            <a:r>
              <a:rPr lang="en-US" altLang="ko-KR" sz="10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℃</a:t>
            </a:r>
            <a:r>
              <a:rPr lang="ko-KR" altLang="en-US" sz="10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이하 유지를 위해 생활 속</a:t>
            </a:r>
            <a:r>
              <a:rPr lang="en-US" altLang="ko-KR" sz="10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050" dirty="0" smtClean="0"/>
              <a:t>Co2 </a:t>
            </a:r>
            <a:r>
              <a:rPr lang="ko-KR" altLang="en-US" sz="1050" dirty="0" smtClean="0"/>
              <a:t>줄이기 습관은 새로운 녹색 실천 환경 운동 입니다</a:t>
            </a:r>
            <a:r>
              <a:rPr lang="en-US" altLang="ko-KR" sz="1050" dirty="0" smtClean="0"/>
              <a:t>.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0BB3D95-9B71-9E78-9154-EE0E6A270C29}"/>
              </a:ext>
            </a:extLst>
          </p:cNvPr>
          <p:cNvSpPr txBox="1"/>
          <p:nvPr/>
        </p:nvSpPr>
        <p:spPr>
          <a:xfrm>
            <a:off x="967591" y="7423841"/>
            <a:ext cx="2565461" cy="1061829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50" dirty="0" smtClean="0"/>
              <a:t>지구를 지키는 </a:t>
            </a:r>
            <a:r>
              <a:rPr lang="ko-KR" altLang="en-US" sz="1050" dirty="0"/>
              <a:t>나</a:t>
            </a:r>
            <a:r>
              <a:rPr lang="ko-KR" altLang="en-US" sz="1050" dirty="0" smtClean="0"/>
              <a:t>의 작은 실천</a:t>
            </a:r>
            <a:r>
              <a:rPr lang="en-US" altLang="ko-KR" sz="1050" dirty="0" smtClean="0"/>
              <a:t>!</a:t>
            </a:r>
          </a:p>
          <a:p>
            <a:endParaRPr lang="en-US" altLang="ko-KR" sz="1050" dirty="0" smtClean="0"/>
          </a:p>
          <a:p>
            <a:r>
              <a:rPr lang="ko-KR" altLang="en-US" sz="1050" dirty="0" smtClean="0"/>
              <a:t>텀블러 사용의 일상화로 탄소 절감 </a:t>
            </a:r>
            <a:endParaRPr lang="en-US" altLang="ko-KR" sz="1050" dirty="0" smtClean="0"/>
          </a:p>
          <a:p>
            <a:r>
              <a:rPr lang="ko-KR" altLang="en-US" sz="1050" dirty="0" smtClean="0"/>
              <a:t>운동의 작은 실천을 통해 위기의 </a:t>
            </a:r>
            <a:endParaRPr lang="en-US" altLang="ko-KR" sz="1050" dirty="0" smtClean="0"/>
          </a:p>
          <a:p>
            <a:r>
              <a:rPr lang="ko-KR" altLang="en-US" sz="1050" dirty="0" smtClean="0"/>
              <a:t>지구를 우리 함께 지킵시다</a:t>
            </a:r>
            <a:r>
              <a:rPr lang="en-US" altLang="ko-KR" sz="1050" dirty="0" smtClean="0"/>
              <a:t>.</a:t>
            </a:r>
            <a:r>
              <a:rPr lang="ko-KR" altLang="en-US" sz="1050" dirty="0" smtClean="0"/>
              <a:t> </a:t>
            </a:r>
            <a:endParaRPr lang="en-US" altLang="ko-KR" sz="1050" dirty="0" smtClean="0"/>
          </a:p>
          <a:p>
            <a:endParaRPr lang="en-US" altLang="ko-KR" sz="1050" dirty="0" smtClean="0"/>
          </a:p>
        </p:txBody>
      </p:sp>
    </p:spTree>
    <p:extLst>
      <p:ext uri="{BB962C8B-B14F-4D97-AF65-F5344CB8AC3E}">
        <p14:creationId xmlns:p14="http://schemas.microsoft.com/office/powerpoint/2010/main" val="1422626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5E59D-DC05-6232-8063-81A8D6ACC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D9D8B2-65AD-FBC3-9ADF-FF790999F79A}"/>
              </a:ext>
            </a:extLst>
          </p:cNvPr>
          <p:cNvSpPr txBox="1"/>
          <p:nvPr/>
        </p:nvSpPr>
        <p:spPr>
          <a:xfrm>
            <a:off x="787401" y="585889"/>
            <a:ext cx="2133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chemeClr val="bg1"/>
                </a:solidFill>
                <a:latin typeface="+mj-ea"/>
                <a:ea typeface="+mj-ea"/>
              </a:rPr>
              <a:t>메인</a:t>
            </a:r>
            <a:r>
              <a:rPr lang="en-US" altLang="ko-KR" b="1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b="1" dirty="0">
                <a:solidFill>
                  <a:schemeClr val="bg1"/>
                </a:solidFill>
                <a:latin typeface="+mj-ea"/>
                <a:ea typeface="+mj-ea"/>
              </a:rPr>
              <a:t>지자체화면</a:t>
            </a:r>
            <a:r>
              <a:rPr lang="en-US" altLang="ko-KR" b="1" dirty="0">
                <a:solidFill>
                  <a:schemeClr val="bg1"/>
                </a:solidFill>
                <a:latin typeface="+mj-ea"/>
                <a:ea typeface="+mj-ea"/>
              </a:rPr>
              <a:t>)</a:t>
            </a:r>
            <a:endParaRPr lang="ko-KR" altLang="en-US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1D9527B-23B9-14E0-43E9-C05A1BA3D4EC}"/>
              </a:ext>
            </a:extLst>
          </p:cNvPr>
          <p:cNvGrpSpPr/>
          <p:nvPr/>
        </p:nvGrpSpPr>
        <p:grpSpPr>
          <a:xfrm>
            <a:off x="1994873" y="1680000"/>
            <a:ext cx="2448000" cy="5940000"/>
            <a:chOff x="1235917" y="1123501"/>
            <a:chExt cx="2201348" cy="501139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3F5B8578-F7EA-4E53-BF3C-3F5ECF68FF2A}"/>
                </a:ext>
              </a:extLst>
            </p:cNvPr>
            <p:cNvSpPr/>
            <p:nvPr/>
          </p:nvSpPr>
          <p:spPr>
            <a:xfrm>
              <a:off x="1245202" y="5788547"/>
              <a:ext cx="2192063" cy="34634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E5E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4294" tIns="32147" rIns="64294" bIns="3214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100" b="1" dirty="0">
                  <a:solidFill>
                    <a:sysClr val="windowText" lastClr="000000"/>
                  </a:solidFill>
                </a:rPr>
                <a:t>메인 화면</a:t>
              </a:r>
              <a:r>
                <a:rPr lang="en-US" altLang="ko-KR" sz="1100" b="1" dirty="0">
                  <a:solidFill>
                    <a:sysClr val="windowText" lastClr="000000"/>
                  </a:solidFill>
                </a:rPr>
                <a:t>1</a:t>
              </a:r>
              <a:endParaRPr lang="ko-KR" altLang="en-US" sz="1100" b="1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A428FEC6-0431-B04D-FC29-DEAC995F9A7E}"/>
                </a:ext>
              </a:extLst>
            </p:cNvPr>
            <p:cNvSpPr/>
            <p:nvPr/>
          </p:nvSpPr>
          <p:spPr>
            <a:xfrm>
              <a:off x="1237329" y="5250657"/>
              <a:ext cx="2192063" cy="43073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66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8AC45EA-7AB5-70B6-DC6D-C6AB93BB51CC}"/>
                </a:ext>
              </a:extLst>
            </p:cNvPr>
            <p:cNvSpPr txBox="1"/>
            <p:nvPr/>
          </p:nvSpPr>
          <p:spPr>
            <a:xfrm>
              <a:off x="1348021" y="5361035"/>
              <a:ext cx="1713931" cy="2437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84" dirty="0">
                  <a:latin typeface="+mj-ea"/>
                  <a:ea typeface="+mj-ea"/>
                </a:rPr>
                <a:t>홈    </a:t>
              </a:r>
              <a:r>
                <a:rPr lang="ko-KR" altLang="en-US" sz="984" dirty="0" err="1">
                  <a:latin typeface="+mj-ea"/>
                  <a:ea typeface="+mj-ea"/>
                </a:rPr>
                <a:t>제휴처</a:t>
              </a:r>
              <a:r>
                <a:rPr lang="ko-KR" altLang="en-US" sz="984" dirty="0">
                  <a:latin typeface="+mj-ea"/>
                  <a:ea typeface="+mj-ea"/>
                </a:rPr>
                <a:t>    </a:t>
              </a:r>
              <a:r>
                <a:rPr lang="en-US" altLang="ko-KR" sz="984" dirty="0">
                  <a:latin typeface="+mj-ea"/>
                  <a:ea typeface="+mj-ea"/>
                </a:rPr>
                <a:t> </a:t>
              </a:r>
              <a:r>
                <a:rPr lang="ko-KR" altLang="en-US" sz="984" dirty="0">
                  <a:latin typeface="+mj-ea"/>
                  <a:ea typeface="+mj-ea"/>
                </a:rPr>
                <a:t>공지    </a:t>
              </a:r>
              <a:r>
                <a:rPr lang="en-US" altLang="ko-KR" sz="984" dirty="0">
                  <a:latin typeface="+mj-ea"/>
                  <a:ea typeface="+mj-ea"/>
                </a:rPr>
                <a:t>MY</a:t>
              </a:r>
              <a:endParaRPr lang="ko-KR" altLang="en-US" sz="984" dirty="0">
                <a:latin typeface="+mj-ea"/>
                <a:ea typeface="+mj-ea"/>
              </a:endParaRPr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E2F55DD0-03CB-BFC7-A156-1E3447EA99BE}"/>
                </a:ext>
              </a:extLst>
            </p:cNvPr>
            <p:cNvGrpSpPr/>
            <p:nvPr/>
          </p:nvGrpSpPr>
          <p:grpSpPr>
            <a:xfrm>
              <a:off x="3109175" y="5378339"/>
              <a:ext cx="213060" cy="167385"/>
              <a:chOff x="-303020" y="2353942"/>
              <a:chExt cx="511175" cy="317878"/>
            </a:xfrm>
          </p:grpSpPr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62472773-A94F-092C-0793-6D908CD25513}"/>
                  </a:ext>
                </a:extLst>
              </p:cNvPr>
              <p:cNvSpPr/>
              <p:nvPr/>
            </p:nvSpPr>
            <p:spPr>
              <a:xfrm>
                <a:off x="-299845" y="2353942"/>
                <a:ext cx="508000" cy="72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66"/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C8884382-2755-A3C6-5B57-CC5285D76D4E}"/>
                  </a:ext>
                </a:extLst>
              </p:cNvPr>
              <p:cNvSpPr/>
              <p:nvPr/>
            </p:nvSpPr>
            <p:spPr>
              <a:xfrm>
                <a:off x="-303020" y="2474471"/>
                <a:ext cx="508000" cy="72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66"/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BF570770-1367-154F-D139-92238C2D19A4}"/>
                  </a:ext>
                </a:extLst>
              </p:cNvPr>
              <p:cNvSpPr/>
              <p:nvPr/>
            </p:nvSpPr>
            <p:spPr>
              <a:xfrm>
                <a:off x="-303020" y="2599820"/>
                <a:ext cx="508000" cy="72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66"/>
              </a:p>
            </p:txBody>
          </p:sp>
        </p:grp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23227083-6B32-239A-7C60-DE28B44F044F}"/>
                </a:ext>
              </a:extLst>
            </p:cNvPr>
            <p:cNvSpPr/>
            <p:nvPr/>
          </p:nvSpPr>
          <p:spPr>
            <a:xfrm>
              <a:off x="1235917" y="1123501"/>
              <a:ext cx="2188123" cy="909772"/>
            </a:xfrm>
            <a:prstGeom prst="rect">
              <a:avLst/>
            </a:prstGeom>
            <a:solidFill>
              <a:srgbClr val="F1AF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66" dirty="0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2E7E5A62-9736-F121-3226-EE0B60B0C8F9}"/>
                </a:ext>
              </a:extLst>
            </p:cNvPr>
            <p:cNvSpPr/>
            <p:nvPr/>
          </p:nvSpPr>
          <p:spPr>
            <a:xfrm>
              <a:off x="1237329" y="1125141"/>
              <a:ext cx="2192063" cy="455625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4294" tIns="32147" rIns="64294" bIns="3214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844" b="1" dirty="0">
                <a:solidFill>
                  <a:schemeClr val="tx1"/>
                </a:solidFill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B6CED669-D338-3C9B-EEA6-C403C2AEC2A2}"/>
                </a:ext>
              </a:extLst>
            </p:cNvPr>
            <p:cNvGrpSpPr/>
            <p:nvPr/>
          </p:nvGrpSpPr>
          <p:grpSpPr>
            <a:xfrm>
              <a:off x="1327747" y="1203258"/>
              <a:ext cx="730746" cy="253126"/>
              <a:chOff x="5451973" y="1727860"/>
              <a:chExt cx="1039283" cy="360001"/>
            </a:xfrm>
            <a:solidFill>
              <a:schemeClr val="bg1"/>
            </a:solidFill>
          </p:grpSpPr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70020791-7941-3CDB-B79D-9869F861D0AB}"/>
                  </a:ext>
                </a:extLst>
              </p:cNvPr>
              <p:cNvSpPr/>
              <p:nvPr/>
            </p:nvSpPr>
            <p:spPr>
              <a:xfrm>
                <a:off x="5451973" y="1727861"/>
                <a:ext cx="229286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84" b="1" dirty="0">
                    <a:solidFill>
                      <a:schemeClr val="tx1"/>
                    </a:solidFill>
                  </a:rPr>
                  <a:t>인</a:t>
                </a:r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EDC389E1-C14F-54D4-85D9-05D7DE8987AE}"/>
                  </a:ext>
                </a:extLst>
              </p:cNvPr>
              <p:cNvSpPr/>
              <p:nvPr/>
            </p:nvSpPr>
            <p:spPr>
              <a:xfrm>
                <a:off x="5721972" y="1727860"/>
                <a:ext cx="229286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84" b="1" dirty="0">
                    <a:solidFill>
                      <a:schemeClr val="tx1"/>
                    </a:solidFill>
                  </a:rPr>
                  <a:t>천</a:t>
                </a:r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A17FB0FA-CAC0-8D42-3035-B8E7016175AB}"/>
                  </a:ext>
                </a:extLst>
              </p:cNvPr>
              <p:cNvSpPr/>
              <p:nvPr/>
            </p:nvSpPr>
            <p:spPr>
              <a:xfrm>
                <a:off x="5991971" y="1727860"/>
                <a:ext cx="229286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84" b="1" dirty="0">
                    <a:solidFill>
                      <a:schemeClr val="tx1"/>
                    </a:solidFill>
                  </a:rPr>
                  <a:t>광</a:t>
                </a:r>
              </a:p>
            </p:txBody>
          </p:sp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82B723B8-3717-2E88-020B-78E66BC706B5}"/>
                  </a:ext>
                </a:extLst>
              </p:cNvPr>
              <p:cNvSpPr/>
              <p:nvPr/>
            </p:nvSpPr>
            <p:spPr>
              <a:xfrm>
                <a:off x="6261970" y="1727860"/>
                <a:ext cx="229286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84" b="1">
                    <a:solidFill>
                      <a:schemeClr val="tx1"/>
                    </a:solidFill>
                  </a:rPr>
                  <a:t>역</a:t>
                </a:r>
                <a:endParaRPr lang="ko-KR" altLang="en-US" sz="984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AB7E986D-63AF-56F2-8CE1-B73D91FEF6F0}"/>
                </a:ext>
              </a:extLst>
            </p:cNvPr>
            <p:cNvSpPr/>
            <p:nvPr/>
          </p:nvSpPr>
          <p:spPr>
            <a:xfrm>
              <a:off x="1315245" y="5000953"/>
              <a:ext cx="2036229" cy="241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66" dirty="0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EDC875C2-F122-BD0A-95F2-0842F180A062}"/>
                </a:ext>
              </a:extLst>
            </p:cNvPr>
            <p:cNvSpPr/>
            <p:nvPr/>
          </p:nvSpPr>
          <p:spPr>
            <a:xfrm>
              <a:off x="2082000" y="1210000"/>
              <a:ext cx="161217" cy="2531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84" b="1" dirty="0">
                  <a:solidFill>
                    <a:schemeClr val="tx1"/>
                  </a:solidFill>
                </a:rPr>
                <a:t>시</a:t>
              </a:r>
            </a:p>
          </p:txBody>
        </p:sp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F63B368F-9058-EACE-91D9-57569384AF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72996" y="3513436"/>
              <a:ext cx="2101530" cy="703427"/>
            </a:xfrm>
            <a:prstGeom prst="rect">
              <a:avLst/>
            </a:prstGeom>
          </p:spPr>
        </p:pic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60B768CD-3398-29AE-C0BC-05E6927988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6827" y="2615130"/>
              <a:ext cx="2138448" cy="795393"/>
            </a:xfrm>
            <a:prstGeom prst="rect">
              <a:avLst/>
            </a:prstGeom>
          </p:spPr>
        </p:pic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33D3C20C-2941-A416-97E4-5A1C1E188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61806" y="1680791"/>
              <a:ext cx="2140415" cy="871428"/>
            </a:xfrm>
            <a:prstGeom prst="rect">
              <a:avLst/>
            </a:prstGeom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7D631536-47C3-E387-74F6-AFE4BC7FBB0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45202" y="1174472"/>
              <a:ext cx="2156034" cy="429127"/>
            </a:xfrm>
            <a:prstGeom prst="rect">
              <a:avLst/>
            </a:prstGeom>
          </p:spPr>
        </p:pic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37F3A863-A4D6-198F-09A9-B01BABDF620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53493" y="5262123"/>
              <a:ext cx="2151782" cy="419267"/>
            </a:xfrm>
            <a:prstGeom prst="rect">
              <a:avLst/>
            </a:prstGeom>
          </p:spPr>
        </p:pic>
        <p:sp>
          <p:nvSpPr>
            <p:cNvPr id="28" name="모서리가 둥근 직사각형 27">
              <a:extLst>
                <a:ext uri="{FF2B5EF4-FFF2-40B4-BE49-F238E27FC236}">
                  <a16:creationId xmlns:a16="http://schemas.microsoft.com/office/drawing/2014/main" id="{3CE9DD31-151D-4739-5987-DC53810B698D}"/>
                </a:ext>
              </a:extLst>
            </p:cNvPr>
            <p:cNvSpPr/>
            <p:nvPr/>
          </p:nvSpPr>
          <p:spPr>
            <a:xfrm>
              <a:off x="1290033" y="4390921"/>
              <a:ext cx="2088000" cy="72000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66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212C11A-933B-9FF2-F8AC-41613239B537}"/>
                </a:ext>
              </a:extLst>
            </p:cNvPr>
            <p:cNvSpPr txBox="1"/>
            <p:nvPr/>
          </p:nvSpPr>
          <p:spPr>
            <a:xfrm>
              <a:off x="1517590" y="4456294"/>
              <a:ext cx="1591585" cy="220712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100" dirty="0"/>
                <a:t>      이벤트 </a:t>
              </a:r>
              <a:r>
                <a:rPr lang="ko-KR" altLang="en-US" sz="1100" dirty="0" err="1"/>
                <a:t>한건</a:t>
              </a:r>
              <a:endParaRPr lang="en-US" altLang="ko-KR" sz="11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29BABB3-EFF2-D0E9-BBA5-9E6261C97610}"/>
                </a:ext>
              </a:extLst>
            </p:cNvPr>
            <p:cNvSpPr txBox="1"/>
            <p:nvPr/>
          </p:nvSpPr>
          <p:spPr>
            <a:xfrm>
              <a:off x="1530025" y="4785975"/>
              <a:ext cx="1591585" cy="26161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100" dirty="0"/>
                <a:t>     당첨자 관리</a:t>
              </a:r>
              <a:endParaRPr lang="en-US" altLang="ko-KR" sz="1100" dirty="0"/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A16D3122-1C98-8562-DED5-F287A35CB6C2}"/>
              </a:ext>
            </a:extLst>
          </p:cNvPr>
          <p:cNvSpPr/>
          <p:nvPr/>
        </p:nvSpPr>
        <p:spPr>
          <a:xfrm>
            <a:off x="2063750" y="3429000"/>
            <a:ext cx="2305050" cy="9345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/>
              <a:t>나의 실천 정보</a:t>
            </a:r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r>
              <a:rPr lang="ko-KR" altLang="en-US" sz="1200" dirty="0"/>
              <a:t>실천 건수                          건</a:t>
            </a:r>
            <a:endParaRPr lang="en-US" altLang="ko-KR" sz="1200" dirty="0"/>
          </a:p>
          <a:p>
            <a:pPr algn="l"/>
            <a:r>
              <a:rPr lang="ko-KR" altLang="en-US" sz="1200" dirty="0"/>
              <a:t>랭킹 순위                           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A0C5B9E-27B8-960E-0515-2C03D166FF95}"/>
              </a:ext>
            </a:extLst>
          </p:cNvPr>
          <p:cNvSpPr/>
          <p:nvPr/>
        </p:nvSpPr>
        <p:spPr>
          <a:xfrm>
            <a:off x="2139950" y="5562600"/>
            <a:ext cx="2305050" cy="9345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/>
              <a:t>이벤트                                  </a:t>
            </a:r>
            <a:r>
              <a:rPr lang="ko-KR" altLang="en-US" sz="1200" dirty="0" err="1"/>
              <a:t>더보기</a:t>
            </a:r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r>
              <a:rPr lang="ko-KR" altLang="en-US" sz="1200" dirty="0" err="1"/>
              <a:t>이베트</a:t>
            </a:r>
            <a:r>
              <a:rPr lang="ko-KR" altLang="en-US" sz="1200" dirty="0"/>
              <a:t> 리스트 </a:t>
            </a:r>
            <a:r>
              <a:rPr lang="en-US" altLang="ko-KR" sz="1200" dirty="0"/>
              <a:t>2</a:t>
            </a:r>
            <a:r>
              <a:rPr lang="ko-KR" altLang="en-US" sz="1200" dirty="0"/>
              <a:t>건</a:t>
            </a:r>
            <a:endParaRPr lang="en-US" altLang="ko-KR" sz="12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57EF816-3FA3-FEC5-F9B2-7ABF820B79F5}"/>
              </a:ext>
            </a:extLst>
          </p:cNvPr>
          <p:cNvSpPr/>
          <p:nvPr/>
        </p:nvSpPr>
        <p:spPr>
          <a:xfrm>
            <a:off x="2063750" y="6629400"/>
            <a:ext cx="2305050" cy="3522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800" dirty="0"/>
              <a:t>홈      탄소활동    </a:t>
            </a:r>
            <a:r>
              <a:rPr lang="en-US" altLang="ko-KR" sz="800" dirty="0"/>
              <a:t>QR</a:t>
            </a:r>
            <a:r>
              <a:rPr lang="ko-KR" altLang="en-US" sz="800" dirty="0"/>
              <a:t>이미지      뉴스     마이페이지</a:t>
            </a:r>
            <a:endParaRPr lang="en-US" altLang="ko-KR" sz="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F400BC-9282-4B40-CDB2-B9EE1C246613}"/>
              </a:ext>
            </a:extLst>
          </p:cNvPr>
          <p:cNvSpPr txBox="1"/>
          <p:nvPr/>
        </p:nvSpPr>
        <p:spPr>
          <a:xfrm>
            <a:off x="2775527" y="1981200"/>
            <a:ext cx="831273" cy="23083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인천광역시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A5E9A255-9459-29A6-7297-C5C26FCC3532}"/>
              </a:ext>
            </a:extLst>
          </p:cNvPr>
          <p:cNvSpPr/>
          <p:nvPr/>
        </p:nvSpPr>
        <p:spPr>
          <a:xfrm>
            <a:off x="4749800" y="2338745"/>
            <a:ext cx="2520000" cy="11968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sz="1200" dirty="0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A5E9A255-9459-29A6-7297-C5C26FCC3532}"/>
              </a:ext>
            </a:extLst>
          </p:cNvPr>
          <p:cNvSpPr/>
          <p:nvPr/>
        </p:nvSpPr>
        <p:spPr>
          <a:xfrm>
            <a:off x="7493000" y="2338745"/>
            <a:ext cx="2305050" cy="11968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sz="1200" dirty="0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A5E9A255-9459-29A6-7297-C5C26FCC3532}"/>
              </a:ext>
            </a:extLst>
          </p:cNvPr>
          <p:cNvSpPr/>
          <p:nvPr/>
        </p:nvSpPr>
        <p:spPr>
          <a:xfrm>
            <a:off x="10236200" y="2338745"/>
            <a:ext cx="2305050" cy="11968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sz="1200" dirty="0"/>
          </a:p>
        </p:txBody>
      </p:sp>
      <p:sp>
        <p:nvSpPr>
          <p:cNvPr id="81" name="직사각형 80"/>
          <p:cNvSpPr/>
          <p:nvPr/>
        </p:nvSpPr>
        <p:spPr>
          <a:xfrm>
            <a:off x="4749800" y="3922629"/>
            <a:ext cx="2305050" cy="410658"/>
          </a:xfrm>
          <a:prstGeom prst="rect">
            <a:avLst/>
          </a:prstGeom>
          <a:solidFill>
            <a:schemeClr val="bg1"/>
          </a:solidFill>
          <a:ln w="127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294" tIns="32147" rIns="64294" bIns="321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b="1" dirty="0">
                <a:solidFill>
                  <a:sysClr val="windowText" lastClr="000000"/>
                </a:solidFill>
              </a:rPr>
              <a:t>메인 </a:t>
            </a:r>
            <a:r>
              <a:rPr lang="ko-KR" altLang="en-US" sz="1100" b="1" dirty="0" smtClean="0">
                <a:solidFill>
                  <a:sysClr val="windowText" lastClr="000000"/>
                </a:solidFill>
              </a:rPr>
              <a:t>화면</a:t>
            </a:r>
            <a:r>
              <a:rPr lang="en-US" altLang="ko-KR" sz="1100" b="1" dirty="0" smtClean="0">
                <a:solidFill>
                  <a:sysClr val="windowText" lastClr="000000"/>
                </a:solidFill>
              </a:rPr>
              <a:t>1 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7493000" y="3922629"/>
            <a:ext cx="2305050" cy="410658"/>
          </a:xfrm>
          <a:prstGeom prst="rect">
            <a:avLst/>
          </a:prstGeom>
          <a:solidFill>
            <a:schemeClr val="bg1"/>
          </a:solidFill>
          <a:ln w="127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294" tIns="32147" rIns="64294" bIns="321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b="1" dirty="0">
                <a:solidFill>
                  <a:sysClr val="windowText" lastClr="000000"/>
                </a:solidFill>
              </a:rPr>
              <a:t>메인 </a:t>
            </a:r>
            <a:r>
              <a:rPr lang="ko-KR" altLang="en-US" sz="1100" b="1" dirty="0" smtClean="0">
                <a:solidFill>
                  <a:sysClr val="windowText" lastClr="000000"/>
                </a:solidFill>
              </a:rPr>
              <a:t>화면</a:t>
            </a:r>
            <a:r>
              <a:rPr lang="en-US" altLang="ko-KR" sz="1100" b="1" dirty="0">
                <a:solidFill>
                  <a:sysClr val="windowText" lastClr="000000"/>
                </a:solidFill>
              </a:rPr>
              <a:t>2</a:t>
            </a:r>
            <a:r>
              <a:rPr lang="en-US" altLang="ko-KR" sz="1100" b="1" dirty="0" smtClean="0">
                <a:solidFill>
                  <a:sysClr val="windowText" lastClr="000000"/>
                </a:solidFill>
              </a:rPr>
              <a:t> 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10236200" y="3922629"/>
            <a:ext cx="2305050" cy="410658"/>
          </a:xfrm>
          <a:prstGeom prst="rect">
            <a:avLst/>
          </a:prstGeom>
          <a:solidFill>
            <a:schemeClr val="bg1"/>
          </a:solidFill>
          <a:ln w="127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294" tIns="32147" rIns="64294" bIns="321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b="1" dirty="0">
                <a:solidFill>
                  <a:sysClr val="windowText" lastClr="000000"/>
                </a:solidFill>
              </a:rPr>
              <a:t>메인 </a:t>
            </a:r>
            <a:r>
              <a:rPr lang="ko-KR" altLang="en-US" sz="1100" b="1" dirty="0" smtClean="0">
                <a:solidFill>
                  <a:sysClr val="windowText" lastClr="000000"/>
                </a:solidFill>
              </a:rPr>
              <a:t>화면</a:t>
            </a:r>
            <a:r>
              <a:rPr lang="en-US" altLang="ko-KR" sz="1100" b="1" dirty="0" smtClean="0">
                <a:solidFill>
                  <a:sysClr val="windowText" lastClr="000000"/>
                </a:solidFill>
              </a:rPr>
              <a:t>3 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EB34A42-0CC6-BE45-094B-46FE623805E3}"/>
              </a:ext>
            </a:extLst>
          </p:cNvPr>
          <p:cNvSpPr txBox="1"/>
          <p:nvPr/>
        </p:nvSpPr>
        <p:spPr>
          <a:xfrm>
            <a:off x="4749800" y="4639270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포털 사이트에서</a:t>
            </a:r>
            <a:endParaRPr lang="en-US" altLang="ko-KR" dirty="0" smtClean="0"/>
          </a:p>
          <a:p>
            <a:r>
              <a:rPr lang="ko-KR" altLang="en-US" dirty="0" smtClean="0"/>
              <a:t>인천 </a:t>
            </a:r>
            <a:r>
              <a:rPr lang="ko-KR" altLang="en-US" dirty="0"/>
              <a:t>광역시 </a:t>
            </a:r>
            <a:r>
              <a:rPr lang="en-US" altLang="ko-KR" dirty="0"/>
              <a:t>(</a:t>
            </a:r>
            <a:r>
              <a:rPr lang="ko-KR" altLang="en-US" dirty="0"/>
              <a:t>각 지자체</a:t>
            </a:r>
            <a:r>
              <a:rPr lang="en-US" altLang="ko-KR" dirty="0"/>
              <a:t>)  </a:t>
            </a:r>
            <a:r>
              <a:rPr lang="ko-KR" altLang="en-US" dirty="0" smtClean="0"/>
              <a:t>와  환경으로 </a:t>
            </a:r>
            <a:r>
              <a:rPr lang="ko-KR" altLang="en-US" dirty="0"/>
              <a:t>검색 하면 </a:t>
            </a:r>
            <a:endParaRPr lang="en-US" altLang="ko-KR" dirty="0"/>
          </a:p>
          <a:p>
            <a:r>
              <a:rPr lang="ko-KR" altLang="en-US" dirty="0"/>
              <a:t>해당 지자체의 환경 관련 뉴스가 나옵니다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4776592" y="2457000"/>
            <a:ext cx="2520000" cy="97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50" dirty="0" smtClean="0"/>
              <a:t>청정 해양도시 인천 광역시는</a:t>
            </a:r>
            <a:endParaRPr lang="en-US" altLang="ko-KR" sz="1050" dirty="0" smtClean="0"/>
          </a:p>
          <a:p>
            <a:endParaRPr lang="en-US" altLang="ko-KR" sz="1050" dirty="0"/>
          </a:p>
          <a:p>
            <a:r>
              <a:rPr lang="en-US" altLang="ko-KR" sz="1050" dirty="0" smtClean="0"/>
              <a:t>Net Zero 2050</a:t>
            </a:r>
            <a:r>
              <a:rPr lang="ko-KR" altLang="en-US" sz="1050" dirty="0" smtClean="0"/>
              <a:t>과 탄소 중립 실천 운동을</a:t>
            </a:r>
            <a:endParaRPr lang="en-US" altLang="ko-KR" sz="1050" dirty="0" smtClean="0"/>
          </a:p>
          <a:p>
            <a:r>
              <a:rPr lang="ko-KR" altLang="en-US" sz="1050" dirty="0" smtClean="0"/>
              <a:t>선도하며</a:t>
            </a:r>
            <a:r>
              <a:rPr lang="en-US" altLang="ko-KR" sz="1050" dirty="0" smtClean="0"/>
              <a:t>,</a:t>
            </a:r>
            <a:r>
              <a:rPr lang="ko-KR" altLang="en-US" sz="1050" dirty="0" smtClean="0"/>
              <a:t> 미래 생존을 위한 세계 인류가 행동할 마지막 실천 기회입니다</a:t>
            </a:r>
            <a:r>
              <a:rPr lang="en-US" altLang="ko-KR" sz="1050" dirty="0" smtClean="0"/>
              <a:t>.</a:t>
            </a:r>
            <a:r>
              <a:rPr lang="ko-KR" altLang="en-US" sz="1050" dirty="0" smtClean="0"/>
              <a:t>  </a:t>
            </a:r>
            <a:endParaRPr lang="en-US" altLang="ko-KR" sz="1050" dirty="0" smtClean="0"/>
          </a:p>
          <a:p>
            <a:endParaRPr lang="en-US" altLang="ko-KR" sz="1050" dirty="0" smtClean="0"/>
          </a:p>
          <a:p>
            <a:endParaRPr lang="en-US" altLang="ko-KR" sz="1050" dirty="0" smtClean="0"/>
          </a:p>
          <a:p>
            <a:endParaRPr lang="en-US" altLang="ko-KR" sz="1050" dirty="0" smtClean="0"/>
          </a:p>
        </p:txBody>
      </p:sp>
      <p:sp>
        <p:nvSpPr>
          <p:cNvPr id="45" name="TextBox 44"/>
          <p:cNvSpPr txBox="1"/>
          <p:nvPr/>
        </p:nvSpPr>
        <p:spPr>
          <a:xfrm>
            <a:off x="7454900" y="2454235"/>
            <a:ext cx="2520000" cy="1061829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50" dirty="0" smtClean="0"/>
              <a:t>탄소중립 녹색 실천 운동을 선도하는 인천 광역시는</a:t>
            </a:r>
            <a:endParaRPr lang="en-US" altLang="ko-KR" sz="1050" dirty="0" smtClean="0"/>
          </a:p>
          <a:p>
            <a:endParaRPr lang="en-US" altLang="ko-KR" sz="1050" dirty="0"/>
          </a:p>
          <a:p>
            <a:r>
              <a:rPr lang="ko-KR" altLang="en-US" sz="1050" dirty="0" smtClean="0"/>
              <a:t>국가 온실가스 감축 목표와 운동은</a:t>
            </a:r>
            <a:endParaRPr lang="en-US" altLang="ko-KR" sz="1050" dirty="0" smtClean="0"/>
          </a:p>
          <a:p>
            <a:r>
              <a:rPr lang="ko-KR" altLang="en-US" sz="1050" dirty="0" smtClean="0"/>
              <a:t>정의로운 전환을 지향 합니다</a:t>
            </a:r>
            <a:r>
              <a:rPr lang="en-US" altLang="ko-KR" sz="1050" dirty="0" smtClean="0"/>
              <a:t>..</a:t>
            </a:r>
            <a:r>
              <a:rPr lang="ko-KR" altLang="en-US" sz="1050" dirty="0" smtClean="0"/>
              <a:t>  </a:t>
            </a:r>
            <a:endParaRPr lang="en-US" altLang="ko-KR" sz="1050" dirty="0" smtClean="0"/>
          </a:p>
          <a:p>
            <a:endParaRPr lang="en-US" altLang="ko-KR" sz="1050" dirty="0" smtClean="0"/>
          </a:p>
        </p:txBody>
      </p:sp>
      <p:sp>
        <p:nvSpPr>
          <p:cNvPr id="46" name="TextBox 45"/>
          <p:cNvSpPr txBox="1"/>
          <p:nvPr/>
        </p:nvSpPr>
        <p:spPr>
          <a:xfrm>
            <a:off x="10128725" y="1275625"/>
            <a:ext cx="2520000" cy="9002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50" dirty="0" smtClean="0"/>
              <a:t>탄소중립 녹색 실천 운동을 선도하는 인천 광역시는</a:t>
            </a:r>
            <a:endParaRPr lang="en-US" altLang="ko-KR" sz="1050" dirty="0" smtClean="0"/>
          </a:p>
          <a:p>
            <a:endParaRPr lang="en-US" altLang="ko-KR" sz="1050" dirty="0"/>
          </a:p>
          <a:p>
            <a:r>
              <a:rPr lang="ko-KR" altLang="en-US" sz="1050" dirty="0" smtClean="0"/>
              <a:t>파리 기후 협정의  </a:t>
            </a:r>
            <a:endParaRPr lang="en-US" altLang="ko-KR" sz="1050" dirty="0" smtClean="0"/>
          </a:p>
          <a:p>
            <a:endParaRPr lang="en-US" altLang="ko-KR" sz="1050" dirty="0" smtClean="0"/>
          </a:p>
        </p:txBody>
      </p:sp>
    </p:spTree>
    <p:extLst>
      <p:ext uri="{BB962C8B-B14F-4D97-AF65-F5344CB8AC3E}">
        <p14:creationId xmlns:p14="http://schemas.microsoft.com/office/powerpoint/2010/main" val="3912396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4458D4-2BA3-170E-E1B0-A6DAAC021BC4}"/>
              </a:ext>
            </a:extLst>
          </p:cNvPr>
          <p:cNvSpPr txBox="1"/>
          <p:nvPr/>
        </p:nvSpPr>
        <p:spPr>
          <a:xfrm>
            <a:off x="787401" y="585889"/>
            <a:ext cx="2133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 err="1">
                <a:solidFill>
                  <a:schemeClr val="bg1"/>
                </a:solidFill>
                <a:latin typeface="+mj-ea"/>
                <a:ea typeface="+mj-ea"/>
              </a:rPr>
              <a:t>더보기</a:t>
            </a:r>
            <a:endParaRPr lang="ko-KR" altLang="en-US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F6075A-06B3-8263-8671-F3B8C2729ACD}"/>
              </a:ext>
            </a:extLst>
          </p:cNvPr>
          <p:cNvSpPr txBox="1"/>
          <p:nvPr/>
        </p:nvSpPr>
        <p:spPr>
          <a:xfrm>
            <a:off x="1854200" y="1600200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기본 </a:t>
            </a:r>
            <a:r>
              <a:rPr lang="ko-KR" altLang="en-US" dirty="0" err="1"/>
              <a:t>더보기</a:t>
            </a:r>
            <a:r>
              <a:rPr lang="ko-KR" altLang="en-US" dirty="0"/>
              <a:t> 화면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69B1395-B78E-C6E6-3358-E5C6572E0116}"/>
              </a:ext>
            </a:extLst>
          </p:cNvPr>
          <p:cNvSpPr/>
          <p:nvPr/>
        </p:nvSpPr>
        <p:spPr>
          <a:xfrm>
            <a:off x="1854200" y="2286000"/>
            <a:ext cx="2305050" cy="457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/>
              <a:t>                제목</a:t>
            </a:r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r>
              <a:rPr lang="ko-KR" altLang="en-US" sz="1200" dirty="0"/>
              <a:t>리스트 </a:t>
            </a:r>
            <a:r>
              <a:rPr lang="en-US" altLang="ko-KR" sz="1200" dirty="0"/>
              <a:t>10</a:t>
            </a:r>
            <a:r>
              <a:rPr lang="ko-KR" altLang="en-US" sz="1200" dirty="0"/>
              <a:t>건</a:t>
            </a:r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r>
              <a:rPr lang="ko-KR" altLang="en-US" sz="1200" dirty="0"/>
              <a:t>상하 스크롤 기능</a:t>
            </a:r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A94D54-1F2D-A7DC-5CCE-0FB427CDA9D7}"/>
              </a:ext>
            </a:extLst>
          </p:cNvPr>
          <p:cNvSpPr txBox="1"/>
          <p:nvPr/>
        </p:nvSpPr>
        <p:spPr>
          <a:xfrm>
            <a:off x="4502150" y="1600200"/>
            <a:ext cx="2223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기본 기사 상세 화면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D741E5B-E667-A2AC-B554-97B6FF32A32C}"/>
              </a:ext>
            </a:extLst>
          </p:cNvPr>
          <p:cNvSpPr/>
          <p:nvPr/>
        </p:nvSpPr>
        <p:spPr>
          <a:xfrm>
            <a:off x="4502150" y="2286000"/>
            <a:ext cx="2305050" cy="457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/>
              <a:t>                제목</a:t>
            </a:r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r>
              <a:rPr lang="ko-KR" altLang="en-US" sz="1200" dirty="0"/>
              <a:t>기사내용</a:t>
            </a:r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  <a:p>
            <a:pPr algn="l"/>
            <a:endParaRPr lang="en-US" altLang="ko-KR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59700E-A555-16A5-6352-47CD4B92FE47}"/>
              </a:ext>
            </a:extLst>
          </p:cNvPr>
          <p:cNvSpPr txBox="1"/>
          <p:nvPr/>
        </p:nvSpPr>
        <p:spPr>
          <a:xfrm>
            <a:off x="4521200" y="6383595"/>
            <a:ext cx="2448000" cy="4744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추천해요    좋아요  슬퍼요   화나요</a:t>
            </a:r>
            <a:endParaRPr lang="en-US" altLang="ko-KR" sz="1000" dirty="0"/>
          </a:p>
          <a:p>
            <a:r>
              <a:rPr lang="en-US" altLang="ko-KR" sz="1000" dirty="0"/>
              <a:t>  100          300        7          2</a:t>
            </a:r>
            <a:r>
              <a:rPr lang="ko-KR" altLang="en-US" sz="1000" dirty="0"/>
              <a:t> 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AB30E4A-791C-9841-A9B8-96659990A344}"/>
              </a:ext>
            </a:extLst>
          </p:cNvPr>
          <p:cNvGrpSpPr/>
          <p:nvPr/>
        </p:nvGrpSpPr>
        <p:grpSpPr>
          <a:xfrm>
            <a:off x="8666600" y="1969532"/>
            <a:ext cx="2484000" cy="3446194"/>
            <a:chOff x="5051748" y="1443697"/>
            <a:chExt cx="2484000" cy="3446194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8369351-BD7D-31BE-1DC1-A0968DB14C23}"/>
                </a:ext>
              </a:extLst>
            </p:cNvPr>
            <p:cNvSpPr/>
            <p:nvPr/>
          </p:nvSpPr>
          <p:spPr>
            <a:xfrm>
              <a:off x="5051748" y="1443697"/>
              <a:ext cx="2484000" cy="396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E5E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399" b="1" dirty="0">
                  <a:solidFill>
                    <a:sysClr val="windowText" lastClr="000000"/>
                  </a:solidFill>
                </a:rPr>
                <a:t>뉴 스</a:t>
              </a:r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75BBE42B-9BD2-6E28-41A4-CA9B90EC02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51748" y="2057401"/>
              <a:ext cx="2484000" cy="28324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63441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39218-06C3-CCE7-C897-BFF962A5F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38C99CAA-03EB-8B65-64D1-79FAE88FFFF5}"/>
              </a:ext>
            </a:extLst>
          </p:cNvPr>
          <p:cNvGrpSpPr/>
          <p:nvPr/>
        </p:nvGrpSpPr>
        <p:grpSpPr>
          <a:xfrm>
            <a:off x="787401" y="585889"/>
            <a:ext cx="9296400" cy="492315"/>
            <a:chOff x="787400" y="585887"/>
            <a:chExt cx="9296400" cy="49231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FE0D708-A483-7677-53E6-67780746A91D}"/>
                </a:ext>
              </a:extLst>
            </p:cNvPr>
            <p:cNvSpPr txBox="1"/>
            <p:nvPr/>
          </p:nvSpPr>
          <p:spPr>
            <a:xfrm>
              <a:off x="787400" y="585887"/>
              <a:ext cx="2133599" cy="369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탄소 활동</a:t>
              </a:r>
              <a:r>
                <a:rPr lang="en-US" altLang="ko-KR" b="1" dirty="0">
                  <a:solidFill>
                    <a:schemeClr val="bg1"/>
                  </a:solidFill>
                  <a:latin typeface="+mj-ea"/>
                  <a:ea typeface="+mj-ea"/>
                </a:rPr>
                <a:t>(</a:t>
              </a:r>
              <a:r>
                <a:rPr lang="ko-KR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회원</a:t>
              </a:r>
              <a:r>
                <a:rPr lang="en-US" altLang="ko-KR" b="1" dirty="0">
                  <a:solidFill>
                    <a:schemeClr val="bg1"/>
                  </a:solidFill>
                  <a:latin typeface="+mj-ea"/>
                  <a:ea typeface="+mj-ea"/>
                </a:rPr>
                <a:t>)</a:t>
              </a:r>
              <a:endParaRPr lang="ko-KR" altLang="en-US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1D0A417-A0E7-61D1-396B-ABF6E4A81AFF}"/>
                </a:ext>
              </a:extLst>
            </p:cNvPr>
            <p:cNvSpPr txBox="1"/>
            <p:nvPr/>
          </p:nvSpPr>
          <p:spPr>
            <a:xfrm>
              <a:off x="3073400" y="770553"/>
              <a:ext cx="7010400" cy="3076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spc="-165" dirty="0">
                  <a:latin typeface="Malgun Gothic"/>
                </a:rPr>
                <a:t>회원</a:t>
              </a:r>
              <a:r>
                <a:rPr lang="en-US" altLang="ko-KR" sz="1400" spc="-165" dirty="0">
                  <a:latin typeface="Malgun Gothic"/>
                </a:rPr>
                <a:t>APP- </a:t>
              </a:r>
              <a:r>
                <a:rPr lang="ko-KR" altLang="en-US" sz="1400" spc="-165" dirty="0">
                  <a:latin typeface="Malgun Gothic"/>
                </a:rPr>
                <a:t>바닥 메뉴 </a:t>
              </a:r>
              <a:r>
                <a:rPr lang="en-US" altLang="ko-KR" sz="1400" spc="-165" dirty="0">
                  <a:latin typeface="Malgun Gothic"/>
                </a:rPr>
                <a:t>( </a:t>
              </a:r>
              <a:r>
                <a:rPr lang="ko-KR" altLang="en-US" sz="1400" spc="-165" dirty="0">
                  <a:latin typeface="Malgun Gothic"/>
                </a:rPr>
                <a:t>탄소 기능 </a:t>
              </a:r>
              <a:r>
                <a:rPr lang="en-US" altLang="ko-KR" sz="1400" spc="-165" dirty="0">
                  <a:latin typeface="Malgun Gothic"/>
                </a:rPr>
                <a:t>)</a:t>
              </a:r>
              <a:endParaRPr lang="ko-KR" altLang="en-US" sz="1400" dirty="0"/>
            </a:p>
          </p:txBody>
        </p:sp>
      </p:grpSp>
      <p:pic>
        <p:nvPicPr>
          <p:cNvPr id="19" name="그림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00" y="1371600"/>
            <a:ext cx="3124200" cy="6705600"/>
          </a:xfrm>
          <a:prstGeom prst="rect">
            <a:avLst/>
          </a:prstGeom>
        </p:spPr>
      </p:pic>
      <p:cxnSp>
        <p:nvCxnSpPr>
          <p:cNvPr id="134" name="직선 화살표 연결선 133"/>
          <p:cNvCxnSpPr/>
          <p:nvPr/>
        </p:nvCxnSpPr>
        <p:spPr>
          <a:xfrm flipH="1">
            <a:off x="3932600" y="4343400"/>
            <a:ext cx="360000" cy="0"/>
          </a:xfrm>
          <a:prstGeom prst="straightConnector1">
            <a:avLst/>
          </a:prstGeom>
          <a:ln w="63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화살표 연결선 134"/>
          <p:cNvCxnSpPr/>
          <p:nvPr/>
        </p:nvCxnSpPr>
        <p:spPr>
          <a:xfrm flipH="1">
            <a:off x="3723200" y="6172200"/>
            <a:ext cx="2160000" cy="0"/>
          </a:xfrm>
          <a:prstGeom prst="straightConnector1">
            <a:avLst/>
          </a:prstGeom>
          <a:ln w="63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512F6D31-FA59-44CB-519C-49EDCA65445E}"/>
              </a:ext>
            </a:extLst>
          </p:cNvPr>
          <p:cNvSpPr/>
          <p:nvPr/>
        </p:nvSpPr>
        <p:spPr>
          <a:xfrm>
            <a:off x="1168400" y="7343942"/>
            <a:ext cx="2882378" cy="3522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800" dirty="0"/>
              <a:t>홈      탄소활동    </a:t>
            </a:r>
            <a:r>
              <a:rPr lang="en-US" altLang="ko-KR" sz="800" dirty="0"/>
              <a:t>QR</a:t>
            </a:r>
            <a:r>
              <a:rPr lang="ko-KR" altLang="en-US" sz="800" dirty="0"/>
              <a:t>이미지      뉴스            마이페이지</a:t>
            </a:r>
            <a:endParaRPr lang="en-US" altLang="ko-KR" sz="8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B55A157-D88A-22FA-14AC-027E7E00F142}"/>
              </a:ext>
            </a:extLst>
          </p:cNvPr>
          <p:cNvSpPr/>
          <p:nvPr/>
        </p:nvSpPr>
        <p:spPr>
          <a:xfrm>
            <a:off x="939800" y="1676400"/>
            <a:ext cx="2305050" cy="3522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000" dirty="0"/>
              <a:t>일반회원  가맹점회원</a:t>
            </a:r>
            <a:endParaRPr lang="en-US" altLang="ko-KR" sz="10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96CC38A-90FF-022B-C88E-C3783B35C1A0}"/>
              </a:ext>
            </a:extLst>
          </p:cNvPr>
          <p:cNvSpPr/>
          <p:nvPr/>
        </p:nvSpPr>
        <p:spPr>
          <a:xfrm>
            <a:off x="1320800" y="3877448"/>
            <a:ext cx="914400" cy="9993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000" dirty="0"/>
              <a:t>실천건수</a:t>
            </a:r>
            <a:endParaRPr lang="en-US" altLang="ko-KR" sz="1000" dirty="0"/>
          </a:p>
          <a:p>
            <a:pPr algn="l"/>
            <a:r>
              <a:rPr lang="en-US" altLang="ko-KR" sz="1000" dirty="0"/>
              <a:t>        10 </a:t>
            </a:r>
            <a:r>
              <a:rPr lang="ko-KR" altLang="en-US" sz="1000" dirty="0"/>
              <a:t>건</a:t>
            </a:r>
            <a:endParaRPr lang="en-US" altLang="ko-KR" sz="1000" dirty="0"/>
          </a:p>
          <a:p>
            <a:pPr algn="l"/>
            <a:endParaRPr lang="en-US" altLang="ko-KR" sz="1000" dirty="0"/>
          </a:p>
          <a:p>
            <a:pPr algn="l"/>
            <a:r>
              <a:rPr lang="ko-KR" altLang="en-US" sz="1000" dirty="0"/>
              <a:t>랭킹 순위</a:t>
            </a:r>
            <a:endParaRPr lang="en-US" altLang="ko-KR" sz="1000" dirty="0"/>
          </a:p>
          <a:p>
            <a:pPr algn="l"/>
            <a:r>
              <a:rPr lang="en-US" altLang="ko-KR" sz="1000" dirty="0"/>
              <a:t>      1</a:t>
            </a:r>
            <a:r>
              <a:rPr lang="ko-KR" altLang="en-US" sz="1000" dirty="0"/>
              <a:t>위</a:t>
            </a:r>
            <a:endParaRPr lang="en-US" altLang="ko-KR" sz="10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8B57E44-993B-F689-E02C-4A3E7AB1B967}"/>
              </a:ext>
            </a:extLst>
          </p:cNvPr>
          <p:cNvSpPr/>
          <p:nvPr/>
        </p:nvSpPr>
        <p:spPr>
          <a:xfrm>
            <a:off x="2768600" y="6003237"/>
            <a:ext cx="914400" cy="397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000" dirty="0"/>
              <a:t>실적 조회</a:t>
            </a:r>
            <a:endParaRPr lang="en-US" altLang="ko-KR" sz="10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28E2E8A-7282-F602-7229-8DF381426DBD}"/>
              </a:ext>
            </a:extLst>
          </p:cNvPr>
          <p:cNvSpPr/>
          <p:nvPr/>
        </p:nvSpPr>
        <p:spPr>
          <a:xfrm>
            <a:off x="1168400" y="6689037"/>
            <a:ext cx="1295400" cy="397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000" dirty="0" smtClean="0"/>
              <a:t>환경 제품 보러 가기</a:t>
            </a:r>
            <a:endParaRPr lang="en-US" altLang="ko-KR" sz="1000" dirty="0"/>
          </a:p>
        </p:txBody>
      </p:sp>
      <p:grpSp>
        <p:nvGrpSpPr>
          <p:cNvPr id="13" name="그룹 12"/>
          <p:cNvGrpSpPr/>
          <p:nvPr/>
        </p:nvGrpSpPr>
        <p:grpSpPr>
          <a:xfrm>
            <a:off x="4362200" y="2971507"/>
            <a:ext cx="1454400" cy="2076116"/>
            <a:chOff x="6837800" y="2982896"/>
            <a:chExt cx="1454400" cy="2076116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0EF827F-2928-D2E6-B575-901A40168C02}"/>
                </a:ext>
              </a:extLst>
            </p:cNvPr>
            <p:cNvSpPr/>
            <p:nvPr/>
          </p:nvSpPr>
          <p:spPr>
            <a:xfrm>
              <a:off x="6837800" y="2982896"/>
              <a:ext cx="1454400" cy="396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E5E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399" b="1" dirty="0">
                  <a:solidFill>
                    <a:sysClr val="windowText" lastClr="000000"/>
                  </a:solidFill>
                </a:rPr>
                <a:t>QR</a:t>
              </a:r>
              <a:endParaRPr lang="ko-KR" altLang="en-US" sz="1399" b="1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A95BD046-84F0-2C8F-7F86-E2B436C59B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37800" y="3378896"/>
              <a:ext cx="1454400" cy="1680116"/>
            </a:xfrm>
            <a:prstGeom prst="rect">
              <a:avLst/>
            </a:prstGeom>
          </p:spPr>
        </p:pic>
      </p:grpSp>
      <p:grpSp>
        <p:nvGrpSpPr>
          <p:cNvPr id="12" name="그룹 11"/>
          <p:cNvGrpSpPr/>
          <p:nvPr/>
        </p:nvGrpSpPr>
        <p:grpSpPr>
          <a:xfrm>
            <a:off x="5973200" y="1790700"/>
            <a:ext cx="6777600" cy="6172200"/>
            <a:chOff x="6807200" y="1888437"/>
            <a:chExt cx="5181600" cy="6188763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E4636EBC-7C1D-1278-4FD2-0DE4A086AAE7}"/>
                </a:ext>
              </a:extLst>
            </p:cNvPr>
            <p:cNvSpPr/>
            <p:nvPr/>
          </p:nvSpPr>
          <p:spPr>
            <a:xfrm>
              <a:off x="7874000" y="1888437"/>
              <a:ext cx="1295400" cy="39756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/>
                <a:t>실적 조회</a:t>
              </a:r>
              <a:endParaRPr lang="en-US" altLang="ko-KR" sz="12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4B1499D-D652-687C-2631-E96E3628D515}"/>
                </a:ext>
              </a:extLst>
            </p:cNvPr>
            <p:cNvSpPr txBox="1"/>
            <p:nvPr/>
          </p:nvSpPr>
          <p:spPr>
            <a:xfrm>
              <a:off x="7188199" y="3802082"/>
              <a:ext cx="4625831" cy="3980972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 smtClean="0"/>
                <a:t>번호   가맹점 명     사용 건수             사용 일시  </a:t>
              </a:r>
              <a:endParaRPr lang="en-US" altLang="ko-KR" dirty="0"/>
            </a:p>
            <a:p>
              <a:r>
                <a:rPr lang="en-US" altLang="ko-KR" sz="1400" dirty="0" smtClean="0"/>
                <a:t>    1          </a:t>
              </a:r>
              <a:r>
                <a:rPr lang="ko-KR" altLang="en-US" sz="1400" dirty="0" smtClean="0"/>
                <a:t>한스 숍                  </a:t>
              </a:r>
              <a:r>
                <a:rPr lang="en-US" altLang="ko-KR" sz="1400" dirty="0" smtClean="0"/>
                <a:t>3</a:t>
              </a:r>
              <a:r>
                <a:rPr lang="ko-KR" altLang="en-US" sz="1400" dirty="0" smtClean="0"/>
                <a:t>건                    </a:t>
              </a:r>
              <a:r>
                <a:rPr lang="en-US" altLang="ko-KR" sz="1400" dirty="0" smtClean="0"/>
                <a:t>2025-04-03 12.01 :03                                 </a:t>
              </a:r>
              <a:endParaRPr lang="en-US" altLang="ko-KR" sz="1400" dirty="0"/>
            </a:p>
            <a:p>
              <a:r>
                <a:rPr lang="en-US" altLang="ko-KR" sz="1400" dirty="0" smtClean="0"/>
                <a:t>    2          </a:t>
              </a:r>
              <a:r>
                <a:rPr lang="ko-KR" altLang="en-US" sz="1400" dirty="0" err="1"/>
                <a:t>빽</a:t>
              </a:r>
              <a:r>
                <a:rPr lang="ko-KR" altLang="en-US" sz="1400" dirty="0" err="1" smtClean="0"/>
                <a:t>다방</a:t>
              </a:r>
              <a:r>
                <a:rPr lang="ko-KR" altLang="en-US" sz="1400" dirty="0" smtClean="0"/>
                <a:t>                   </a:t>
              </a:r>
              <a:r>
                <a:rPr lang="en-US" altLang="ko-KR" sz="1400" dirty="0" smtClean="0"/>
                <a:t>1</a:t>
              </a:r>
              <a:r>
                <a:rPr lang="ko-KR" altLang="en-US" sz="1400" dirty="0" smtClean="0"/>
                <a:t>건                    </a:t>
              </a:r>
              <a:r>
                <a:rPr lang="en-US" altLang="ko-KR" sz="1400" dirty="0" smtClean="0"/>
                <a:t>2025-04-08  10.33:15    </a:t>
              </a:r>
              <a:r>
                <a:rPr lang="en-US" altLang="ko-KR" dirty="0" smtClean="0"/>
                <a:t>                           </a:t>
              </a:r>
              <a:endParaRPr lang="en-US" altLang="ko-KR" dirty="0"/>
            </a:p>
            <a:p>
              <a:endParaRPr lang="en-US" altLang="ko-KR" dirty="0"/>
            </a:p>
            <a:p>
              <a:endParaRPr lang="en-US" altLang="ko-KR" dirty="0"/>
            </a:p>
            <a:p>
              <a:endParaRPr lang="en-US" altLang="ko-KR" dirty="0"/>
            </a:p>
            <a:p>
              <a:endParaRPr lang="en-US" altLang="ko-KR" dirty="0"/>
            </a:p>
            <a:p>
              <a:endParaRPr lang="en-US" altLang="ko-KR" dirty="0"/>
            </a:p>
            <a:p>
              <a:endParaRPr lang="en-US" altLang="ko-KR" dirty="0"/>
            </a:p>
            <a:p>
              <a:endParaRPr lang="en-US" altLang="ko-KR" dirty="0"/>
            </a:p>
            <a:p>
              <a:endParaRPr lang="en-US" altLang="ko-KR" dirty="0"/>
            </a:p>
            <a:p>
              <a:endParaRPr lang="en-US" altLang="ko-KR" dirty="0"/>
            </a:p>
            <a:p>
              <a:endParaRPr lang="en-US" altLang="ko-KR" dirty="0"/>
            </a:p>
            <a:p>
              <a:r>
                <a:rPr lang="ko-KR" altLang="en-US" dirty="0"/>
                <a:t>합계                            </a:t>
              </a:r>
              <a:r>
                <a:rPr lang="en-US" altLang="ko-KR" dirty="0" smtClean="0"/>
                <a:t>10,001</a:t>
              </a:r>
              <a:r>
                <a:rPr lang="ko-KR" altLang="en-US" dirty="0"/>
                <a:t>건</a:t>
              </a: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003E582A-E9A6-BD9D-8542-65D670661AEE}"/>
                </a:ext>
              </a:extLst>
            </p:cNvPr>
            <p:cNvSpPr/>
            <p:nvPr/>
          </p:nvSpPr>
          <p:spPr>
            <a:xfrm>
              <a:off x="10693400" y="3183837"/>
              <a:ext cx="990600" cy="39756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>
                  <a:solidFill>
                    <a:schemeClr val="tx1"/>
                  </a:solidFill>
                </a:rPr>
                <a:t>월별 조회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8407400" y="3183837"/>
              <a:ext cx="990600" cy="39756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1200" dirty="0">
                  <a:solidFill>
                    <a:schemeClr val="tx1"/>
                  </a:solidFill>
                </a:rPr>
                <a:t>01         </a:t>
              </a:r>
              <a:r>
                <a:rPr lang="ko-KR" altLang="en-US" sz="1200" dirty="0">
                  <a:solidFill>
                    <a:schemeClr val="tx1"/>
                  </a:solidFill>
                </a:rPr>
                <a:t>▼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2459E6D3-4CF7-C2E9-A3DC-82B5E783801B}"/>
                </a:ext>
              </a:extLst>
            </p:cNvPr>
            <p:cNvSpPr/>
            <p:nvPr/>
          </p:nvSpPr>
          <p:spPr>
            <a:xfrm>
              <a:off x="9550400" y="3183837"/>
              <a:ext cx="990600" cy="39756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>
                  <a:solidFill>
                    <a:schemeClr val="tx1"/>
                  </a:solidFill>
                </a:rPr>
                <a:t>일별 조회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4BEFE0E4-72A8-A3BB-403A-3F6C0F482F00}"/>
                </a:ext>
              </a:extLst>
            </p:cNvPr>
            <p:cNvSpPr/>
            <p:nvPr/>
          </p:nvSpPr>
          <p:spPr>
            <a:xfrm>
              <a:off x="7264400" y="3183837"/>
              <a:ext cx="990600" cy="39756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1200" dirty="0">
                  <a:solidFill>
                    <a:schemeClr val="tx1"/>
                  </a:solidFill>
                </a:rPr>
                <a:t>2025         </a:t>
              </a:r>
              <a:r>
                <a:rPr lang="ko-KR" altLang="en-US" sz="1200" dirty="0">
                  <a:solidFill>
                    <a:schemeClr val="tx1"/>
                  </a:solidFill>
                </a:rPr>
                <a:t>▼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C5A760AE-AF0B-E850-4F33-40AACADE11C3}"/>
                </a:ext>
              </a:extLst>
            </p:cNvPr>
            <p:cNvSpPr/>
            <p:nvPr/>
          </p:nvSpPr>
          <p:spPr>
            <a:xfrm>
              <a:off x="6807200" y="2667000"/>
              <a:ext cx="5181600" cy="54102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C5C9CD5-31D3-1FFE-8A88-B7FF19CD7599}"/>
                </a:ext>
              </a:extLst>
            </p:cNvPr>
            <p:cNvSpPr txBox="1"/>
            <p:nvPr/>
          </p:nvSpPr>
          <p:spPr>
            <a:xfrm>
              <a:off x="7112000" y="2819400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뒤로가기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60688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D57AD7-0B27-4D1D-BAAA-8347C8F2E40A}"/>
              </a:ext>
            </a:extLst>
          </p:cNvPr>
          <p:cNvSpPr txBox="1"/>
          <p:nvPr/>
        </p:nvSpPr>
        <p:spPr>
          <a:xfrm>
            <a:off x="787401" y="585889"/>
            <a:ext cx="2133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chemeClr val="bg1"/>
                </a:solidFill>
                <a:latin typeface="+mj-ea"/>
                <a:ea typeface="+mj-ea"/>
              </a:rPr>
              <a:t>가맹점 찾기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EF42B2B-7B4A-BDD9-B283-070F652D3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" y="1295400"/>
            <a:ext cx="3200400" cy="670560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A31903D7-E231-0BB6-371F-07D3E149F8AF}"/>
              </a:ext>
            </a:extLst>
          </p:cNvPr>
          <p:cNvSpPr/>
          <p:nvPr/>
        </p:nvSpPr>
        <p:spPr>
          <a:xfrm>
            <a:off x="1181622" y="7239000"/>
            <a:ext cx="2882378" cy="3522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800" dirty="0"/>
              <a:t>홈      탄소활동    </a:t>
            </a:r>
            <a:r>
              <a:rPr lang="en-US" altLang="ko-KR" sz="800" dirty="0"/>
              <a:t>QR</a:t>
            </a:r>
            <a:r>
              <a:rPr lang="ko-KR" altLang="en-US" sz="800" dirty="0"/>
              <a:t>이미지      뉴스            마이페이지</a:t>
            </a:r>
            <a:endParaRPr lang="en-US" altLang="ko-KR" sz="8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935C98E-2C52-F4B3-0252-77D3E35B5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0" y="2438400"/>
            <a:ext cx="4343400" cy="6096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F0676EA9-30D9-2AF8-DB5E-B95E08FCB75F}"/>
              </a:ext>
            </a:extLst>
          </p:cNvPr>
          <p:cNvSpPr/>
          <p:nvPr/>
        </p:nvSpPr>
        <p:spPr>
          <a:xfrm>
            <a:off x="7743091" y="1752600"/>
            <a:ext cx="1295400" cy="397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000" dirty="0"/>
              <a:t>가맹점 검색 후 화면</a:t>
            </a:r>
            <a:endParaRPr lang="en-US" altLang="ko-KR" sz="1000" dirty="0"/>
          </a:p>
        </p:txBody>
      </p:sp>
      <p:sp>
        <p:nvSpPr>
          <p:cNvPr id="8" name="TextBox 7"/>
          <p:cNvSpPr txBox="1"/>
          <p:nvPr/>
        </p:nvSpPr>
        <p:spPr>
          <a:xfrm>
            <a:off x="2589819" y="3018216"/>
            <a:ext cx="1295547" cy="26161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*500</a:t>
            </a:r>
            <a:r>
              <a:rPr lang="ko-KR" altLang="en-US" sz="1100" dirty="0" smtClean="0">
                <a:solidFill>
                  <a:srgbClr val="FF0000"/>
                </a:solidFill>
              </a:rPr>
              <a:t>원 할인  매장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665578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D4BE4-FE04-54A4-1E5E-F225492304D5}"/>
              </a:ext>
            </a:extLst>
          </p:cNvPr>
          <p:cNvSpPr txBox="1"/>
          <p:nvPr/>
        </p:nvSpPr>
        <p:spPr>
          <a:xfrm>
            <a:off x="787401" y="585889"/>
            <a:ext cx="2133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+mj-ea"/>
                <a:ea typeface="+mj-ea"/>
              </a:rPr>
              <a:t>FAQ</a:t>
            </a:r>
            <a:endParaRPr lang="ko-KR" altLang="en-US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53F93EB-747C-81CC-9B6A-A33F28A20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400" y="1371600"/>
            <a:ext cx="3973942" cy="73914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95787645-17A7-7363-5665-DB8AA08A191C}"/>
              </a:ext>
            </a:extLst>
          </p:cNvPr>
          <p:cNvSpPr/>
          <p:nvPr/>
        </p:nvSpPr>
        <p:spPr>
          <a:xfrm>
            <a:off x="3454400" y="8029759"/>
            <a:ext cx="3886200" cy="2760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800" dirty="0"/>
              <a:t>홈      탄소활동    </a:t>
            </a:r>
            <a:r>
              <a:rPr lang="en-US" altLang="ko-KR" sz="800" dirty="0"/>
              <a:t>QR</a:t>
            </a:r>
            <a:r>
              <a:rPr lang="ko-KR" altLang="en-US" sz="800" dirty="0"/>
              <a:t>이미지      뉴스            마이페이지</a:t>
            </a:r>
            <a:endParaRPr lang="en-US" altLang="ko-KR" sz="800" dirty="0"/>
          </a:p>
        </p:txBody>
      </p:sp>
    </p:spTree>
    <p:extLst>
      <p:ext uri="{BB962C8B-B14F-4D97-AF65-F5344CB8AC3E}">
        <p14:creationId xmlns:p14="http://schemas.microsoft.com/office/powerpoint/2010/main" val="2891526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BBFAB-95AE-B0A5-B696-705B31FDE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0E771DFA-9899-8757-B18E-6CEBF4AF0441}"/>
              </a:ext>
            </a:extLst>
          </p:cNvPr>
          <p:cNvGrpSpPr/>
          <p:nvPr/>
        </p:nvGrpSpPr>
        <p:grpSpPr>
          <a:xfrm>
            <a:off x="787401" y="585889"/>
            <a:ext cx="9296400" cy="492315"/>
            <a:chOff x="787400" y="585887"/>
            <a:chExt cx="9296400" cy="49231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EBEEAE7-EECE-AD07-018B-35A6BA7D7A37}"/>
                </a:ext>
              </a:extLst>
            </p:cNvPr>
            <p:cNvSpPr txBox="1"/>
            <p:nvPr/>
          </p:nvSpPr>
          <p:spPr>
            <a:xfrm>
              <a:off x="787400" y="585887"/>
              <a:ext cx="2133599" cy="369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탄소 활동</a:t>
              </a:r>
              <a:r>
                <a:rPr lang="en-US" altLang="ko-KR" b="1" dirty="0">
                  <a:solidFill>
                    <a:schemeClr val="bg1"/>
                  </a:solidFill>
                  <a:latin typeface="+mj-ea"/>
                  <a:ea typeface="+mj-ea"/>
                </a:rPr>
                <a:t>(</a:t>
              </a:r>
              <a:r>
                <a:rPr lang="ko-KR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가맹점</a:t>
              </a:r>
              <a:r>
                <a:rPr lang="en-US" altLang="ko-KR" b="1" dirty="0">
                  <a:solidFill>
                    <a:schemeClr val="bg1"/>
                  </a:solidFill>
                  <a:latin typeface="+mj-ea"/>
                  <a:ea typeface="+mj-ea"/>
                </a:rPr>
                <a:t>)</a:t>
              </a:r>
              <a:endParaRPr lang="ko-KR" altLang="en-US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DA59712-FD80-0307-8A18-32DD6BADF0A0}"/>
                </a:ext>
              </a:extLst>
            </p:cNvPr>
            <p:cNvSpPr txBox="1"/>
            <p:nvPr/>
          </p:nvSpPr>
          <p:spPr>
            <a:xfrm>
              <a:off x="3073400" y="770553"/>
              <a:ext cx="7010400" cy="3076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spc="-165" dirty="0">
                  <a:latin typeface="Malgun Gothic"/>
                </a:rPr>
                <a:t>회원</a:t>
              </a:r>
              <a:r>
                <a:rPr lang="en-US" altLang="ko-KR" sz="1400" spc="-165" dirty="0">
                  <a:latin typeface="Malgun Gothic"/>
                </a:rPr>
                <a:t>APP- </a:t>
              </a:r>
              <a:r>
                <a:rPr lang="ko-KR" altLang="en-US" sz="1400" spc="-165" dirty="0">
                  <a:latin typeface="Malgun Gothic"/>
                </a:rPr>
                <a:t>바닥 메뉴 </a:t>
              </a:r>
              <a:r>
                <a:rPr lang="en-US" altLang="ko-KR" sz="1400" spc="-165" dirty="0">
                  <a:latin typeface="Malgun Gothic"/>
                </a:rPr>
                <a:t>( </a:t>
              </a:r>
              <a:r>
                <a:rPr lang="ko-KR" altLang="en-US" sz="1400" spc="-165" dirty="0">
                  <a:latin typeface="Malgun Gothic"/>
                </a:rPr>
                <a:t>탄소 기능 </a:t>
              </a:r>
              <a:r>
                <a:rPr lang="en-US" altLang="ko-KR" sz="1400" spc="-165" dirty="0">
                  <a:latin typeface="Malgun Gothic"/>
                </a:rPr>
                <a:t>)</a:t>
              </a:r>
              <a:endParaRPr lang="ko-KR" altLang="en-US" sz="1400" dirty="0"/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7F65EA0-8E30-A6AF-59EF-F14B3FCE2DED}"/>
              </a:ext>
            </a:extLst>
          </p:cNvPr>
          <p:cNvSpPr/>
          <p:nvPr/>
        </p:nvSpPr>
        <p:spPr>
          <a:xfrm>
            <a:off x="1015999" y="1138690"/>
            <a:ext cx="3117601" cy="64800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713616E-227A-4B36-31C3-B5045756CBD9}"/>
              </a:ext>
            </a:extLst>
          </p:cNvPr>
          <p:cNvSpPr/>
          <p:nvPr/>
        </p:nvSpPr>
        <p:spPr>
          <a:xfrm>
            <a:off x="1014253" y="1138690"/>
            <a:ext cx="3119347" cy="487659"/>
          </a:xfrm>
          <a:prstGeom prst="rect">
            <a:avLst/>
          </a:prstGeom>
          <a:noFill/>
          <a:ln w="12700">
            <a:solidFill>
              <a:srgbClr val="D5D5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E0351D2-E6CD-2C6C-B897-30BE7722F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999" y="1672090"/>
            <a:ext cx="3117601" cy="144135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676A7FB-C819-4866-60C7-B682A2B93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53" y="5169517"/>
            <a:ext cx="3074097" cy="751358"/>
          </a:xfrm>
          <a:prstGeom prst="rect">
            <a:avLst/>
          </a:prstGeom>
        </p:spPr>
      </p:pic>
      <p:sp>
        <p:nvSpPr>
          <p:cNvPr id="14" name="모서리가 둥근 직사각형 21">
            <a:extLst>
              <a:ext uri="{FF2B5EF4-FFF2-40B4-BE49-F238E27FC236}">
                <a16:creationId xmlns:a16="http://schemas.microsoft.com/office/drawing/2014/main" id="{11DB225B-AF1E-A78B-483D-691F888D0835}"/>
              </a:ext>
            </a:extLst>
          </p:cNvPr>
          <p:cNvSpPr/>
          <p:nvPr/>
        </p:nvSpPr>
        <p:spPr>
          <a:xfrm>
            <a:off x="2650621" y="6041323"/>
            <a:ext cx="1368000" cy="504000"/>
          </a:xfrm>
          <a:prstGeom prst="roundRect">
            <a:avLst/>
          </a:prstGeom>
          <a:noFill/>
          <a:ln w="31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66">
              <a:solidFill>
                <a:sysClr val="windowText" lastClr="000000"/>
              </a:solidFill>
            </a:endParaRPr>
          </a:p>
        </p:txBody>
      </p:sp>
      <p:sp>
        <p:nvSpPr>
          <p:cNvPr id="15" name="모서리가 둥근 직사각형 22">
            <a:extLst>
              <a:ext uri="{FF2B5EF4-FFF2-40B4-BE49-F238E27FC236}">
                <a16:creationId xmlns:a16="http://schemas.microsoft.com/office/drawing/2014/main" id="{03DCE745-E430-360B-9AC5-904D53A96757}"/>
              </a:ext>
            </a:extLst>
          </p:cNvPr>
          <p:cNvSpPr/>
          <p:nvPr/>
        </p:nvSpPr>
        <p:spPr>
          <a:xfrm>
            <a:off x="1104929" y="6041323"/>
            <a:ext cx="1368000" cy="504000"/>
          </a:xfrm>
          <a:prstGeom prst="roundRect">
            <a:avLst/>
          </a:prstGeom>
          <a:noFill/>
          <a:ln w="31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66">
              <a:solidFill>
                <a:sysClr val="windowText" lastClr="000000"/>
              </a:solidFill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FE8373CF-E4D3-0486-7B51-C9589B2AAA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253" y="7463290"/>
            <a:ext cx="3119347" cy="537710"/>
          </a:xfrm>
          <a:prstGeom prst="rect">
            <a:avLst/>
          </a:prstGeom>
        </p:spPr>
      </p:pic>
      <p:sp>
        <p:nvSpPr>
          <p:cNvPr id="17" name="모서리가 둥근 직사각형 25">
            <a:extLst>
              <a:ext uri="{FF2B5EF4-FFF2-40B4-BE49-F238E27FC236}">
                <a16:creationId xmlns:a16="http://schemas.microsoft.com/office/drawing/2014/main" id="{9A6A321B-5EEA-9136-1053-476F015A6B63}"/>
              </a:ext>
            </a:extLst>
          </p:cNvPr>
          <p:cNvSpPr/>
          <p:nvPr/>
        </p:nvSpPr>
        <p:spPr>
          <a:xfrm>
            <a:off x="1104929" y="6701290"/>
            <a:ext cx="2915433" cy="619184"/>
          </a:xfrm>
          <a:prstGeom prst="roundRect">
            <a:avLst/>
          </a:prstGeom>
          <a:noFill/>
          <a:ln w="31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66">
              <a:solidFill>
                <a:sysClr val="windowText" lastClr="00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7EEE70-61C2-0A21-ECAF-21B3185D7A6F}"/>
              </a:ext>
            </a:extLst>
          </p:cNvPr>
          <p:cNvSpPr txBox="1"/>
          <p:nvPr/>
        </p:nvSpPr>
        <p:spPr>
          <a:xfrm>
            <a:off x="1414931" y="6840596"/>
            <a:ext cx="23131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환경 제품 보러 가기   </a:t>
            </a:r>
            <a:endParaRPr lang="en-US" altLang="ko-KR" sz="1400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846F5C7F-3CC9-8F3A-0404-036D8F0D4CEA}"/>
              </a:ext>
            </a:extLst>
          </p:cNvPr>
          <p:cNvGrpSpPr/>
          <p:nvPr/>
        </p:nvGrpSpPr>
        <p:grpSpPr>
          <a:xfrm>
            <a:off x="1049053" y="3224944"/>
            <a:ext cx="3049746" cy="1861861"/>
            <a:chOff x="896654" y="3167339"/>
            <a:chExt cx="3049746" cy="1861861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8D5CFA44-6539-018B-563C-5B2CB168DD1D}"/>
                </a:ext>
              </a:extLst>
            </p:cNvPr>
            <p:cNvGrpSpPr/>
            <p:nvPr/>
          </p:nvGrpSpPr>
          <p:grpSpPr>
            <a:xfrm>
              <a:off x="896654" y="3167339"/>
              <a:ext cx="3049746" cy="1861861"/>
              <a:chOff x="896654" y="3037028"/>
              <a:chExt cx="3049746" cy="1861861"/>
            </a:xfrm>
          </p:grpSpPr>
          <p:sp>
            <p:nvSpPr>
              <p:cNvPr id="24" name="모서리가 둥근 직사각형 15">
                <a:extLst>
                  <a:ext uri="{FF2B5EF4-FFF2-40B4-BE49-F238E27FC236}">
                    <a16:creationId xmlns:a16="http://schemas.microsoft.com/office/drawing/2014/main" id="{BC1C7932-FBE1-31D2-4C5A-241B078D7219}"/>
                  </a:ext>
                </a:extLst>
              </p:cNvPr>
              <p:cNvSpPr/>
              <p:nvPr/>
            </p:nvSpPr>
            <p:spPr>
              <a:xfrm>
                <a:off x="896654" y="3037028"/>
                <a:ext cx="3049746" cy="1861861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66">
                  <a:solidFill>
                    <a:sysClr val="windowText" lastClr="000000"/>
                  </a:solidFill>
                </a:endParaRPr>
              </a:p>
            </p:txBody>
          </p:sp>
          <p:pic>
            <p:nvPicPr>
              <p:cNvPr id="25" name="그림 24">
                <a:extLst>
                  <a:ext uri="{FF2B5EF4-FFF2-40B4-BE49-F238E27FC236}">
                    <a16:creationId xmlns:a16="http://schemas.microsoft.com/office/drawing/2014/main" id="{875C391B-281B-5584-7FB0-9555CBEE2A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52530" y="4070023"/>
                <a:ext cx="2915433" cy="676466"/>
              </a:xfrm>
              <a:prstGeom prst="rect">
                <a:avLst/>
              </a:prstGeom>
            </p:spPr>
          </p:pic>
          <p:sp>
            <p:nvSpPr>
              <p:cNvPr id="26" name="모서리가 둥근 직사각형 18">
                <a:extLst>
                  <a:ext uri="{FF2B5EF4-FFF2-40B4-BE49-F238E27FC236}">
                    <a16:creationId xmlns:a16="http://schemas.microsoft.com/office/drawing/2014/main" id="{F0BFF6E7-36D7-2C54-335B-013E8F80ABF4}"/>
                  </a:ext>
                </a:extLst>
              </p:cNvPr>
              <p:cNvSpPr/>
              <p:nvPr/>
            </p:nvSpPr>
            <p:spPr>
              <a:xfrm>
                <a:off x="1028471" y="3493581"/>
                <a:ext cx="2839491" cy="504000"/>
              </a:xfrm>
              <a:prstGeom prst="roundRect">
                <a:avLst/>
              </a:prstGeom>
              <a:noFill/>
              <a:ln w="31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66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B118A30-EC61-73F9-C82C-3F1A61C05D8B}"/>
                  </a:ext>
                </a:extLst>
              </p:cNvPr>
              <p:cNvSpPr txBox="1"/>
              <p:nvPr/>
            </p:nvSpPr>
            <p:spPr>
              <a:xfrm>
                <a:off x="1168400" y="3097625"/>
                <a:ext cx="250137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안녕하세요</a:t>
                </a:r>
                <a:r>
                  <a:rPr lang="en-US" altLang="ko-KR" sz="14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! </a:t>
                </a:r>
                <a:r>
                  <a:rPr lang="ko-KR" altLang="en-US" sz="14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한스 가맹점 님</a:t>
                </a:r>
                <a:endParaRPr lang="en-US" altLang="ko-KR" sz="1400" dirty="0"/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3712CBA-2598-84C5-FB3F-F011E21ECD08}"/>
                </a:ext>
              </a:extLst>
            </p:cNvPr>
            <p:cNvSpPr txBox="1"/>
            <p:nvPr/>
          </p:nvSpPr>
          <p:spPr>
            <a:xfrm>
              <a:off x="1207398" y="3731382"/>
              <a:ext cx="184353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회원 등록 </a:t>
              </a:r>
              <a:r>
                <a:rPr lang="en-US" altLang="ko-KR" sz="1400" dirty="0">
                  <a:solidFill>
                    <a:srgbClr val="FF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: 00</a:t>
              </a:r>
              <a:r>
                <a:rPr lang="ko-KR" altLang="en-US" sz="1400" dirty="0">
                  <a:solidFill>
                    <a:srgbClr val="FF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명  </a:t>
              </a:r>
              <a:endParaRPr lang="en-US" altLang="ko-KR" sz="1400" dirty="0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A24102FA-A32D-D28C-0994-17237EBE3752}"/>
              </a:ext>
            </a:extLst>
          </p:cNvPr>
          <p:cNvSpPr txBox="1"/>
          <p:nvPr/>
        </p:nvSpPr>
        <p:spPr>
          <a:xfrm>
            <a:off x="2839321" y="6139434"/>
            <a:ext cx="9905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매출 관리  </a:t>
            </a:r>
            <a:endParaRPr lang="en-US" altLang="ko-KR" sz="1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D085B0-F197-4E27-3113-4F34DB6CF892}"/>
              </a:ext>
            </a:extLst>
          </p:cNvPr>
          <p:cNvSpPr txBox="1"/>
          <p:nvPr/>
        </p:nvSpPr>
        <p:spPr>
          <a:xfrm>
            <a:off x="1347619" y="6155066"/>
            <a:ext cx="9905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QR</a:t>
            </a:r>
            <a:r>
              <a:rPr lang="ko-KR" altLang="en-US" sz="1400" dirty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관리  </a:t>
            </a:r>
            <a:endParaRPr lang="en-US" altLang="ko-KR" sz="1400" dirty="0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7C46E80E-411A-DA58-9841-2D92556F511D}"/>
              </a:ext>
            </a:extLst>
          </p:cNvPr>
          <p:cNvGrpSpPr/>
          <p:nvPr/>
        </p:nvGrpSpPr>
        <p:grpSpPr>
          <a:xfrm>
            <a:off x="1007294" y="1156533"/>
            <a:ext cx="3134611" cy="548203"/>
            <a:chOff x="5664200" y="4445889"/>
            <a:chExt cx="3134611" cy="548203"/>
          </a:xfrm>
        </p:grpSpPr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7397B6A3-5AD3-052E-042B-422257715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64200" y="4445889"/>
              <a:ext cx="3134611" cy="490344"/>
            </a:xfrm>
            <a:prstGeom prst="rect">
              <a:avLst/>
            </a:prstGeom>
          </p:spPr>
        </p:pic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EB7368D2-CCD8-E474-8720-903D6044DC9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292614" y="4683426"/>
              <a:ext cx="276586" cy="252000"/>
            </a:xfrm>
            <a:prstGeom prst="rect">
              <a:avLst/>
            </a:prstGeom>
          </p:spPr>
        </p:pic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17A919A1-17FF-F226-42E2-227C185F7082}"/>
                </a:ext>
              </a:extLst>
            </p:cNvPr>
            <p:cNvGrpSpPr/>
            <p:nvPr/>
          </p:nvGrpSpPr>
          <p:grpSpPr>
            <a:xfrm>
              <a:off x="5956073" y="4624760"/>
              <a:ext cx="940253" cy="369332"/>
              <a:chOff x="7689115" y="2362200"/>
              <a:chExt cx="940253" cy="369332"/>
            </a:xfrm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953D968-F51E-C7B3-B69D-B9A438405E71}"/>
                  </a:ext>
                </a:extLst>
              </p:cNvPr>
              <p:cNvSpPr txBox="1"/>
              <p:nvPr/>
            </p:nvSpPr>
            <p:spPr>
              <a:xfrm>
                <a:off x="7689115" y="2362200"/>
                <a:ext cx="8643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600" b="1" dirty="0"/>
                  <a:t>가맹점</a:t>
                </a:r>
                <a:r>
                  <a:rPr lang="ko-KR" altLang="en-US" b="1" dirty="0"/>
                  <a:t> </a:t>
                </a:r>
              </a:p>
            </p:txBody>
          </p:sp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431E4A78-148C-AF57-D5AD-7AD909E1BC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444225" y="2455653"/>
                <a:ext cx="185143" cy="180000"/>
              </a:xfrm>
              <a:prstGeom prst="rect">
                <a:avLst/>
              </a:prstGeom>
            </p:spPr>
          </p:pic>
        </p:grpSp>
      </p:grp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124DFC9E-2684-313D-F7E8-0C28B1AEB811}"/>
              </a:ext>
            </a:extLst>
          </p:cNvPr>
          <p:cNvCxnSpPr/>
          <p:nvPr/>
        </p:nvCxnSpPr>
        <p:spPr>
          <a:xfrm flipH="1">
            <a:off x="4187600" y="4572000"/>
            <a:ext cx="2736000" cy="0"/>
          </a:xfrm>
          <a:prstGeom prst="straightConnector1">
            <a:avLst/>
          </a:prstGeom>
          <a:ln w="63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20BBB8EF-E983-A89B-77A3-BD1C09349870}"/>
              </a:ext>
            </a:extLst>
          </p:cNvPr>
          <p:cNvSpPr/>
          <p:nvPr/>
        </p:nvSpPr>
        <p:spPr>
          <a:xfrm>
            <a:off x="1319279" y="1295400"/>
            <a:ext cx="1601721" cy="3522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000" dirty="0"/>
              <a:t>일반회원  가맹점회원</a:t>
            </a:r>
            <a:endParaRPr lang="en-US" altLang="ko-KR" sz="1000" dirty="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5B37C5A-9237-2C83-2ECB-E96148339ACB}"/>
              </a:ext>
            </a:extLst>
          </p:cNvPr>
          <p:cNvSpPr/>
          <p:nvPr/>
        </p:nvSpPr>
        <p:spPr>
          <a:xfrm>
            <a:off x="1105422" y="7496359"/>
            <a:ext cx="2882378" cy="3522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800" dirty="0"/>
              <a:t>홈      탄소활동    </a:t>
            </a:r>
            <a:r>
              <a:rPr lang="en-US" altLang="ko-KR" sz="800" dirty="0"/>
              <a:t>QR</a:t>
            </a:r>
            <a:r>
              <a:rPr lang="ko-KR" altLang="en-US" sz="800" dirty="0"/>
              <a:t>이미지      뉴스            마이페이지</a:t>
            </a:r>
            <a:endParaRPr lang="en-US" altLang="ko-KR" sz="8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1E46620-0857-3E98-A4FC-75F1CD6326B7}"/>
              </a:ext>
            </a:extLst>
          </p:cNvPr>
          <p:cNvSpPr txBox="1"/>
          <p:nvPr/>
        </p:nvSpPr>
        <p:spPr>
          <a:xfrm>
            <a:off x="6959600" y="3733800"/>
            <a:ext cx="2895600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QR</a:t>
            </a:r>
            <a:r>
              <a:rPr lang="ko-KR" altLang="en-US" dirty="0"/>
              <a:t>스캔 </a:t>
            </a:r>
            <a:r>
              <a:rPr lang="ko-KR" altLang="en-US" dirty="0" err="1"/>
              <a:t>클릭시</a:t>
            </a:r>
            <a:r>
              <a:rPr lang="ko-KR" altLang="en-US" dirty="0"/>
              <a:t>  카메라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24272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D41A8C4-520C-1A5C-2C3C-89FC15866246}"/>
              </a:ext>
            </a:extLst>
          </p:cNvPr>
          <p:cNvSpPr/>
          <p:nvPr/>
        </p:nvSpPr>
        <p:spPr>
          <a:xfrm>
            <a:off x="1244600" y="1676400"/>
            <a:ext cx="1295400" cy="397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1200" dirty="0"/>
              <a:t>QR </a:t>
            </a:r>
            <a:r>
              <a:rPr lang="ko-KR" altLang="en-US" sz="1200" dirty="0"/>
              <a:t>관리</a:t>
            </a:r>
            <a:endParaRPr lang="en-US" altLang="ko-KR" sz="12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4636EBC-7C1D-1278-4FD2-0DE4A086AAE7}"/>
              </a:ext>
            </a:extLst>
          </p:cNvPr>
          <p:cNvSpPr/>
          <p:nvPr/>
        </p:nvSpPr>
        <p:spPr>
          <a:xfrm>
            <a:off x="7874000" y="1888437"/>
            <a:ext cx="1295400" cy="397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/>
              <a:t>매출 관리</a:t>
            </a:r>
            <a:endParaRPr lang="en-US" altLang="ko-KR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170C50-EADD-A153-6EBD-87A28D168E19}"/>
              </a:ext>
            </a:extLst>
          </p:cNvPr>
          <p:cNvSpPr txBox="1"/>
          <p:nvPr/>
        </p:nvSpPr>
        <p:spPr>
          <a:xfrm>
            <a:off x="1397000" y="3802082"/>
            <a:ext cx="4343400" cy="3693319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일자                 </a:t>
            </a:r>
            <a:r>
              <a:rPr lang="ko-KR" altLang="en-US" dirty="0" smtClean="0"/>
              <a:t>  판매처            판매 건수</a:t>
            </a:r>
            <a:endParaRPr lang="en-US" altLang="ko-KR" dirty="0"/>
          </a:p>
          <a:p>
            <a:r>
              <a:rPr lang="en-US" altLang="ko-KR" sz="1200" dirty="0"/>
              <a:t>2025-04-03  </a:t>
            </a:r>
            <a:r>
              <a:rPr lang="en-US" altLang="ko-KR" sz="1200" dirty="0" smtClean="0"/>
              <a:t>         </a:t>
            </a:r>
            <a:r>
              <a:rPr lang="ko-KR" altLang="en-US" sz="1200" dirty="0" smtClean="0"/>
              <a:t>홍</a:t>
            </a:r>
            <a:r>
              <a:rPr lang="en-US" altLang="ko-KR" sz="1200" dirty="0" smtClean="0"/>
              <a:t>ⅹ</a:t>
            </a:r>
            <a:r>
              <a:rPr lang="ko-KR" altLang="en-US" sz="1200" dirty="0" smtClean="0"/>
              <a:t>동  </a:t>
            </a:r>
            <a:r>
              <a:rPr lang="en-US" altLang="ko-KR" sz="1200" dirty="0" smtClean="0"/>
              <a:t>010-64ⅹⅹ- 20ⅹⅹ                15</a:t>
            </a:r>
            <a:endParaRPr lang="en-US" altLang="ko-KR" sz="1200" dirty="0"/>
          </a:p>
          <a:p>
            <a:r>
              <a:rPr lang="en-US" altLang="ko-KR" sz="1200" dirty="0"/>
              <a:t>2025-04-08          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정</a:t>
            </a:r>
            <a:r>
              <a:rPr lang="en-US" altLang="ko-KR" sz="1200" dirty="0" smtClean="0"/>
              <a:t>ⅹ</a:t>
            </a:r>
            <a:r>
              <a:rPr lang="ko-KR" altLang="en-US" sz="1200" dirty="0" smtClean="0"/>
              <a:t>언  </a:t>
            </a:r>
            <a:r>
              <a:rPr lang="en-US" altLang="ko-KR" sz="1200" dirty="0" smtClean="0"/>
              <a:t>010-55ⅹⅹ- 43ⅹⅹ                23</a:t>
            </a:r>
            <a:endParaRPr lang="en-US" altLang="ko-KR" sz="1200" dirty="0"/>
          </a:p>
          <a:p>
            <a:endParaRPr lang="en-US" altLang="ko-KR" sz="1200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재고                                      </a:t>
            </a:r>
            <a:r>
              <a:rPr lang="en-US" altLang="ko-KR" dirty="0"/>
              <a:t>1,001</a:t>
            </a:r>
            <a:r>
              <a:rPr lang="ko-KR" altLang="en-US" dirty="0"/>
              <a:t> 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37CD0EF-802F-5FFE-9074-00596B0D3ECB}"/>
              </a:ext>
            </a:extLst>
          </p:cNvPr>
          <p:cNvSpPr/>
          <p:nvPr/>
        </p:nvSpPr>
        <p:spPr>
          <a:xfrm>
            <a:off x="4902200" y="3183837"/>
            <a:ext cx="990600" cy="3975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>
                <a:solidFill>
                  <a:schemeClr val="tx1"/>
                </a:solidFill>
              </a:rPr>
              <a:t>월별 조회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3EE0184-EC4A-6F1C-5AC9-E9600F29C5DD}"/>
              </a:ext>
            </a:extLst>
          </p:cNvPr>
          <p:cNvSpPr/>
          <p:nvPr/>
        </p:nvSpPr>
        <p:spPr>
          <a:xfrm>
            <a:off x="2616200" y="3183837"/>
            <a:ext cx="990600" cy="3975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1200" dirty="0">
                <a:solidFill>
                  <a:schemeClr val="tx1"/>
                </a:solidFill>
              </a:rPr>
              <a:t>01         </a:t>
            </a:r>
            <a:r>
              <a:rPr lang="ko-KR" altLang="en-US" sz="1200" dirty="0">
                <a:solidFill>
                  <a:schemeClr val="tx1"/>
                </a:solidFill>
              </a:rPr>
              <a:t>▼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F2191B4-BFA7-88DC-01E9-EE51B339AD9C}"/>
              </a:ext>
            </a:extLst>
          </p:cNvPr>
          <p:cNvSpPr/>
          <p:nvPr/>
        </p:nvSpPr>
        <p:spPr>
          <a:xfrm>
            <a:off x="3759200" y="3183837"/>
            <a:ext cx="990600" cy="3975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>
                <a:solidFill>
                  <a:schemeClr val="tx1"/>
                </a:solidFill>
              </a:rPr>
              <a:t>일별 조회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B6CC0FA-A30F-4FE3-EF0C-B792CACA4C40}"/>
              </a:ext>
            </a:extLst>
          </p:cNvPr>
          <p:cNvSpPr/>
          <p:nvPr/>
        </p:nvSpPr>
        <p:spPr>
          <a:xfrm>
            <a:off x="1473200" y="3183837"/>
            <a:ext cx="990600" cy="3975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1200" dirty="0">
                <a:solidFill>
                  <a:schemeClr val="tx1"/>
                </a:solidFill>
              </a:rPr>
              <a:t>2025         </a:t>
            </a:r>
            <a:r>
              <a:rPr lang="ko-KR" altLang="en-US" sz="1200" dirty="0">
                <a:solidFill>
                  <a:schemeClr val="tx1"/>
                </a:solidFill>
              </a:rPr>
              <a:t>▼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ABC659C-5B73-8617-F93A-6C4378E7B2AD}"/>
              </a:ext>
            </a:extLst>
          </p:cNvPr>
          <p:cNvSpPr/>
          <p:nvPr/>
        </p:nvSpPr>
        <p:spPr>
          <a:xfrm>
            <a:off x="1016000" y="2667000"/>
            <a:ext cx="5181600" cy="5410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FC934F-0604-BBA8-3699-138DAA3E03D0}"/>
              </a:ext>
            </a:extLst>
          </p:cNvPr>
          <p:cNvSpPr txBox="1"/>
          <p:nvPr/>
        </p:nvSpPr>
        <p:spPr>
          <a:xfrm>
            <a:off x="1320800" y="28194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뒤로가기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B1499D-D652-687C-2631-E96E3628D515}"/>
              </a:ext>
            </a:extLst>
          </p:cNvPr>
          <p:cNvSpPr txBox="1"/>
          <p:nvPr/>
        </p:nvSpPr>
        <p:spPr>
          <a:xfrm>
            <a:off x="7188200" y="3802082"/>
            <a:ext cx="4419600" cy="3970318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일자                                        매출건수</a:t>
            </a:r>
            <a:endParaRPr lang="en-US" altLang="ko-KR" dirty="0"/>
          </a:p>
          <a:p>
            <a:r>
              <a:rPr lang="en-US" altLang="ko-KR" dirty="0"/>
              <a:t>2025-04-03                                 15</a:t>
            </a:r>
          </a:p>
          <a:p>
            <a:r>
              <a:rPr lang="en-US" altLang="ko-KR" dirty="0"/>
              <a:t>2025-04-08                                 23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합계                                        </a:t>
            </a:r>
            <a:r>
              <a:rPr lang="en-US" altLang="ko-KR" dirty="0"/>
              <a:t>10,001</a:t>
            </a:r>
            <a:r>
              <a:rPr lang="ko-KR" altLang="en-US" dirty="0"/>
              <a:t>건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03E582A-E9A6-BD9D-8542-65D670661AEE}"/>
              </a:ext>
            </a:extLst>
          </p:cNvPr>
          <p:cNvSpPr/>
          <p:nvPr/>
        </p:nvSpPr>
        <p:spPr>
          <a:xfrm>
            <a:off x="10693400" y="3183837"/>
            <a:ext cx="990600" cy="3975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>
                <a:solidFill>
                  <a:schemeClr val="tx1"/>
                </a:solidFill>
              </a:rPr>
              <a:t>월별 조회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8407400" y="3183837"/>
            <a:ext cx="990600" cy="3975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1200" dirty="0">
                <a:solidFill>
                  <a:schemeClr val="tx1"/>
                </a:solidFill>
              </a:rPr>
              <a:t>01         </a:t>
            </a:r>
            <a:r>
              <a:rPr lang="ko-KR" altLang="en-US" sz="1200" dirty="0">
                <a:solidFill>
                  <a:schemeClr val="tx1"/>
                </a:solidFill>
              </a:rPr>
              <a:t>▼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459E6D3-4CF7-C2E9-A3DC-82B5E783801B}"/>
              </a:ext>
            </a:extLst>
          </p:cNvPr>
          <p:cNvSpPr/>
          <p:nvPr/>
        </p:nvSpPr>
        <p:spPr>
          <a:xfrm>
            <a:off x="9550400" y="3183837"/>
            <a:ext cx="990600" cy="3975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>
                <a:solidFill>
                  <a:schemeClr val="tx1"/>
                </a:solidFill>
              </a:rPr>
              <a:t>일별 조회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BEFE0E4-72A8-A3BB-403A-3F6C0F482F00}"/>
              </a:ext>
            </a:extLst>
          </p:cNvPr>
          <p:cNvSpPr/>
          <p:nvPr/>
        </p:nvSpPr>
        <p:spPr>
          <a:xfrm>
            <a:off x="7264400" y="3183837"/>
            <a:ext cx="990600" cy="3975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1200" dirty="0">
                <a:solidFill>
                  <a:schemeClr val="tx1"/>
                </a:solidFill>
              </a:rPr>
              <a:t>2025         </a:t>
            </a:r>
            <a:r>
              <a:rPr lang="ko-KR" altLang="en-US" sz="1200" dirty="0">
                <a:solidFill>
                  <a:schemeClr val="tx1"/>
                </a:solidFill>
              </a:rPr>
              <a:t>▼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5A760AE-AF0B-E850-4F33-40AACADE11C3}"/>
              </a:ext>
            </a:extLst>
          </p:cNvPr>
          <p:cNvSpPr/>
          <p:nvPr/>
        </p:nvSpPr>
        <p:spPr>
          <a:xfrm>
            <a:off x="6807200" y="2667000"/>
            <a:ext cx="5181600" cy="5410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5C9CD5-31D3-1FFE-8A88-B7FF19CD7599}"/>
              </a:ext>
            </a:extLst>
          </p:cNvPr>
          <p:cNvSpPr txBox="1"/>
          <p:nvPr/>
        </p:nvSpPr>
        <p:spPr>
          <a:xfrm>
            <a:off x="7112000" y="28194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뒤로가기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95203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861957-074B-817A-9E0F-0912CCA48F57}"/>
              </a:ext>
            </a:extLst>
          </p:cNvPr>
          <p:cNvSpPr txBox="1"/>
          <p:nvPr/>
        </p:nvSpPr>
        <p:spPr>
          <a:xfrm>
            <a:off x="787401" y="585889"/>
            <a:ext cx="2133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+mj-ea"/>
                <a:ea typeface="+mj-ea"/>
              </a:rPr>
              <a:t>QR </a:t>
            </a:r>
            <a:r>
              <a:rPr lang="ko-KR" altLang="en-US" b="1" dirty="0">
                <a:solidFill>
                  <a:schemeClr val="bg1"/>
                </a:solidFill>
                <a:latin typeface="+mj-ea"/>
                <a:ea typeface="+mj-ea"/>
              </a:rPr>
              <a:t>이미지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61FCBDF-E5F6-E2F3-78AB-154232B26610}"/>
              </a:ext>
            </a:extLst>
          </p:cNvPr>
          <p:cNvSpPr/>
          <p:nvPr/>
        </p:nvSpPr>
        <p:spPr>
          <a:xfrm>
            <a:off x="3789800" y="2590800"/>
            <a:ext cx="2484000" cy="396000"/>
          </a:xfrm>
          <a:prstGeom prst="rect">
            <a:avLst/>
          </a:prstGeom>
          <a:solidFill>
            <a:schemeClr val="bg1"/>
          </a:solidFill>
          <a:ln w="127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399" b="1" dirty="0">
                <a:solidFill>
                  <a:sysClr val="windowText" lastClr="000000"/>
                </a:solidFill>
              </a:rPr>
              <a:t>QR</a:t>
            </a:r>
            <a:endParaRPr lang="ko-KR" altLang="en-US" sz="1399" b="1" dirty="0">
              <a:solidFill>
                <a:sysClr val="windowText" lastClr="00000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1B01FB1-0A1E-B1A0-D2A9-A2B9F327D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800" y="3153847"/>
            <a:ext cx="2484000" cy="2869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276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C61AB-4CE9-3383-4BA4-F169A5CC7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9D9CF4-B88A-3969-7243-B7B3BDE658B6}"/>
              </a:ext>
            </a:extLst>
          </p:cNvPr>
          <p:cNvSpPr txBox="1"/>
          <p:nvPr/>
        </p:nvSpPr>
        <p:spPr>
          <a:xfrm>
            <a:off x="787401" y="585889"/>
            <a:ext cx="2133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chemeClr val="bg1"/>
                </a:solidFill>
                <a:latin typeface="+mj-ea"/>
                <a:ea typeface="+mj-ea"/>
              </a:rPr>
              <a:t>뉴스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E82B0E7F-D3C7-B952-0195-3C9CA2D2A2D0}"/>
              </a:ext>
            </a:extLst>
          </p:cNvPr>
          <p:cNvGrpSpPr/>
          <p:nvPr/>
        </p:nvGrpSpPr>
        <p:grpSpPr>
          <a:xfrm>
            <a:off x="2082800" y="2286000"/>
            <a:ext cx="2484000" cy="3446194"/>
            <a:chOff x="5051748" y="1443697"/>
            <a:chExt cx="2484000" cy="3446194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C176974-4C54-099F-6ECF-91EC6510D5FE}"/>
                </a:ext>
              </a:extLst>
            </p:cNvPr>
            <p:cNvSpPr/>
            <p:nvPr/>
          </p:nvSpPr>
          <p:spPr>
            <a:xfrm>
              <a:off x="5051748" y="1443697"/>
              <a:ext cx="2484000" cy="396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E5E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399" b="1" dirty="0">
                  <a:solidFill>
                    <a:sysClr val="windowText" lastClr="000000"/>
                  </a:solidFill>
                </a:rPr>
                <a:t>뉴 스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C6CF97C-DB0E-C362-5B20-6CEB1FD659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51748" y="2057401"/>
              <a:ext cx="2484000" cy="28324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484050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39218-06C3-CCE7-C897-BFF962A5F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38C99CAA-03EB-8B65-64D1-79FAE88FFFF5}"/>
              </a:ext>
            </a:extLst>
          </p:cNvPr>
          <p:cNvGrpSpPr/>
          <p:nvPr/>
        </p:nvGrpSpPr>
        <p:grpSpPr>
          <a:xfrm>
            <a:off x="787401" y="585889"/>
            <a:ext cx="9296400" cy="492315"/>
            <a:chOff x="787400" y="585887"/>
            <a:chExt cx="9296400" cy="49231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FE0D708-A483-7677-53E6-67780746A91D}"/>
                </a:ext>
              </a:extLst>
            </p:cNvPr>
            <p:cNvSpPr txBox="1"/>
            <p:nvPr/>
          </p:nvSpPr>
          <p:spPr>
            <a:xfrm>
              <a:off x="787400" y="585887"/>
              <a:ext cx="2133599" cy="369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마이 페이지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1D0A417-A0E7-61D1-396B-ABF6E4A81AFF}"/>
                </a:ext>
              </a:extLst>
            </p:cNvPr>
            <p:cNvSpPr txBox="1"/>
            <p:nvPr/>
          </p:nvSpPr>
          <p:spPr>
            <a:xfrm>
              <a:off x="3073400" y="770553"/>
              <a:ext cx="7010400" cy="3076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399" spc="-165" dirty="0">
                  <a:latin typeface="Malgun Gothic"/>
                </a:rPr>
                <a:t>회원 </a:t>
              </a:r>
              <a:r>
                <a:rPr lang="en-US" altLang="ko-KR" sz="1399" spc="-165" dirty="0">
                  <a:latin typeface="Malgun Gothic"/>
                </a:rPr>
                <a:t>APP- </a:t>
              </a:r>
              <a:r>
                <a:rPr lang="ko-KR" altLang="en-US" sz="1399" spc="-165" dirty="0">
                  <a:latin typeface="Malgun Gothic"/>
                </a:rPr>
                <a:t> 바닥 메뉴 </a:t>
              </a:r>
              <a:r>
                <a:rPr lang="en-US" altLang="ko-KR" sz="1399" spc="-165" dirty="0">
                  <a:latin typeface="Malgun Gothic"/>
                </a:rPr>
                <a:t>(QR/</a:t>
              </a:r>
              <a:r>
                <a:rPr lang="ko-KR" altLang="en-US" sz="1399" spc="-165" dirty="0">
                  <a:latin typeface="Malgun Gothic"/>
                </a:rPr>
                <a:t>뉴스</a:t>
              </a:r>
              <a:r>
                <a:rPr lang="en-US" altLang="ko-KR" sz="1399" spc="-165" dirty="0">
                  <a:latin typeface="Malgun Gothic"/>
                </a:rPr>
                <a:t>/</a:t>
              </a:r>
              <a:r>
                <a:rPr lang="ko-KR" altLang="en-US" sz="1399" spc="-165" dirty="0">
                  <a:latin typeface="Malgun Gothic"/>
                </a:rPr>
                <a:t>마이 페이지 기능</a:t>
              </a:r>
              <a:r>
                <a:rPr lang="en-US" altLang="ko-KR" sz="1399" spc="-165" dirty="0">
                  <a:latin typeface="Malgun Gothic"/>
                </a:rPr>
                <a:t>)</a:t>
              </a:r>
              <a:endParaRPr lang="ko-KR" altLang="en-US" sz="1399" dirty="0"/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B1D343B-69CD-F32D-89A2-41EE25AD2A52}"/>
              </a:ext>
            </a:extLst>
          </p:cNvPr>
          <p:cNvSpPr/>
          <p:nvPr/>
        </p:nvSpPr>
        <p:spPr>
          <a:xfrm>
            <a:off x="3759200" y="1457339"/>
            <a:ext cx="2484000" cy="396000"/>
          </a:xfrm>
          <a:prstGeom prst="rect">
            <a:avLst/>
          </a:prstGeom>
          <a:solidFill>
            <a:schemeClr val="bg1"/>
          </a:solidFill>
          <a:ln w="127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399" b="1" dirty="0">
                <a:solidFill>
                  <a:sysClr val="windowText" lastClr="000000"/>
                </a:solidFill>
              </a:rPr>
              <a:t>마이 페이지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799" y="2035919"/>
            <a:ext cx="2653777" cy="6498528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8200" y="2035919"/>
            <a:ext cx="2653777" cy="4517281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9421" y="2035919"/>
            <a:ext cx="2653777" cy="4511458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334D1C34-43DD-4045-928F-DAEBF837E889}"/>
              </a:ext>
            </a:extLst>
          </p:cNvPr>
          <p:cNvSpPr/>
          <p:nvPr/>
        </p:nvSpPr>
        <p:spPr>
          <a:xfrm>
            <a:off x="1320800" y="7801159"/>
            <a:ext cx="2653778" cy="39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800" dirty="0"/>
              <a:t>홈      탄소활동    </a:t>
            </a:r>
            <a:r>
              <a:rPr lang="en-US" altLang="ko-KR" sz="800" dirty="0"/>
              <a:t>QR</a:t>
            </a:r>
            <a:r>
              <a:rPr lang="ko-KR" altLang="en-US" sz="800" dirty="0"/>
              <a:t>이미지      뉴스            마이페이지</a:t>
            </a:r>
            <a:endParaRPr lang="en-US" altLang="ko-KR" sz="800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FA7396F-E2AC-8334-8C5C-F5B1E7D9A762}"/>
              </a:ext>
            </a:extLst>
          </p:cNvPr>
          <p:cNvGrpSpPr/>
          <p:nvPr/>
        </p:nvGrpSpPr>
        <p:grpSpPr>
          <a:xfrm>
            <a:off x="4216400" y="2286000"/>
            <a:ext cx="2667000" cy="4513585"/>
            <a:chOff x="4673600" y="2039615"/>
            <a:chExt cx="2667000" cy="4513585"/>
          </a:xfrm>
        </p:grpSpPr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73600" y="2039615"/>
              <a:ext cx="2667000" cy="4513585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A1E3383-D2E8-A238-02E7-08A68CBFEBEA}"/>
                </a:ext>
              </a:extLst>
            </p:cNvPr>
            <p:cNvSpPr/>
            <p:nvPr/>
          </p:nvSpPr>
          <p:spPr>
            <a:xfrm>
              <a:off x="4686822" y="5943600"/>
              <a:ext cx="2653778" cy="396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800" dirty="0"/>
                <a:t>홈      탄소활동    </a:t>
              </a:r>
              <a:r>
                <a:rPr lang="en-US" altLang="ko-KR" sz="800" dirty="0"/>
                <a:t>QR</a:t>
              </a:r>
              <a:r>
                <a:rPr lang="ko-KR" altLang="en-US" sz="800" dirty="0"/>
                <a:t>이미지      뉴스            마이페이지</a:t>
              </a:r>
              <a:endParaRPr lang="en-US" altLang="ko-KR" sz="800" dirty="0"/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7AAA7FB-FCA3-7396-4516-945A5728BA6F}"/>
              </a:ext>
            </a:extLst>
          </p:cNvPr>
          <p:cNvSpPr/>
          <p:nvPr/>
        </p:nvSpPr>
        <p:spPr>
          <a:xfrm>
            <a:off x="7188200" y="5928600"/>
            <a:ext cx="2653778" cy="39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800" dirty="0"/>
              <a:t>홈      탄소활동    </a:t>
            </a:r>
            <a:r>
              <a:rPr lang="en-US" altLang="ko-KR" sz="800" dirty="0"/>
              <a:t>QR</a:t>
            </a:r>
            <a:r>
              <a:rPr lang="ko-KR" altLang="en-US" sz="800" dirty="0"/>
              <a:t>이미지      뉴스            마이페이지</a:t>
            </a:r>
            <a:endParaRPr lang="en-US" altLang="ko-KR" sz="8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9A03DA1-1EFB-84EA-9E17-8AD6CFEEF03D}"/>
              </a:ext>
            </a:extLst>
          </p:cNvPr>
          <p:cNvSpPr/>
          <p:nvPr/>
        </p:nvSpPr>
        <p:spPr>
          <a:xfrm>
            <a:off x="10249422" y="5928600"/>
            <a:ext cx="2653778" cy="39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800" dirty="0"/>
              <a:t>홈      탄소활동    </a:t>
            </a:r>
            <a:r>
              <a:rPr lang="en-US" altLang="ko-KR" sz="800" dirty="0"/>
              <a:t>QR</a:t>
            </a:r>
            <a:r>
              <a:rPr lang="ko-KR" altLang="en-US" sz="800" dirty="0"/>
              <a:t>이미지      뉴스            마이페이지</a:t>
            </a:r>
            <a:endParaRPr lang="en-US" altLang="ko-KR" sz="800" dirty="0"/>
          </a:p>
        </p:txBody>
      </p:sp>
    </p:spTree>
    <p:extLst>
      <p:ext uri="{BB962C8B-B14F-4D97-AF65-F5344CB8AC3E}">
        <p14:creationId xmlns:p14="http://schemas.microsoft.com/office/powerpoint/2010/main" val="2231909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C61AB-4CE9-3383-4BA4-F169A5CC7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9D9CF4-B88A-3969-7243-B7B3BDE658B6}"/>
              </a:ext>
            </a:extLst>
          </p:cNvPr>
          <p:cNvSpPr txBox="1"/>
          <p:nvPr/>
        </p:nvSpPr>
        <p:spPr>
          <a:xfrm>
            <a:off x="787401" y="585889"/>
            <a:ext cx="2133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 smtClean="0">
                <a:solidFill>
                  <a:schemeClr val="bg1"/>
                </a:solidFill>
                <a:latin typeface="+mj-ea"/>
                <a:ea typeface="+mj-ea"/>
              </a:rPr>
              <a:t>이용약관</a:t>
            </a:r>
            <a:endParaRPr lang="ko-KR" altLang="en-US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E46620-0857-3E98-A4FC-75F1CD6326B7}"/>
              </a:ext>
            </a:extLst>
          </p:cNvPr>
          <p:cNvSpPr txBox="1"/>
          <p:nvPr/>
        </p:nvSpPr>
        <p:spPr>
          <a:xfrm>
            <a:off x="988164" y="1676400"/>
            <a:ext cx="3672000" cy="68326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r>
              <a:rPr lang="en-US" altLang="ko-KR" sz="1200" dirty="0" smtClean="0"/>
              <a:t>1.</a:t>
            </a:r>
            <a:r>
              <a:rPr lang="ko-KR" altLang="en-US" sz="1200" dirty="0" smtClean="0"/>
              <a:t>개인정보의 수집 항목 및 목적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플랫폼 운영 회사는 서비스 제공 및 사용자 관리</a:t>
            </a:r>
            <a:endParaRPr lang="en-US" altLang="ko-KR" sz="1200" dirty="0" smtClean="0"/>
          </a:p>
          <a:p>
            <a:r>
              <a:rPr lang="ko-KR" altLang="en-US" sz="1200" dirty="0" smtClean="0"/>
              <a:t>  등을 위해 다음의 정보를 수집합니다</a:t>
            </a:r>
            <a:r>
              <a:rPr lang="en-US" altLang="ko-KR" sz="1200" dirty="0" smtClean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 smtClean="0"/>
              <a:t> </a:t>
            </a:r>
            <a:r>
              <a:rPr lang="ko-KR" altLang="en-US" sz="1200" dirty="0" smtClean="0"/>
              <a:t>필수 항목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이름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전화번호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비밀번호 </a:t>
            </a:r>
            <a:endParaRPr lang="en-US" altLang="ko-KR" sz="1200" dirty="0" smtClean="0"/>
          </a:p>
          <a:p>
            <a:endParaRPr lang="en-US" altLang="ko-KR" sz="1200" dirty="0"/>
          </a:p>
          <a:p>
            <a:r>
              <a:rPr lang="en-US" altLang="ko-KR" sz="1200" dirty="0" smtClean="0"/>
              <a:t>2.</a:t>
            </a:r>
            <a:r>
              <a:rPr lang="ko-KR" altLang="en-US" sz="1200" dirty="0" smtClean="0"/>
              <a:t>개인정보의 이용 목적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플랫폼 운영과 서비스 제공에 한함</a:t>
            </a:r>
            <a:r>
              <a:rPr lang="en-US" altLang="ko-KR" sz="1200" dirty="0" smtClean="0"/>
              <a:t>.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사용자 문의 응대 및 공지사항 전달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이벤트 행사 참여와 당첨자 발표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시정 뉴스 및 환경 뉴스 제공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탄소 절감 목표 및 활동 분석</a:t>
            </a:r>
            <a:endParaRPr lang="en-US" altLang="ko-KR" sz="1200" dirty="0" smtClean="0"/>
          </a:p>
          <a:p>
            <a:endParaRPr lang="en-US" altLang="ko-KR" sz="1200" dirty="0"/>
          </a:p>
          <a:p>
            <a:r>
              <a:rPr lang="en-US" altLang="ko-KR" sz="1200" dirty="0" smtClean="0"/>
              <a:t>3.</a:t>
            </a:r>
            <a:r>
              <a:rPr lang="ko-KR" altLang="en-US" sz="1200" dirty="0" smtClean="0"/>
              <a:t>개인정보 보유 및 이용 기간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회원 탈퇴 시 즉시 모든 개인정보를 삭제 합니다</a:t>
            </a:r>
            <a:r>
              <a:rPr lang="en-US" altLang="ko-KR" sz="1200" dirty="0" smtClean="0"/>
              <a:t>.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단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관계 법령에 따라 보관이 필요한 경우 해당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ko-KR" altLang="en-US" sz="1200" dirty="0" smtClean="0"/>
              <a:t> 기간 동안 보관 합니다</a:t>
            </a:r>
            <a:r>
              <a:rPr lang="en-US" altLang="ko-KR" sz="1200" dirty="0" smtClean="0"/>
              <a:t>.</a:t>
            </a:r>
            <a:r>
              <a:rPr lang="ko-KR" altLang="en-US" sz="1200" dirty="0" smtClean="0"/>
              <a:t> </a:t>
            </a:r>
            <a:endParaRPr lang="en-US" altLang="ko-KR" sz="1200" dirty="0" smtClean="0"/>
          </a:p>
          <a:p>
            <a:endParaRPr lang="en-US" altLang="ko-KR" sz="1200" dirty="0"/>
          </a:p>
          <a:p>
            <a:r>
              <a:rPr lang="en-US" altLang="ko-KR" sz="1200" dirty="0" smtClean="0"/>
              <a:t>4.</a:t>
            </a:r>
            <a:r>
              <a:rPr lang="ko-KR" altLang="en-US" sz="1200" dirty="0" smtClean="0"/>
              <a:t>개인정보의 제</a:t>
            </a:r>
            <a:r>
              <a:rPr lang="en-US" altLang="ko-KR" sz="1200" dirty="0" smtClean="0"/>
              <a:t>3</a:t>
            </a:r>
            <a:r>
              <a:rPr lang="ko-KR" altLang="en-US" sz="1200" dirty="0" smtClean="0"/>
              <a:t>자 제공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운영 회사는 사용자의 동의 없이는 개인정보를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제</a:t>
            </a:r>
            <a:r>
              <a:rPr lang="en-US" altLang="ko-KR" sz="1200" dirty="0" smtClean="0"/>
              <a:t>3</a:t>
            </a:r>
            <a:r>
              <a:rPr lang="ko-KR" altLang="en-US" sz="1200" dirty="0" smtClean="0"/>
              <a:t>자에게 제공하지 않습니다</a:t>
            </a:r>
            <a:r>
              <a:rPr lang="en-US" altLang="ko-KR" sz="1200" dirty="0" smtClean="0"/>
              <a:t>. </a:t>
            </a:r>
          </a:p>
          <a:p>
            <a:endParaRPr lang="en-US" altLang="ko-KR" sz="1200" dirty="0"/>
          </a:p>
          <a:p>
            <a:r>
              <a:rPr lang="en-US" altLang="ko-KR" sz="1200" dirty="0" smtClean="0"/>
              <a:t>5.</a:t>
            </a:r>
            <a:r>
              <a:rPr lang="ko-KR" altLang="en-US" sz="1200" dirty="0" smtClean="0"/>
              <a:t>개인정보 처리 위탁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운영 회사는 서비스 운영을 위해 개인정보 처리를</a:t>
            </a:r>
            <a:endParaRPr lang="en-US" altLang="ko-KR" sz="1200" dirty="0" smtClean="0"/>
          </a:p>
          <a:p>
            <a:r>
              <a:rPr lang="en-US" altLang="ko-KR" sz="1200" dirty="0" smtClean="0"/>
              <a:t> </a:t>
            </a:r>
            <a:r>
              <a:rPr lang="ko-KR" altLang="en-US" sz="1200" dirty="0" smtClean="0"/>
              <a:t> 타 업체에 위탁할 수 있으며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위탁 시 사용자에게</a:t>
            </a:r>
            <a:endParaRPr lang="en-US" altLang="ko-KR" sz="1200" dirty="0" smtClean="0"/>
          </a:p>
          <a:p>
            <a:r>
              <a:rPr lang="en-US" altLang="ko-KR" sz="1200" dirty="0" smtClean="0"/>
              <a:t> </a:t>
            </a:r>
            <a:r>
              <a:rPr lang="ko-KR" altLang="en-US" sz="1200" dirty="0" smtClean="0"/>
              <a:t> 사전 통지 합니다</a:t>
            </a:r>
            <a:r>
              <a:rPr lang="en-US" altLang="ko-KR" sz="1200" dirty="0" smtClean="0"/>
              <a:t>.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E46620-0857-3E98-A4FC-75F1CD6326B7}"/>
              </a:ext>
            </a:extLst>
          </p:cNvPr>
          <p:cNvSpPr txBox="1"/>
          <p:nvPr/>
        </p:nvSpPr>
        <p:spPr>
          <a:xfrm>
            <a:off x="5002582" y="1674312"/>
            <a:ext cx="3672000" cy="68326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제</a:t>
            </a:r>
            <a:r>
              <a:rPr lang="en-US" altLang="ko-KR" sz="1200" dirty="0" smtClean="0"/>
              <a:t>1</a:t>
            </a:r>
            <a:r>
              <a:rPr lang="ko-KR" altLang="en-US" sz="1200" dirty="0" smtClean="0"/>
              <a:t>조 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목적</a:t>
            </a:r>
            <a:r>
              <a:rPr lang="en-US" altLang="ko-KR" sz="1200" dirty="0" smtClean="0"/>
              <a:t>)</a:t>
            </a:r>
          </a:p>
          <a:p>
            <a:r>
              <a:rPr lang="ko-KR" altLang="en-US" sz="1200" dirty="0" smtClean="0"/>
              <a:t>이 약관은 올바른 원산지 실천 협회와 탄소 뱅크가 제공하는 서비스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이하 </a:t>
            </a:r>
            <a:r>
              <a:rPr lang="en-US" altLang="ko-KR" sz="1200" dirty="0" smtClean="0"/>
              <a:t>“</a:t>
            </a:r>
            <a:r>
              <a:rPr lang="ko-KR" altLang="en-US" sz="1200" dirty="0" smtClean="0"/>
              <a:t>서비스</a:t>
            </a:r>
            <a:r>
              <a:rPr lang="en-US" altLang="ko-KR" sz="1200" dirty="0" smtClean="0"/>
              <a:t>＂</a:t>
            </a:r>
            <a:r>
              <a:rPr lang="ko-KR" altLang="en-US" sz="1200" dirty="0" smtClean="0"/>
              <a:t>라 함</a:t>
            </a:r>
            <a:r>
              <a:rPr lang="en-US" altLang="ko-KR" sz="1200" dirty="0" smtClean="0"/>
              <a:t>)</a:t>
            </a:r>
            <a:r>
              <a:rPr lang="ko-KR" altLang="en-US" sz="1200" dirty="0" smtClean="0"/>
              <a:t>를 사용함에 있어 회사와 회원 간의 권리</a:t>
            </a:r>
            <a:r>
              <a:rPr lang="en-US" altLang="ko-KR" sz="1200" dirty="0"/>
              <a:t> </a:t>
            </a:r>
            <a:r>
              <a:rPr lang="ko-KR" altLang="en-US" sz="1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▪ </a:t>
            </a:r>
            <a:r>
              <a:rPr lang="ko-KR" altLang="en-US" sz="1200" dirty="0" smtClean="0"/>
              <a:t>의무와 책임사항 및 기타 필요한 사항을 규정함을 목적으로 한다</a:t>
            </a:r>
            <a:r>
              <a:rPr lang="en-US" altLang="ko-KR" sz="1200" dirty="0" smtClean="0"/>
              <a:t>.</a:t>
            </a:r>
            <a:r>
              <a:rPr lang="ko-KR" altLang="en-US" sz="1200" dirty="0" smtClean="0"/>
              <a:t>   </a:t>
            </a:r>
            <a:endParaRPr lang="en-US" altLang="ko-KR" sz="1200" dirty="0" smtClean="0"/>
          </a:p>
          <a:p>
            <a:endParaRPr lang="en-US" altLang="ko-KR" sz="1200" dirty="0"/>
          </a:p>
          <a:p>
            <a:r>
              <a:rPr lang="ko-KR" altLang="en-US" sz="1200" dirty="0" smtClean="0"/>
              <a:t>제</a:t>
            </a:r>
            <a:r>
              <a:rPr lang="en-US" altLang="ko-KR" sz="1200" dirty="0" smtClean="0"/>
              <a:t>2</a:t>
            </a:r>
            <a:r>
              <a:rPr lang="ko-KR" altLang="en-US" sz="1200" dirty="0" smtClean="0"/>
              <a:t>조 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용어의 정의</a:t>
            </a:r>
            <a:r>
              <a:rPr lang="en-US" altLang="ko-KR" sz="1200" dirty="0" smtClean="0"/>
              <a:t>)</a:t>
            </a:r>
          </a:p>
          <a:p>
            <a:r>
              <a:rPr lang="en-US" altLang="ko-KR" sz="1200" dirty="0" smtClean="0"/>
              <a:t>“</a:t>
            </a:r>
            <a:r>
              <a:rPr lang="ko-KR" altLang="en-US" sz="1200" dirty="0" smtClean="0"/>
              <a:t>회원</a:t>
            </a:r>
            <a:r>
              <a:rPr lang="en-US" altLang="ko-KR" sz="1200" dirty="0" smtClean="0"/>
              <a:t>＂</a:t>
            </a:r>
            <a:r>
              <a:rPr lang="ko-KR" altLang="en-US" sz="1200" dirty="0" smtClean="0"/>
              <a:t>이란 본 약관에 동의하며 서비스를 사용하는 개인 또는 단체를 의미 한다</a:t>
            </a:r>
            <a:r>
              <a:rPr lang="en-US" altLang="ko-KR" sz="1200" dirty="0" smtClean="0"/>
              <a:t>.</a:t>
            </a:r>
          </a:p>
          <a:p>
            <a:r>
              <a:rPr lang="en-US" altLang="ko-KR" sz="1200" dirty="0" smtClean="0"/>
              <a:t>“</a:t>
            </a:r>
            <a:r>
              <a:rPr lang="ko-KR" altLang="en-US" sz="1200" dirty="0" smtClean="0"/>
              <a:t>서비스</a:t>
            </a:r>
            <a:r>
              <a:rPr lang="en-US" altLang="ko-KR" sz="1200" dirty="0" smtClean="0"/>
              <a:t>＂</a:t>
            </a:r>
            <a:r>
              <a:rPr lang="ko-KR" altLang="en-US" sz="1200" dirty="0" smtClean="0"/>
              <a:t>란 탄소 뱅크 앱을 </a:t>
            </a:r>
            <a:r>
              <a:rPr lang="en-US" altLang="ko-KR" sz="1200" dirty="0" smtClean="0"/>
              <a:t>PC</a:t>
            </a:r>
            <a:r>
              <a:rPr lang="ko-KR" altLang="en-US" sz="1200" dirty="0" smtClean="0"/>
              <a:t>나</a:t>
            </a:r>
            <a:r>
              <a:rPr lang="en-US" altLang="ko-KR" sz="1200" dirty="0" smtClean="0"/>
              <a:t>,</a:t>
            </a:r>
            <a:r>
              <a:rPr lang="ko-KR" altLang="en-US" sz="1200" dirty="0" smtClean="0"/>
              <a:t>스마트폰에 설치하여 탄소 절감  및 기록을 관리하는 플랫폼을 말한다</a:t>
            </a:r>
            <a:r>
              <a:rPr lang="en-US" altLang="ko-KR" sz="1200" dirty="0" smtClean="0"/>
              <a:t>.</a:t>
            </a:r>
          </a:p>
          <a:p>
            <a:endParaRPr lang="en-US" altLang="ko-KR" sz="1200" dirty="0"/>
          </a:p>
          <a:p>
            <a:r>
              <a:rPr lang="ko-KR" altLang="en-US" sz="1200" dirty="0" smtClean="0"/>
              <a:t>제</a:t>
            </a:r>
            <a:r>
              <a:rPr lang="en-US" altLang="ko-KR" sz="1200" dirty="0" smtClean="0"/>
              <a:t>3</a:t>
            </a:r>
            <a:r>
              <a:rPr lang="ko-KR" altLang="en-US" sz="1200" dirty="0" smtClean="0"/>
              <a:t>조 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약관 동의 및 변경</a:t>
            </a:r>
            <a:r>
              <a:rPr lang="en-US" altLang="ko-KR" sz="1200" dirty="0" smtClean="0"/>
              <a:t>)</a:t>
            </a:r>
          </a:p>
          <a:p>
            <a:r>
              <a:rPr lang="ko-KR" altLang="en-US" sz="1200" dirty="0" smtClean="0"/>
              <a:t>회원은 본 약관에 동의하고 서비스를 사용하며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회사는 필요 시 약관을 변경할 수 있으며 변경된 약관은 공지 후 효력이 발생한다</a:t>
            </a:r>
            <a:r>
              <a:rPr lang="en-US" altLang="ko-KR" sz="1200" dirty="0" smtClean="0"/>
              <a:t>.</a:t>
            </a:r>
          </a:p>
          <a:p>
            <a:endParaRPr lang="en-US" altLang="ko-KR" sz="1200" dirty="0"/>
          </a:p>
          <a:p>
            <a:r>
              <a:rPr lang="ko-KR" altLang="en-US" sz="1200" dirty="0" smtClean="0"/>
              <a:t>제</a:t>
            </a:r>
            <a:r>
              <a:rPr lang="en-US" altLang="ko-KR" sz="1200" dirty="0" smtClean="0"/>
              <a:t>4</a:t>
            </a:r>
            <a:r>
              <a:rPr lang="ko-KR" altLang="en-US" sz="1200" dirty="0" smtClean="0"/>
              <a:t>조 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서비스 이용</a:t>
            </a:r>
            <a:r>
              <a:rPr lang="en-US" altLang="ko-KR" sz="1200" dirty="0" smtClean="0"/>
              <a:t>)</a:t>
            </a:r>
          </a:p>
          <a:p>
            <a:r>
              <a:rPr lang="ko-KR" altLang="en-US" sz="1200" dirty="0" smtClean="0"/>
              <a:t>본 서비스는 회원이 탄소 절감 활동의 기록과 일상 생활에서 탄소 절감 실천 운동을 지속적으로 할 수 있도록 지원하며 환경운동에 대한 전 과정을 플랫폼 에서 확인 및 평가가 가능한 서비스 이다</a:t>
            </a:r>
            <a:r>
              <a:rPr lang="en-US" altLang="ko-KR" sz="1200" dirty="0" smtClean="0"/>
              <a:t>.</a:t>
            </a:r>
          </a:p>
          <a:p>
            <a:endParaRPr lang="en-US" altLang="ko-KR" sz="1200" dirty="0"/>
          </a:p>
          <a:p>
            <a:r>
              <a:rPr lang="ko-KR" altLang="en-US" sz="1200" dirty="0" smtClean="0"/>
              <a:t>제</a:t>
            </a:r>
            <a:r>
              <a:rPr lang="en-US" altLang="ko-KR" sz="1200" dirty="0"/>
              <a:t>5</a:t>
            </a:r>
            <a:r>
              <a:rPr lang="ko-KR" altLang="en-US" sz="1200" dirty="0" smtClean="0"/>
              <a:t>조 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사용자의 의무</a:t>
            </a:r>
            <a:r>
              <a:rPr lang="en-US" altLang="ko-KR" sz="1200" dirty="0" smtClean="0"/>
              <a:t>)</a:t>
            </a:r>
          </a:p>
          <a:p>
            <a:r>
              <a:rPr lang="ko-KR" altLang="en-US" sz="1200" dirty="0" smtClean="0"/>
              <a:t>사용자는 서비스 이용 시 법령 및 공공질서를 준수하며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타인의 정보를 도용하거나 부정한 방법으로 서비스를 사용해서는 안 된다</a:t>
            </a:r>
            <a:r>
              <a:rPr lang="en-US" altLang="ko-KR" sz="1200" dirty="0" smtClean="0"/>
              <a:t>.</a:t>
            </a:r>
          </a:p>
          <a:p>
            <a:endParaRPr lang="en-US" altLang="ko-KR" sz="1200" dirty="0" smtClean="0"/>
          </a:p>
          <a:p>
            <a:r>
              <a:rPr lang="ko-KR" altLang="en-US" sz="1200" dirty="0" smtClean="0"/>
              <a:t>제</a:t>
            </a:r>
            <a:r>
              <a:rPr lang="en-US" altLang="ko-KR" sz="1200" dirty="0"/>
              <a:t>6</a:t>
            </a:r>
            <a:r>
              <a:rPr lang="ko-KR" altLang="en-US" sz="1200" dirty="0" smtClean="0"/>
              <a:t>조 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서비스 제공의 중단</a:t>
            </a:r>
            <a:r>
              <a:rPr lang="en-US" altLang="ko-KR" sz="1200" dirty="0" smtClean="0"/>
              <a:t>)</a:t>
            </a:r>
          </a:p>
          <a:p>
            <a:r>
              <a:rPr lang="ko-KR" altLang="en-US" sz="1200" dirty="0" smtClean="0"/>
              <a:t>회사는 시스템 점검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유지보수 등의 사유로 인해 한시적으로 서비스 제공을 중단 할 수 있다</a:t>
            </a:r>
            <a:r>
              <a:rPr lang="en-US" altLang="ko-KR" sz="1200" dirty="0" smtClean="0"/>
              <a:t>.</a:t>
            </a:r>
            <a:r>
              <a:rPr lang="ko-KR" altLang="en-US" sz="1200" dirty="0" smtClean="0"/>
              <a:t> </a:t>
            </a:r>
            <a:endParaRPr lang="en-US" altLang="ko-KR" sz="1200" dirty="0" smtClean="0"/>
          </a:p>
          <a:p>
            <a:endParaRPr lang="en-US" altLang="ko-KR" sz="1200" dirty="0" smtClean="0"/>
          </a:p>
          <a:p>
            <a:endParaRPr lang="en-US" altLang="ko-KR" sz="1200" dirty="0" smtClean="0"/>
          </a:p>
          <a:p>
            <a:endParaRPr lang="en-US" altLang="ko-KR" sz="1200" dirty="0"/>
          </a:p>
          <a:p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E46620-0857-3E98-A4FC-75F1CD6326B7}"/>
              </a:ext>
            </a:extLst>
          </p:cNvPr>
          <p:cNvSpPr txBox="1"/>
          <p:nvPr/>
        </p:nvSpPr>
        <p:spPr>
          <a:xfrm>
            <a:off x="9017000" y="1676400"/>
            <a:ext cx="3672000" cy="60939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altLang="ko-KR" sz="1200" dirty="0" smtClean="0"/>
          </a:p>
          <a:p>
            <a:r>
              <a:rPr lang="ko-KR" altLang="en-US" sz="1200" dirty="0" smtClean="0"/>
              <a:t>제</a:t>
            </a:r>
            <a:r>
              <a:rPr lang="en-US" altLang="ko-KR" sz="1200" dirty="0"/>
              <a:t>7</a:t>
            </a:r>
            <a:r>
              <a:rPr lang="ko-KR" altLang="en-US" sz="1200" dirty="0" smtClean="0"/>
              <a:t>조 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링크사이트에 대한 책임</a:t>
            </a:r>
            <a:r>
              <a:rPr lang="en-US" altLang="ko-KR" sz="1200" dirty="0" smtClean="0"/>
              <a:t>)</a:t>
            </a:r>
          </a:p>
          <a:p>
            <a:r>
              <a:rPr lang="ko-KR" altLang="en-US" sz="1200" dirty="0" smtClean="0"/>
              <a:t>회사는 회원에게 다른 사이트 링크를 제공할 수 있다</a:t>
            </a:r>
            <a:r>
              <a:rPr lang="en-US" altLang="ko-KR" sz="1200" dirty="0" smtClean="0"/>
              <a:t>. </a:t>
            </a:r>
            <a:r>
              <a:rPr lang="ko-KR" altLang="en-US" sz="1200" dirty="0" smtClean="0"/>
              <a:t>이 경우 회사는 외부 사이트에 대한 아무런 통제권이 없으므로 그로부터 제공받은 서비스나 정보의 정확성 또는 유용성 등에 대해 책임지지 아니하며 이는 회사의 개인정보보호정책이 적용되지 않는다</a:t>
            </a:r>
            <a:r>
              <a:rPr lang="en-US" altLang="ko-KR" sz="1200" dirty="0" smtClean="0"/>
              <a:t>.</a:t>
            </a:r>
          </a:p>
          <a:p>
            <a:r>
              <a:rPr lang="ko-KR" altLang="en-US" sz="1200" dirty="0" smtClean="0"/>
              <a:t>또한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이와 관련하여 발생하거나 발생되었다고 주장하는 어떠한 손실에 대하여도 회사에 책임이 없음을 인정하고 동의하며 서비스 사용을 하기로 한다</a:t>
            </a:r>
            <a:r>
              <a:rPr lang="en-US" altLang="ko-KR" sz="1200" dirty="0" smtClean="0"/>
              <a:t>.</a:t>
            </a:r>
            <a:r>
              <a:rPr lang="ko-KR" altLang="en-US" sz="1200" dirty="0" smtClean="0"/>
              <a:t> </a:t>
            </a:r>
            <a:endParaRPr lang="en-US" altLang="ko-KR" sz="1200" dirty="0" smtClean="0"/>
          </a:p>
          <a:p>
            <a:endParaRPr lang="en-US" altLang="ko-KR" sz="1200" dirty="0" smtClean="0"/>
          </a:p>
          <a:p>
            <a:r>
              <a:rPr lang="ko-KR" altLang="en-US" sz="1200" dirty="0" smtClean="0"/>
              <a:t>제</a:t>
            </a:r>
            <a:r>
              <a:rPr lang="en-US" altLang="ko-KR" sz="1200" dirty="0"/>
              <a:t>8</a:t>
            </a:r>
            <a:r>
              <a:rPr lang="ko-KR" altLang="en-US" sz="1200" dirty="0" smtClean="0"/>
              <a:t>조 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면책 조항</a:t>
            </a:r>
            <a:r>
              <a:rPr lang="en-US" altLang="ko-KR" sz="1200" dirty="0" smtClean="0"/>
              <a:t>)</a:t>
            </a:r>
          </a:p>
          <a:p>
            <a:r>
              <a:rPr lang="ko-KR" altLang="en-US" sz="1200" dirty="0" smtClean="0"/>
              <a:t>회사는 서비스 사용과 관련하여 회원의 부주의로 발생한 문제와 그로 인해 발생한 손해에 대해 책임 지지 않기로 한다</a:t>
            </a:r>
            <a:r>
              <a:rPr lang="en-US" altLang="ko-KR" sz="1200" dirty="0" smtClean="0"/>
              <a:t>.</a:t>
            </a:r>
            <a:r>
              <a:rPr lang="ko-KR" altLang="en-US" sz="1200" dirty="0" smtClean="0"/>
              <a:t> </a:t>
            </a:r>
            <a:endParaRPr lang="en-US" altLang="ko-KR" sz="1200" dirty="0" smtClean="0"/>
          </a:p>
          <a:p>
            <a:endParaRPr lang="en-US" altLang="ko-KR" sz="1200" dirty="0" smtClean="0"/>
          </a:p>
          <a:p>
            <a:r>
              <a:rPr lang="ko-KR" altLang="en-US" sz="1200" dirty="0" smtClean="0"/>
              <a:t>부칙 제</a:t>
            </a:r>
            <a:r>
              <a:rPr lang="en-US" altLang="ko-KR" sz="1200" dirty="0" smtClean="0"/>
              <a:t>1</a:t>
            </a:r>
            <a:r>
              <a:rPr lang="ko-KR" altLang="en-US" sz="1200" dirty="0" smtClean="0"/>
              <a:t>조 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적용일자</a:t>
            </a:r>
            <a:r>
              <a:rPr lang="en-US" altLang="ko-KR" sz="1200" dirty="0" smtClean="0"/>
              <a:t>)</a:t>
            </a:r>
          </a:p>
          <a:p>
            <a:r>
              <a:rPr lang="en-US" altLang="ko-KR" sz="1200" dirty="0" smtClean="0"/>
              <a:t>1.</a:t>
            </a:r>
            <a:r>
              <a:rPr lang="ko-KR" altLang="en-US" sz="1200" dirty="0" smtClean="0"/>
              <a:t>이 약관은 </a:t>
            </a:r>
            <a:r>
              <a:rPr lang="en-US" altLang="ko-KR" sz="1200" dirty="0" smtClean="0"/>
              <a:t>2025</a:t>
            </a:r>
            <a:r>
              <a:rPr lang="ko-KR" altLang="en-US" sz="1200" dirty="0" smtClean="0"/>
              <a:t>년 </a:t>
            </a:r>
            <a:r>
              <a:rPr lang="en-US" altLang="ko-KR" sz="1200" dirty="0" smtClean="0"/>
              <a:t>06</a:t>
            </a:r>
            <a:r>
              <a:rPr lang="ko-KR" altLang="en-US" sz="1200" dirty="0" smtClean="0"/>
              <a:t>월 </a:t>
            </a:r>
            <a:r>
              <a:rPr lang="en-US" altLang="ko-KR" sz="1200" dirty="0" smtClean="0"/>
              <a:t>15</a:t>
            </a:r>
            <a:r>
              <a:rPr lang="ko-KR" altLang="en-US" sz="1200" dirty="0" smtClean="0"/>
              <a:t>일부터 시행된다</a:t>
            </a:r>
            <a:r>
              <a:rPr lang="en-US" altLang="ko-KR" sz="1200" dirty="0" smtClean="0"/>
              <a:t>.</a:t>
            </a:r>
            <a:endParaRPr lang="en-US" altLang="ko-KR" sz="1800" dirty="0" smtClean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 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988164" y="1184996"/>
            <a:ext cx="3672000" cy="410658"/>
          </a:xfrm>
          <a:prstGeom prst="rect">
            <a:avLst/>
          </a:prstGeom>
          <a:solidFill>
            <a:schemeClr val="bg1"/>
          </a:solidFill>
          <a:ln w="127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294" tIns="32147" rIns="64294" bIns="321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b="1" dirty="0" smtClean="0">
                <a:solidFill>
                  <a:sysClr val="windowText" lastClr="000000"/>
                </a:solidFill>
              </a:rPr>
              <a:t>개인정보 수집 및 이용 동의 </a:t>
            </a:r>
            <a:r>
              <a:rPr lang="en-US" altLang="ko-KR" sz="1100" b="1" dirty="0" smtClean="0">
                <a:solidFill>
                  <a:sysClr val="windowText" lastClr="000000"/>
                </a:solidFill>
              </a:rPr>
              <a:t>(</a:t>
            </a:r>
            <a:r>
              <a:rPr lang="ko-KR" altLang="en-US" sz="1100" b="1" dirty="0" smtClean="0">
                <a:solidFill>
                  <a:sysClr val="windowText" lastClr="000000"/>
                </a:solidFill>
              </a:rPr>
              <a:t>필수</a:t>
            </a:r>
            <a:r>
              <a:rPr lang="en-US" altLang="ko-KR" sz="1100" b="1" dirty="0" smtClean="0">
                <a:solidFill>
                  <a:sysClr val="windowText" lastClr="000000"/>
                </a:solidFill>
              </a:rPr>
              <a:t>) 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5002582" y="1184996"/>
            <a:ext cx="3672000" cy="410658"/>
          </a:xfrm>
          <a:prstGeom prst="rect">
            <a:avLst/>
          </a:prstGeom>
          <a:solidFill>
            <a:schemeClr val="bg1"/>
          </a:solidFill>
          <a:ln w="127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294" tIns="32147" rIns="64294" bIns="321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b="1" dirty="0" smtClean="0">
                <a:solidFill>
                  <a:sysClr val="windowText" lastClr="000000"/>
                </a:solidFill>
              </a:rPr>
              <a:t>서비스 이용약관 </a:t>
            </a:r>
            <a:r>
              <a:rPr lang="en-US" altLang="ko-KR" sz="1100" b="1" dirty="0" smtClean="0">
                <a:solidFill>
                  <a:sysClr val="windowText" lastClr="000000"/>
                </a:solidFill>
              </a:rPr>
              <a:t>(</a:t>
            </a:r>
            <a:r>
              <a:rPr lang="ko-KR" altLang="en-US" sz="1100" b="1" dirty="0" smtClean="0">
                <a:solidFill>
                  <a:sysClr val="windowText" lastClr="000000"/>
                </a:solidFill>
              </a:rPr>
              <a:t>필수</a:t>
            </a:r>
            <a:r>
              <a:rPr lang="en-US" altLang="ko-KR" sz="1100" b="1" dirty="0" smtClean="0">
                <a:solidFill>
                  <a:sysClr val="windowText" lastClr="000000"/>
                </a:solidFill>
              </a:rPr>
              <a:t>) 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D41A8C4-520C-1A5C-2C3C-89FC15866246}"/>
              </a:ext>
            </a:extLst>
          </p:cNvPr>
          <p:cNvSpPr/>
          <p:nvPr/>
        </p:nvSpPr>
        <p:spPr>
          <a:xfrm>
            <a:off x="3606800" y="7755837"/>
            <a:ext cx="651702" cy="39756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b="1" dirty="0" smtClean="0"/>
              <a:t>  확 인</a:t>
            </a:r>
            <a:endParaRPr lang="en-US" altLang="ko-KR" sz="1200" b="1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D41A8C4-520C-1A5C-2C3C-89FC15866246}"/>
              </a:ext>
            </a:extLst>
          </p:cNvPr>
          <p:cNvSpPr/>
          <p:nvPr/>
        </p:nvSpPr>
        <p:spPr>
          <a:xfrm>
            <a:off x="11531600" y="5791200"/>
            <a:ext cx="651702" cy="39756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b="1" dirty="0" smtClean="0"/>
              <a:t>  확 인</a:t>
            </a:r>
            <a:endParaRPr lang="en-US" altLang="ko-KR" sz="1200" b="1" dirty="0"/>
          </a:p>
        </p:txBody>
      </p:sp>
    </p:spTree>
    <p:extLst>
      <p:ext uri="{BB962C8B-B14F-4D97-AF65-F5344CB8AC3E}">
        <p14:creationId xmlns:p14="http://schemas.microsoft.com/office/powerpoint/2010/main" val="23218060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39218-06C3-CCE7-C897-BFF962A5F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38C99CAA-03EB-8B65-64D1-79FAE88FFFF5}"/>
              </a:ext>
            </a:extLst>
          </p:cNvPr>
          <p:cNvGrpSpPr/>
          <p:nvPr/>
        </p:nvGrpSpPr>
        <p:grpSpPr>
          <a:xfrm>
            <a:off x="787401" y="585889"/>
            <a:ext cx="9296400" cy="492315"/>
            <a:chOff x="787400" y="585887"/>
            <a:chExt cx="9296400" cy="49231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FE0D708-A483-7677-53E6-67780746A91D}"/>
                </a:ext>
              </a:extLst>
            </p:cNvPr>
            <p:cNvSpPr txBox="1"/>
            <p:nvPr/>
          </p:nvSpPr>
          <p:spPr>
            <a:xfrm>
              <a:off x="787400" y="585887"/>
              <a:ext cx="2133599" cy="369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앱 화면 </a:t>
              </a:r>
              <a:r>
                <a:rPr kumimoji="0" lang="en-US" altLang="ko-KR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#03</a:t>
              </a:r>
              <a:endPara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1D0A417-A0E7-61D1-396B-ABF6E4A81AFF}"/>
                </a:ext>
              </a:extLst>
            </p:cNvPr>
            <p:cNvSpPr txBox="1"/>
            <p:nvPr/>
          </p:nvSpPr>
          <p:spPr>
            <a:xfrm>
              <a:off x="3073400" y="770553"/>
              <a:ext cx="7010400" cy="3076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99" b="0" i="0" u="none" strike="noStrike" kern="0" cap="none" spc="-165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Malgun Gothic"/>
                </a:rPr>
                <a:t>회원</a:t>
              </a:r>
              <a:r>
                <a:rPr kumimoji="0" lang="en-US" altLang="ko-KR" sz="1399" b="0" i="0" u="none" strike="noStrike" kern="0" cap="none" spc="-165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Malgun Gothic"/>
                </a:rPr>
                <a:t>APP- </a:t>
              </a:r>
              <a:r>
                <a:rPr kumimoji="0" lang="ko-KR" altLang="en-US" sz="1399" b="0" i="0" u="none" strike="noStrike" kern="0" cap="none" spc="-165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Malgun Gothic"/>
                </a:rPr>
                <a:t>상단 메뉴 </a:t>
              </a:r>
              <a:r>
                <a:rPr kumimoji="0" lang="en-US" altLang="ko-KR" sz="1399" b="0" i="0" u="none" strike="noStrike" kern="0" cap="none" spc="-165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Malgun Gothic"/>
                </a:rPr>
                <a:t>(</a:t>
              </a:r>
              <a:r>
                <a:rPr kumimoji="0" lang="ko-KR" altLang="en-US" sz="1399" b="0" i="0" u="none" strike="noStrike" kern="0" cap="none" spc="-165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Malgun Gothic"/>
                </a:rPr>
                <a:t>알림</a:t>
              </a:r>
              <a:r>
                <a:rPr kumimoji="0" lang="en-US" altLang="ko-KR" sz="1399" b="0" i="0" u="none" strike="noStrike" kern="0" cap="none" spc="-165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Malgun Gothic"/>
                </a:rPr>
                <a:t>/ </a:t>
              </a:r>
              <a:r>
                <a:rPr kumimoji="0" lang="ko-KR" altLang="en-US" sz="1399" b="0" i="0" u="none" strike="noStrike" kern="0" cap="none" spc="-165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Malgun Gothic"/>
                </a:rPr>
                <a:t>메뉴 기능</a:t>
              </a:r>
              <a:r>
                <a:rPr kumimoji="0" lang="en-US" altLang="ko-KR" sz="1399" b="0" i="0" u="none" strike="noStrike" kern="0" cap="none" spc="-165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Malgun Gothic"/>
                </a:rPr>
                <a:t>)</a:t>
              </a:r>
              <a:endParaRPr kumimoji="0" lang="ko-KR" altLang="en-US" sz="1399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3911600" y="1545727"/>
            <a:ext cx="3569577" cy="7124979"/>
            <a:chOff x="8501774" y="1600201"/>
            <a:chExt cx="3569577" cy="7124979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B1D343B-69CD-F32D-89A2-41EE25AD2A52}"/>
                </a:ext>
              </a:extLst>
            </p:cNvPr>
            <p:cNvSpPr/>
            <p:nvPr/>
          </p:nvSpPr>
          <p:spPr>
            <a:xfrm>
              <a:off x="8947400" y="8232599"/>
              <a:ext cx="3117601" cy="49258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E5E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99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알림</a:t>
              </a:r>
              <a:r>
                <a:rPr kumimoji="0" lang="en-US" altLang="ko-KR" sz="1399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/ </a:t>
              </a:r>
              <a:r>
                <a:rPr kumimoji="0" lang="ko-KR" altLang="en-US" sz="1399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메뉴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B42F663-BCE4-3BAF-C5FA-00ACF4B8609B}"/>
                </a:ext>
              </a:extLst>
            </p:cNvPr>
            <p:cNvSpPr/>
            <p:nvPr/>
          </p:nvSpPr>
          <p:spPr>
            <a:xfrm>
              <a:off x="8945654" y="1600201"/>
              <a:ext cx="3119347" cy="487659"/>
            </a:xfrm>
            <a:prstGeom prst="rect">
              <a:avLst/>
            </a:prstGeom>
            <a:noFill/>
            <a:ln w="12700">
              <a:solidFill>
                <a:srgbClr val="D5D5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5874B8F-BAF8-2EAE-29D9-C632C3243FC7}"/>
                </a:ext>
              </a:extLst>
            </p:cNvPr>
            <p:cNvSpPr/>
            <p:nvPr/>
          </p:nvSpPr>
          <p:spPr>
            <a:xfrm>
              <a:off x="8953750" y="1600201"/>
              <a:ext cx="3117601" cy="6480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6" name="Chevron Down">
              <a:extLst>
                <a:ext uri="{FF2B5EF4-FFF2-40B4-BE49-F238E27FC236}">
                  <a16:creationId xmlns:a16="http://schemas.microsoft.com/office/drawing/2014/main" id="{F777E694-E4A3-CFB0-4235-D8FFA30F1E4E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8474489" y="4385073"/>
              <a:ext cx="121116" cy="66546"/>
            </a:xfrm>
            <a:custGeom>
              <a:avLst/>
              <a:gdLst>
                <a:gd name="T0" fmla="*/ 594 w 594"/>
                <a:gd name="T1" fmla="*/ 27 h 324"/>
                <a:gd name="T2" fmla="*/ 566 w 594"/>
                <a:gd name="T3" fmla="*/ 0 h 324"/>
                <a:gd name="T4" fmla="*/ 297 w 594"/>
                <a:gd name="T5" fmla="*/ 268 h 324"/>
                <a:gd name="T6" fmla="*/ 28 w 594"/>
                <a:gd name="T7" fmla="*/ 0 h 324"/>
                <a:gd name="T8" fmla="*/ 0 w 594"/>
                <a:gd name="T9" fmla="*/ 27 h 324"/>
                <a:gd name="T10" fmla="*/ 297 w 594"/>
                <a:gd name="T11" fmla="*/ 324 h 324"/>
                <a:gd name="T12" fmla="*/ 594 w 594"/>
                <a:gd name="T13" fmla="*/ 27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4" h="324">
                  <a:moveTo>
                    <a:pt x="594" y="27"/>
                  </a:moveTo>
                  <a:lnTo>
                    <a:pt x="566" y="0"/>
                  </a:lnTo>
                  <a:lnTo>
                    <a:pt x="297" y="268"/>
                  </a:lnTo>
                  <a:lnTo>
                    <a:pt x="28" y="0"/>
                  </a:lnTo>
                  <a:lnTo>
                    <a:pt x="0" y="27"/>
                  </a:lnTo>
                  <a:lnTo>
                    <a:pt x="297" y="324"/>
                  </a:lnTo>
                  <a:lnTo>
                    <a:pt x="594" y="27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pic>
        <p:nvPicPr>
          <p:cNvPr id="100" name="그림 99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45000" y="1621200"/>
            <a:ext cx="323775" cy="360000"/>
          </a:xfrm>
          <a:prstGeom prst="rect">
            <a:avLst/>
          </a:prstGeom>
        </p:spPr>
      </p:pic>
      <p:grpSp>
        <p:nvGrpSpPr>
          <p:cNvPr id="48" name="그룹 47"/>
          <p:cNvGrpSpPr/>
          <p:nvPr/>
        </p:nvGrpSpPr>
        <p:grpSpPr>
          <a:xfrm>
            <a:off x="4445000" y="2200342"/>
            <a:ext cx="303019" cy="238058"/>
            <a:chOff x="-303020" y="2353942"/>
            <a:chExt cx="511175" cy="317878"/>
          </a:xfrm>
        </p:grpSpPr>
        <p:sp>
          <p:nvSpPr>
            <p:cNvPr id="49" name="직사각형 48"/>
            <p:cNvSpPr/>
            <p:nvPr/>
          </p:nvSpPr>
          <p:spPr>
            <a:xfrm>
              <a:off x="-299845" y="2353942"/>
              <a:ext cx="508000" cy="72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-303020" y="2474471"/>
              <a:ext cx="508000" cy="72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-303020" y="2599820"/>
              <a:ext cx="508000" cy="72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DB42F663-BCE4-3BAF-C5FA-00ACF4B8609B}"/>
              </a:ext>
            </a:extLst>
          </p:cNvPr>
          <p:cNvSpPr/>
          <p:nvPr/>
        </p:nvSpPr>
        <p:spPr>
          <a:xfrm>
            <a:off x="4369926" y="2038405"/>
            <a:ext cx="3119347" cy="487659"/>
          </a:xfrm>
          <a:prstGeom prst="rect">
            <a:avLst/>
          </a:prstGeom>
          <a:noFill/>
          <a:ln w="12700">
            <a:solidFill>
              <a:srgbClr val="D5D5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1D0A417-A0E7-61D1-396B-ABF6E4A81AFF}"/>
              </a:ext>
            </a:extLst>
          </p:cNvPr>
          <p:cNvSpPr txBox="1"/>
          <p:nvPr/>
        </p:nvSpPr>
        <p:spPr>
          <a:xfrm>
            <a:off x="5013204" y="1648113"/>
            <a:ext cx="2217194" cy="307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99" b="0" i="0" u="none" strike="noStrike" kern="0" cap="none" spc="-1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</a:rPr>
              <a:t>√</a:t>
            </a:r>
            <a:r>
              <a:rPr kumimoji="0" lang="ko-KR" altLang="en-US" sz="1399" b="0" i="0" u="none" strike="noStrike" kern="0" cap="none" spc="-1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굴림" panose="020B0600000101010101" pitchFamily="50" charset="-127"/>
              </a:rPr>
              <a:t>공지사항  및 푸시 기능</a:t>
            </a:r>
            <a:endParaRPr kumimoji="0" lang="ko-KR" altLang="en-US" sz="1399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cxnSp>
        <p:nvCxnSpPr>
          <p:cNvPr id="55" name="직선 화살표 연결선 54"/>
          <p:cNvCxnSpPr/>
          <p:nvPr/>
        </p:nvCxnSpPr>
        <p:spPr>
          <a:xfrm rot="5400000" flipH="1">
            <a:off x="1875200" y="5084400"/>
            <a:ext cx="5292000" cy="0"/>
          </a:xfrm>
          <a:prstGeom prst="straightConnector1">
            <a:avLst/>
          </a:prstGeom>
          <a:ln w="63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/>
          <p:cNvCxnSpPr/>
          <p:nvPr/>
        </p:nvCxnSpPr>
        <p:spPr>
          <a:xfrm flipH="1">
            <a:off x="4513104" y="7010400"/>
            <a:ext cx="5292000" cy="0"/>
          </a:xfrm>
          <a:prstGeom prst="straightConnector1">
            <a:avLst/>
          </a:prstGeom>
          <a:ln w="63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/>
          <p:cNvCxnSpPr/>
          <p:nvPr/>
        </p:nvCxnSpPr>
        <p:spPr>
          <a:xfrm flipH="1">
            <a:off x="4521200" y="4376398"/>
            <a:ext cx="5292000" cy="0"/>
          </a:xfrm>
          <a:prstGeom prst="straightConnector1">
            <a:avLst/>
          </a:prstGeom>
          <a:ln w="63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/>
          <p:cNvCxnSpPr/>
          <p:nvPr/>
        </p:nvCxnSpPr>
        <p:spPr>
          <a:xfrm flipH="1">
            <a:off x="4521200" y="5562600"/>
            <a:ext cx="5292000" cy="0"/>
          </a:xfrm>
          <a:prstGeom prst="straightConnector1">
            <a:avLst/>
          </a:prstGeom>
          <a:ln w="63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화살표 연결선 84"/>
          <p:cNvCxnSpPr/>
          <p:nvPr/>
        </p:nvCxnSpPr>
        <p:spPr>
          <a:xfrm flipH="1">
            <a:off x="4521200" y="7730400"/>
            <a:ext cx="5292000" cy="0"/>
          </a:xfrm>
          <a:prstGeom prst="straightConnector1">
            <a:avLst/>
          </a:prstGeom>
          <a:ln w="63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B1D0A417-A0E7-61D1-396B-ABF6E4A81AFF}"/>
              </a:ext>
            </a:extLst>
          </p:cNvPr>
          <p:cNvSpPr txBox="1"/>
          <p:nvPr/>
        </p:nvSpPr>
        <p:spPr>
          <a:xfrm>
            <a:off x="4527811" y="2915962"/>
            <a:ext cx="2217194" cy="307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99" b="0" i="0" u="none" strike="noStrike" kern="0" cap="none" spc="-1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</a:rPr>
              <a:t>√</a:t>
            </a:r>
            <a:r>
              <a:rPr kumimoji="0" lang="ko-KR" altLang="en-US" sz="1399" b="0" i="0" u="none" strike="noStrike" kern="0" cap="none" spc="-1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굴림" panose="020B0600000101010101" pitchFamily="50" charset="-127"/>
              </a:rPr>
              <a:t>탄소</a:t>
            </a:r>
            <a:endParaRPr kumimoji="0" lang="ko-KR" altLang="en-US" sz="1399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1D0A417-A0E7-61D1-396B-ABF6E4A81AFF}"/>
              </a:ext>
            </a:extLst>
          </p:cNvPr>
          <p:cNvSpPr txBox="1"/>
          <p:nvPr/>
        </p:nvSpPr>
        <p:spPr>
          <a:xfrm>
            <a:off x="4513104" y="4797752"/>
            <a:ext cx="2217194" cy="307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99" b="0" i="0" u="none" strike="noStrike" kern="0" cap="none" spc="-1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</a:rPr>
              <a:t>√</a:t>
            </a:r>
            <a:r>
              <a:rPr kumimoji="0" lang="ko-KR" altLang="en-US" sz="1399" b="0" i="0" u="none" strike="noStrike" kern="0" cap="none" spc="-1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굴림" panose="020B0600000101010101" pitchFamily="50" charset="-127"/>
              </a:rPr>
              <a:t>뉴스</a:t>
            </a:r>
            <a:endParaRPr kumimoji="0" lang="ko-KR" altLang="en-US" sz="1399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1D0A417-A0E7-61D1-396B-ABF6E4A81AFF}"/>
              </a:ext>
            </a:extLst>
          </p:cNvPr>
          <p:cNvSpPr txBox="1"/>
          <p:nvPr/>
        </p:nvSpPr>
        <p:spPr>
          <a:xfrm>
            <a:off x="4513104" y="5847185"/>
            <a:ext cx="2217194" cy="307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99" b="0" i="0" u="none" strike="noStrike" kern="0" cap="none" spc="-1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</a:rPr>
              <a:t>√</a:t>
            </a:r>
            <a:r>
              <a:rPr kumimoji="0" lang="ko-KR" altLang="en-US" sz="1399" b="0" i="0" u="none" strike="noStrike" kern="0" cap="none" spc="-1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굴림" panose="020B0600000101010101" pitchFamily="50" charset="-127"/>
              </a:rPr>
              <a:t>고객 센터</a:t>
            </a:r>
            <a:endParaRPr kumimoji="0" lang="ko-KR" altLang="en-US" sz="1399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1D0A417-A0E7-61D1-396B-ABF6E4A81AFF}"/>
              </a:ext>
            </a:extLst>
          </p:cNvPr>
          <p:cNvSpPr txBox="1"/>
          <p:nvPr/>
        </p:nvSpPr>
        <p:spPr>
          <a:xfrm>
            <a:off x="4513104" y="7085176"/>
            <a:ext cx="2217194" cy="307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99" b="0" i="0" u="none" strike="noStrike" kern="0" cap="none" spc="-1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</a:rPr>
              <a:t>√</a:t>
            </a:r>
            <a:r>
              <a:rPr kumimoji="0" lang="ko-KR" altLang="en-US" sz="1399" b="0" i="0" u="none" strike="noStrike" kern="0" cap="none" spc="-1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굴림" panose="020B0600000101010101" pitchFamily="50" charset="-127"/>
              </a:rPr>
              <a:t>설정</a:t>
            </a:r>
            <a:endParaRPr kumimoji="0" lang="ko-KR" altLang="en-US" sz="1399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1D0A417-A0E7-61D1-396B-ABF6E4A81AFF}"/>
              </a:ext>
            </a:extLst>
          </p:cNvPr>
          <p:cNvSpPr txBox="1"/>
          <p:nvPr/>
        </p:nvSpPr>
        <p:spPr>
          <a:xfrm>
            <a:off x="7476653" y="2789008"/>
            <a:ext cx="2746927" cy="1384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99" b="0" i="0" u="none" strike="noStrike" kern="0" cap="none" spc="-1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</a:rPr>
              <a:t>√</a:t>
            </a:r>
            <a:r>
              <a:rPr kumimoji="0" lang="ko-KR" altLang="en-US" sz="1399" b="0" i="0" u="none" strike="noStrike" kern="0" cap="none" spc="-1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</a:rPr>
              <a:t>실천 건수</a:t>
            </a:r>
            <a:r>
              <a:rPr kumimoji="0" lang="en-US" altLang="ko-KR" sz="1399" b="0" i="0" u="none" strike="noStrike" kern="0" cap="none" spc="-1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</a:rPr>
              <a:t> /</a:t>
            </a:r>
            <a:r>
              <a:rPr kumimoji="0" lang="ko-KR" altLang="en-US" sz="1399" b="0" i="0" u="none" strike="noStrike" kern="0" cap="none" spc="-1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</a:rPr>
              <a:t>랭킹 순위</a:t>
            </a:r>
            <a:r>
              <a:rPr kumimoji="0" lang="en-US" altLang="ko-KR" sz="1399" b="0" i="0" u="none" strike="noStrike" kern="0" cap="none" spc="-1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</a:rPr>
              <a:t>/</a:t>
            </a:r>
            <a:r>
              <a:rPr kumimoji="0" lang="ko-KR" altLang="en-US" sz="1399" b="0" i="0" u="none" strike="noStrike" kern="0" cap="none" spc="-1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</a:rPr>
              <a:t>나의 </a:t>
            </a:r>
            <a:r>
              <a:rPr kumimoji="0" lang="en-US" altLang="ko-KR" sz="1399" b="0" i="0" u="none" strike="noStrike" kern="0" cap="none" spc="-1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</a:rPr>
              <a:t>QR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</a:rPr>
              <a:t>√</a:t>
            </a: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</a:rPr>
              <a:t>한국산업환경기술원 링크</a:t>
            </a:r>
            <a:endParaRPr kumimoji="0" lang="en-US" altLang="ko-KR" sz="1399" b="0" i="0" u="none" strike="noStrike" kern="0" cap="none" spc="-165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99" b="0" i="0" u="none" strike="noStrike" kern="0" cap="none" spc="-1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</a:rPr>
              <a:t>√</a:t>
            </a:r>
            <a:r>
              <a:rPr kumimoji="0" lang="ko-KR" altLang="en-US" sz="1399" b="0" i="0" u="none" strike="noStrike" kern="0" cap="none" spc="-1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굴림" panose="020B0600000101010101" pitchFamily="50" charset="-127"/>
              </a:rPr>
              <a:t>매장 찾기 기능</a:t>
            </a:r>
            <a:endParaRPr kumimoji="0" lang="en-US" altLang="ko-KR" sz="1399" b="0" i="0" u="none" strike="noStrike" kern="0" cap="none" spc="-165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Malgun Gothic"/>
              <a:ea typeface="굴림" panose="020B0600000101010101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ko-KR" sz="1399" b="0" i="0" u="none" strike="noStrike" kern="0" cap="none" spc="-1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굴림" panose="020B0600000101010101" pitchFamily="50" charset="-127"/>
              </a:rPr>
              <a:t>√</a:t>
            </a:r>
            <a:r>
              <a:rPr kumimoji="0" lang="ko-KR" altLang="en-US" sz="1399" b="0" i="0" u="none" strike="noStrike" kern="0" cap="none" spc="-1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굴림" panose="020B0600000101010101" pitchFamily="50" charset="-127"/>
              </a:rPr>
              <a:t>이용 내역 확인</a:t>
            </a:r>
            <a:endParaRPr kumimoji="0" lang="en-US" altLang="ko-KR" sz="1399" b="0" i="0" u="none" strike="noStrike" kern="0" cap="none" spc="-165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Malgun Gothic"/>
              <a:ea typeface="굴림" panose="020B0600000101010101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</a:rPr>
              <a:t>√</a:t>
            </a: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</a:rPr>
              <a:t>환경 제품 보러 가기 링크</a:t>
            </a:r>
            <a:endParaRPr kumimoji="0" lang="en-US" altLang="ko-KR" sz="1399" b="0" i="0" u="none" strike="noStrike" kern="0" cap="none" spc="-165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Malgun Gothic"/>
              <a:ea typeface="굴림" panose="020B0600000101010101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ko-KR" sz="1399" b="0" i="0" u="none" strike="noStrike" kern="0" cap="none" spc="-1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굴림" panose="020B0600000101010101" pitchFamily="50" charset="-127"/>
              </a:rPr>
              <a:t>√</a:t>
            </a:r>
            <a:r>
              <a:rPr kumimoji="0" lang="en-US" altLang="ko-KR" sz="1399" b="0" i="0" u="none" strike="noStrike" kern="0" cap="none" spc="-1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굴림" panose="020B0600000101010101" pitchFamily="50" charset="-127"/>
              </a:rPr>
              <a:t>FAQ</a:t>
            </a:r>
            <a:endParaRPr kumimoji="0" lang="ko-KR" altLang="en-US" sz="1399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1D0A417-A0E7-61D1-396B-ABF6E4A81AFF}"/>
              </a:ext>
            </a:extLst>
          </p:cNvPr>
          <p:cNvSpPr txBox="1"/>
          <p:nvPr/>
        </p:nvSpPr>
        <p:spPr>
          <a:xfrm>
            <a:off x="7458474" y="4572000"/>
            <a:ext cx="2217194" cy="738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99" b="0" i="0" u="none" strike="noStrike" kern="0" cap="none" spc="-1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</a:rPr>
              <a:t>√</a:t>
            </a:r>
            <a:r>
              <a:rPr kumimoji="0" lang="ko-KR" altLang="en-US" sz="1399" b="0" i="0" u="none" strike="noStrike" kern="0" cap="none" spc="-1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굴림" panose="020B0600000101010101" pitchFamily="50" charset="-127"/>
              </a:rPr>
              <a:t>뉴스</a:t>
            </a:r>
            <a:endParaRPr kumimoji="0" lang="en-US" altLang="ko-KR" sz="1399" b="0" i="0" u="none" strike="noStrike" kern="0" cap="none" spc="-165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Malgun Gothic"/>
              <a:ea typeface="굴림" panose="020B0600000101010101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ko-KR" sz="1399" b="0" i="0" u="none" strike="noStrike" kern="0" cap="none" spc="-1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굴림" panose="020B0600000101010101" pitchFamily="50" charset="-127"/>
              </a:rPr>
              <a:t>√</a:t>
            </a:r>
            <a:r>
              <a:rPr kumimoji="0" lang="ko-KR" altLang="en-US" sz="1399" b="0" i="0" u="none" strike="noStrike" kern="0" cap="none" spc="-1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굴림" panose="020B0600000101010101" pitchFamily="50" charset="-127"/>
              </a:rPr>
              <a:t>동영상</a:t>
            </a:r>
            <a:endParaRPr kumimoji="0" lang="en-US" altLang="ko-KR" sz="1399" b="0" i="0" u="none" strike="noStrike" kern="0" cap="none" spc="-165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Malgun Gothic"/>
              <a:ea typeface="굴림" panose="020B0600000101010101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ko-KR" sz="1399" b="0" i="0" u="none" strike="noStrike" kern="0" cap="none" spc="-1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굴림" panose="020B0600000101010101" pitchFamily="50" charset="-127"/>
              </a:rPr>
              <a:t>√</a:t>
            </a:r>
            <a:r>
              <a:rPr kumimoji="0" lang="ko-KR" altLang="en-US" sz="1399" b="0" i="0" u="none" strike="noStrike" kern="0" cap="none" spc="-1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굴림" panose="020B0600000101010101" pitchFamily="50" charset="-127"/>
              </a:rPr>
              <a:t>기사 보기</a:t>
            </a:r>
            <a:endParaRPr kumimoji="0" lang="ko-KR" altLang="en-US" sz="1399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1D0A417-A0E7-61D1-396B-ABF6E4A81AFF}"/>
              </a:ext>
            </a:extLst>
          </p:cNvPr>
          <p:cNvSpPr txBox="1"/>
          <p:nvPr/>
        </p:nvSpPr>
        <p:spPr>
          <a:xfrm>
            <a:off x="7504235" y="5847185"/>
            <a:ext cx="2217194" cy="522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99" b="0" i="0" u="none" strike="noStrike" kern="0" cap="none" spc="-1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</a:rPr>
              <a:t>√</a:t>
            </a:r>
            <a:r>
              <a:rPr kumimoji="0" lang="ko-KR" altLang="en-US" sz="1399" b="0" i="0" u="none" strike="noStrike" kern="0" cap="none" spc="-1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굴림" panose="020B0600000101010101" pitchFamily="50" charset="-127"/>
              </a:rPr>
              <a:t>공지사항  </a:t>
            </a:r>
            <a:endParaRPr kumimoji="0" lang="en-US" altLang="ko-KR" sz="1399" b="0" i="0" u="none" strike="noStrike" kern="0" cap="none" spc="-165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Malgun Gothic"/>
              <a:ea typeface="굴림" panose="020B0600000101010101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ko-KR" sz="1399" b="0" i="0" u="none" strike="noStrike" kern="0" cap="none" spc="-1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굴림" panose="020B0600000101010101" pitchFamily="50" charset="-127"/>
              </a:rPr>
              <a:t>√</a:t>
            </a:r>
            <a:r>
              <a:rPr kumimoji="0" lang="ko-KR" altLang="en-US" sz="1399" b="0" i="0" u="none" strike="noStrike" kern="0" cap="none" spc="-1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굴림" panose="020B0600000101010101" pitchFamily="50" charset="-127"/>
              </a:rPr>
              <a:t>문의 및 제안</a:t>
            </a:r>
            <a:endParaRPr kumimoji="0" lang="ko-KR" altLang="en-US" sz="1399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1D0A417-A0E7-61D1-396B-ABF6E4A81AFF}"/>
              </a:ext>
            </a:extLst>
          </p:cNvPr>
          <p:cNvSpPr txBox="1"/>
          <p:nvPr/>
        </p:nvSpPr>
        <p:spPr>
          <a:xfrm>
            <a:off x="7504235" y="7111158"/>
            <a:ext cx="2217194" cy="307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99" b="0" i="0" u="none" strike="noStrike" kern="0" cap="none" spc="-1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</a:rPr>
              <a:t>√</a:t>
            </a:r>
            <a:r>
              <a:rPr kumimoji="0" lang="ko-KR" altLang="en-US" sz="1399" b="0" i="0" u="none" strike="noStrike" kern="0" cap="none" spc="-1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굴림" panose="020B0600000101010101" pitchFamily="50" charset="-127"/>
              </a:rPr>
              <a:t>알림</a:t>
            </a:r>
            <a:endParaRPr kumimoji="0" lang="ko-KR" altLang="en-US" sz="1399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cxnSp>
        <p:nvCxnSpPr>
          <p:cNvPr id="102" name="직선 화살표 연결선 101"/>
          <p:cNvCxnSpPr/>
          <p:nvPr/>
        </p:nvCxnSpPr>
        <p:spPr>
          <a:xfrm flipH="1">
            <a:off x="869000" y="2550517"/>
            <a:ext cx="6624000" cy="0"/>
          </a:xfrm>
          <a:prstGeom prst="straightConnector1">
            <a:avLst/>
          </a:prstGeom>
          <a:ln w="63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B1D0A417-A0E7-61D1-396B-ABF6E4A81AFF}"/>
              </a:ext>
            </a:extLst>
          </p:cNvPr>
          <p:cNvSpPr txBox="1"/>
          <p:nvPr/>
        </p:nvSpPr>
        <p:spPr>
          <a:xfrm>
            <a:off x="922956" y="2200342"/>
            <a:ext cx="2217194" cy="307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99" b="0" i="0" u="none" strike="noStrike" kern="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</a:rPr>
              <a:t>√</a:t>
            </a:r>
            <a:r>
              <a:rPr kumimoji="0" lang="ko-KR" altLang="en-US" sz="1399" b="0" i="0" u="none" strike="noStrike" kern="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굴림" panose="020B0600000101010101" pitchFamily="50" charset="-127"/>
              </a:rPr>
              <a:t>상단 메뉴</a:t>
            </a:r>
            <a:r>
              <a:rPr kumimoji="0" lang="en-US" altLang="ko-KR" sz="1399" b="0" i="0" u="none" strike="noStrike" kern="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굴림" panose="020B0600000101010101" pitchFamily="50" charset="-127"/>
              </a:rPr>
              <a:t> – </a:t>
            </a:r>
            <a:r>
              <a:rPr kumimoji="0" lang="ko-KR" altLang="en-US" sz="1399" b="0" i="0" u="none" strike="noStrike" kern="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굴림" panose="020B0600000101010101" pitchFamily="50" charset="-127"/>
              </a:rPr>
              <a:t>알림</a:t>
            </a:r>
            <a:r>
              <a:rPr kumimoji="0" lang="en-US" altLang="ko-KR" sz="1399" b="0" i="0" u="none" strike="noStrike" kern="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굴림" panose="020B0600000101010101" pitchFamily="50" charset="-127"/>
              </a:rPr>
              <a:t>/ </a:t>
            </a:r>
            <a:r>
              <a:rPr kumimoji="0" lang="ko-KR" altLang="en-US" sz="1399" b="0" i="0" u="none" strike="noStrike" kern="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굴림" panose="020B0600000101010101" pitchFamily="50" charset="-127"/>
              </a:rPr>
              <a:t>메뉴 기능</a:t>
            </a:r>
            <a:endParaRPr kumimoji="0" lang="ko-KR" altLang="en-US" sz="1399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22F8112-A3F0-6984-3643-E287E5855D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338" y="1713570"/>
            <a:ext cx="3009900" cy="635317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7F9E45BF-4672-1695-FC4B-A546B26615A7}"/>
              </a:ext>
            </a:extLst>
          </p:cNvPr>
          <p:cNvSpPr/>
          <p:nvPr/>
        </p:nvSpPr>
        <p:spPr>
          <a:xfrm>
            <a:off x="1323219" y="3463195"/>
            <a:ext cx="2305050" cy="3522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실적 조회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11612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1E9F5-E363-DDD6-93F5-0E21F656B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A178B3E-330A-47CD-89D0-FC9F28C55341}"/>
              </a:ext>
            </a:extLst>
          </p:cNvPr>
          <p:cNvSpPr/>
          <p:nvPr/>
        </p:nvSpPr>
        <p:spPr>
          <a:xfrm>
            <a:off x="2540000" y="2714376"/>
            <a:ext cx="2971800" cy="27597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3B2182A-1E8E-D717-6F22-A79D8D07FF42}"/>
              </a:ext>
            </a:extLst>
          </p:cNvPr>
          <p:cNvSpPr/>
          <p:nvPr/>
        </p:nvSpPr>
        <p:spPr>
          <a:xfrm>
            <a:off x="1397000" y="1981200"/>
            <a:ext cx="4267200" cy="4495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3F7DB0-00BC-1C90-B52F-683E9EB560AC}"/>
              </a:ext>
            </a:extLst>
          </p:cNvPr>
          <p:cNvSpPr txBox="1"/>
          <p:nvPr/>
        </p:nvSpPr>
        <p:spPr>
          <a:xfrm>
            <a:off x="787401" y="585889"/>
            <a:ext cx="2133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문의 및 제안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542666-71DA-79C3-FC81-BCB18610662D}"/>
              </a:ext>
            </a:extLst>
          </p:cNvPr>
          <p:cNvSpPr txBox="1"/>
          <p:nvPr/>
        </p:nvSpPr>
        <p:spPr>
          <a:xfrm>
            <a:off x="1625600" y="2608308"/>
            <a:ext cx="1447801" cy="452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-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algun Gothic"/>
                <a:ea typeface="굴림" panose="020B0600000101010101" pitchFamily="50" charset="-127"/>
              </a:rPr>
              <a:t>제목</a:t>
            </a:r>
            <a:endParaRPr kumimoji="0" lang="en-US" altLang="ko-KR" sz="1800" b="0" i="0" u="none" strike="noStrike" kern="0" cap="none" spc="-165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algun Gothic"/>
              <a:ea typeface="굴림" panose="020B0600000101010101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527377A-FA18-2D83-EA2E-A3E8A38137C5}"/>
              </a:ext>
            </a:extLst>
          </p:cNvPr>
          <p:cNvSpPr/>
          <p:nvPr/>
        </p:nvSpPr>
        <p:spPr>
          <a:xfrm>
            <a:off x="1701799" y="3802156"/>
            <a:ext cx="3810001" cy="206524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9878D4F-9053-CAC1-209B-637BE9FD754A}"/>
              </a:ext>
            </a:extLst>
          </p:cNvPr>
          <p:cNvSpPr/>
          <p:nvPr/>
        </p:nvSpPr>
        <p:spPr>
          <a:xfrm>
            <a:off x="2692400" y="6114549"/>
            <a:ext cx="1447801" cy="28625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등록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FB30F7-DF82-6543-8550-8F0A06B75104}"/>
              </a:ext>
            </a:extLst>
          </p:cNvPr>
          <p:cNvSpPr txBox="1"/>
          <p:nvPr/>
        </p:nvSpPr>
        <p:spPr>
          <a:xfrm>
            <a:off x="1930400" y="137160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등록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BA595-41C9-4126-F400-8CA8232542BF}"/>
              </a:ext>
            </a:extLst>
          </p:cNvPr>
          <p:cNvSpPr txBox="1"/>
          <p:nvPr/>
        </p:nvSpPr>
        <p:spPr>
          <a:xfrm>
            <a:off x="1701800" y="3205232"/>
            <a:ext cx="1447801" cy="452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-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algun Gothic"/>
                <a:ea typeface="굴림" panose="020B0600000101010101" pitchFamily="50" charset="-127"/>
              </a:rPr>
              <a:t>내용</a:t>
            </a:r>
            <a:endParaRPr kumimoji="0" lang="en-US" altLang="ko-KR" sz="1800" b="0" i="0" u="none" strike="noStrike" kern="0" cap="none" spc="-165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algun Gothic"/>
              <a:ea typeface="굴림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3409714-C82E-8067-A453-D92856F2FA9C}"/>
              </a:ext>
            </a:extLst>
          </p:cNvPr>
          <p:cNvSpPr/>
          <p:nvPr/>
        </p:nvSpPr>
        <p:spPr>
          <a:xfrm>
            <a:off x="6502400" y="1981200"/>
            <a:ext cx="4267200" cy="3200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70D084-0407-49F8-FD8F-0576D4AF9C1F}"/>
              </a:ext>
            </a:extLst>
          </p:cNvPr>
          <p:cNvSpPr txBox="1"/>
          <p:nvPr/>
        </p:nvSpPr>
        <p:spPr>
          <a:xfrm>
            <a:off x="6539637" y="153566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리스트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9332E3-1940-D2BE-441E-BD5DC8EAC256}"/>
              </a:ext>
            </a:extLst>
          </p:cNvPr>
          <p:cNvSpPr txBox="1"/>
          <p:nvPr/>
        </p:nvSpPr>
        <p:spPr>
          <a:xfrm>
            <a:off x="6654799" y="2286000"/>
            <a:ext cx="4343401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pc="-165" dirty="0" err="1">
                <a:latin typeface="Malgun Gothic"/>
                <a:ea typeface="굴림" panose="020B0600000101010101" pitchFamily="50" charset="-127"/>
              </a:rPr>
              <a:t>순</a:t>
            </a:r>
            <a:r>
              <a:rPr kumimoji="0" lang="ko-KR" altLang="en-US" sz="1800" b="0" i="0" u="none" strike="noStrike" kern="0" cap="none" spc="-16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algun Gothic"/>
                <a:ea typeface="굴림" panose="020B0600000101010101" pitchFamily="50" charset="-127"/>
              </a:rPr>
              <a:t>번       </a:t>
            </a:r>
            <a:r>
              <a:rPr kumimoji="0" lang="ko-KR" altLang="en-US" sz="1800" b="0" i="0" u="none" strike="noStrike" kern="0" cap="none" spc="-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algun Gothic"/>
                <a:ea typeface="굴림" panose="020B0600000101010101" pitchFamily="50" charset="-127"/>
              </a:rPr>
              <a:t>제목              일시         답글</a:t>
            </a:r>
            <a:endParaRPr kumimoji="0" lang="en-US" altLang="ko-KR" sz="1800" b="0" i="0" u="none" strike="noStrike" kern="0" cap="none" spc="-165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algun Gothic"/>
              <a:ea typeface="굴림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75B284-F4DD-8DCD-DDCA-784DE9CDF079}"/>
              </a:ext>
            </a:extLst>
          </p:cNvPr>
          <p:cNvSpPr txBox="1"/>
          <p:nvPr/>
        </p:nvSpPr>
        <p:spPr>
          <a:xfrm>
            <a:off x="6578600" y="601980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답글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8DDFD65-02E9-496A-B6A6-60E049C51D34}"/>
              </a:ext>
            </a:extLst>
          </p:cNvPr>
          <p:cNvSpPr/>
          <p:nvPr/>
        </p:nvSpPr>
        <p:spPr>
          <a:xfrm>
            <a:off x="6502400" y="6389132"/>
            <a:ext cx="4267200" cy="29834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49985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BA0E77CD-436B-26BC-088E-75CBBF7C6835}"/>
              </a:ext>
            </a:extLst>
          </p:cNvPr>
          <p:cNvGrpSpPr/>
          <p:nvPr/>
        </p:nvGrpSpPr>
        <p:grpSpPr>
          <a:xfrm>
            <a:off x="1774212" y="2362200"/>
            <a:ext cx="1925276" cy="1167076"/>
            <a:chOff x="1774212" y="2362200"/>
            <a:chExt cx="1925276" cy="1167076"/>
          </a:xfrm>
        </p:grpSpPr>
        <p:sp>
          <p:nvSpPr>
            <p:cNvPr id="26" name="Background">
              <a:extLst>
                <a:ext uri="{FF2B5EF4-FFF2-40B4-BE49-F238E27FC236}">
                  <a16:creationId xmlns:a16="http://schemas.microsoft.com/office/drawing/2014/main" id="{812B5FFF-014E-405E-FE2C-563C0A670C3D}"/>
                </a:ext>
              </a:extLst>
            </p:cNvPr>
            <p:cNvSpPr/>
            <p:nvPr/>
          </p:nvSpPr>
          <p:spPr>
            <a:xfrm>
              <a:off x="1778000" y="2362200"/>
              <a:ext cx="1921488" cy="1167074"/>
            </a:xfrm>
            <a:prstGeom prst="roundRect">
              <a:avLst>
                <a:gd name="adj" fmla="val 3509"/>
              </a:avLst>
            </a:prstGeom>
            <a:solidFill>
              <a:srgbClr val="F4F4F4">
                <a:alpha val="89804"/>
              </a:srgb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0" tIns="128016" rIns="180000" bIns="457200" numCol="1" spcCol="0" rtlCol="0" fromWordArt="0" anchor="b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b="1" dirty="0">
                  <a:solidFill>
                    <a:srgbClr val="000000"/>
                  </a:solidFill>
                  <a:latin typeface="Noto Sans CJK KR Light" panose="020B0300000000000000" pitchFamily="34" charset="-127"/>
                  <a:ea typeface="Noto Sans CJK KR Light" panose="020B0300000000000000" pitchFamily="34" charset="-127"/>
                  <a:cs typeface="Segoe UI" panose="020B0502040204020203" pitchFamily="34" charset="0"/>
                </a:rPr>
                <a:t>예상치 못한 오류가 발생했습니다</a:t>
              </a:r>
              <a:r>
                <a:rPr lang="en-US" altLang="ko-KR" sz="900" b="1" dirty="0">
                  <a:solidFill>
                    <a:srgbClr val="000000"/>
                  </a:solidFill>
                  <a:latin typeface="Noto Sans CJK KR Light" panose="020B0300000000000000" pitchFamily="34" charset="-127"/>
                  <a:ea typeface="Noto Sans CJK KR Light" panose="020B0300000000000000" pitchFamily="34" charset="-127"/>
                  <a:cs typeface="Segoe UI" panose="020B0502040204020203" pitchFamily="34" charset="0"/>
                </a:rPr>
                <a:t>. </a:t>
              </a:r>
              <a:r>
                <a:rPr lang="ko-KR" altLang="en-US" sz="900" b="1" dirty="0">
                  <a:solidFill>
                    <a:srgbClr val="000000"/>
                  </a:solidFill>
                  <a:latin typeface="Noto Sans CJK KR Light" panose="020B0300000000000000" pitchFamily="34" charset="-127"/>
                  <a:ea typeface="Noto Sans CJK KR Light" panose="020B0300000000000000" pitchFamily="34" charset="-127"/>
                  <a:cs typeface="Segoe UI" panose="020B0502040204020203" pitchFamily="34" charset="0"/>
                </a:rPr>
                <a:t>동일한 문제가 반복될 경우 고객센터</a:t>
              </a:r>
              <a:r>
                <a:rPr lang="en-US" altLang="ko-KR" sz="900" b="1" dirty="0">
                  <a:solidFill>
                    <a:srgbClr val="000000"/>
                  </a:solidFill>
                  <a:latin typeface="Noto Sans CJK KR Light" panose="020B0300000000000000" pitchFamily="34" charset="-127"/>
                  <a:ea typeface="Noto Sans CJK KR Light" panose="020B0300000000000000" pitchFamily="34" charset="-127"/>
                  <a:cs typeface="Segoe UI" panose="020B0502040204020203" pitchFamily="34" charset="0"/>
                </a:rPr>
                <a:t>(1234-5678)</a:t>
              </a:r>
              <a:r>
                <a:rPr lang="ko-KR" altLang="en-US" sz="900" b="1" dirty="0">
                  <a:solidFill>
                    <a:srgbClr val="000000"/>
                  </a:solidFill>
                  <a:latin typeface="Noto Sans CJK KR Light" panose="020B0300000000000000" pitchFamily="34" charset="-127"/>
                  <a:ea typeface="Noto Sans CJK KR Light" panose="020B0300000000000000" pitchFamily="34" charset="-127"/>
                  <a:cs typeface="Segoe UI" panose="020B0502040204020203" pitchFamily="34" charset="0"/>
                </a:rPr>
                <a:t>로 문의 바랍니다</a:t>
              </a:r>
              <a:r>
                <a:rPr lang="en-US" altLang="ko-KR" sz="900" b="1" dirty="0">
                  <a:solidFill>
                    <a:srgbClr val="000000"/>
                  </a:solidFill>
                  <a:latin typeface="Noto Sans CJK KR Light" panose="020B0300000000000000" pitchFamily="34" charset="-127"/>
                  <a:ea typeface="Noto Sans CJK KR Light" panose="020B0300000000000000" pitchFamily="34" charset="-127"/>
                  <a:cs typeface="Segoe UI" panose="020B0502040204020203" pitchFamily="34" charset="0"/>
                </a:rPr>
                <a:t>.</a:t>
              </a:r>
              <a:endParaRPr lang="en-US" sz="900" dirty="0">
                <a:solidFill>
                  <a:srgbClr val="000000"/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27" name="Button 2">
              <a:extLst>
                <a:ext uri="{FF2B5EF4-FFF2-40B4-BE49-F238E27FC236}">
                  <a16:creationId xmlns:a16="http://schemas.microsoft.com/office/drawing/2014/main" id="{BF213579-53A0-B854-4E8C-EA3ED442C6AF}"/>
                </a:ext>
              </a:extLst>
            </p:cNvPr>
            <p:cNvSpPr txBox="1"/>
            <p:nvPr/>
          </p:nvSpPr>
          <p:spPr>
            <a:xfrm>
              <a:off x="1774212" y="3195088"/>
              <a:ext cx="1921488" cy="334188"/>
            </a:xfrm>
            <a:prstGeom prst="rect">
              <a:avLst/>
            </a:prstGeom>
            <a:noFill/>
          </p:spPr>
          <p:txBody>
            <a:bodyPr wrap="square" lIns="73152" tIns="36576" rIns="73152" bIns="36576" rtlCol="0" anchor="ctr" anchorCtr="0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000" dirty="0">
                  <a:solidFill>
                    <a:srgbClr val="6600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확인</a:t>
              </a:r>
              <a:endParaRPr lang="en-US" sz="1000" dirty="0">
                <a:solidFill>
                  <a:srgbClr val="6600F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8" name="Background">
            <a:extLst>
              <a:ext uri="{FF2B5EF4-FFF2-40B4-BE49-F238E27FC236}">
                <a16:creationId xmlns:a16="http://schemas.microsoft.com/office/drawing/2014/main" id="{4631CAFB-C356-86E5-0E10-0E910AE72FC8}"/>
              </a:ext>
            </a:extLst>
          </p:cNvPr>
          <p:cNvSpPr/>
          <p:nvPr/>
        </p:nvSpPr>
        <p:spPr>
          <a:xfrm>
            <a:off x="1944096" y="4338916"/>
            <a:ext cx="1914922" cy="1167074"/>
          </a:xfrm>
          <a:prstGeom prst="roundRect">
            <a:avLst>
              <a:gd name="adj" fmla="val 3509"/>
            </a:avLst>
          </a:prstGeom>
          <a:solidFill>
            <a:srgbClr val="F4F4F4">
              <a:alpha val="89804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80000" tIns="128016" rIns="180000" bIns="457200" numCol="1" spcCol="0" rtlCol="0" fromWordArt="0" anchor="b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dirty="0">
                <a:solidFill>
                  <a:srgbClr val="000000"/>
                </a:solidFill>
                <a:latin typeface="+mn-ea"/>
                <a:cs typeface="Segoe UI" panose="020B0502040204020203" pitchFamily="34" charset="0"/>
              </a:rPr>
              <a:t>콜 요청을 수락하시겠습니까</a:t>
            </a:r>
            <a:r>
              <a:rPr lang="en-US" altLang="ko-KR" sz="900" b="1" dirty="0">
                <a:solidFill>
                  <a:srgbClr val="000000"/>
                </a:solidFill>
                <a:latin typeface="+mn-ea"/>
                <a:cs typeface="Segoe UI" panose="020B0502040204020203" pitchFamily="34" charset="0"/>
              </a:rPr>
              <a:t>?</a:t>
            </a:r>
          </a:p>
          <a:p>
            <a:r>
              <a:rPr lang="ko-KR" altLang="en-US" sz="900" dirty="0">
                <a:solidFill>
                  <a:srgbClr val="000000"/>
                </a:solidFill>
                <a:latin typeface="+mn-ea"/>
                <a:cs typeface="Segoe UI" panose="020B0502040204020203" pitchFamily="34" charset="0"/>
              </a:rPr>
              <a:t>수락 이후 취소 시</a:t>
            </a:r>
            <a:endParaRPr lang="en-US" altLang="ko-KR" sz="900" dirty="0">
              <a:solidFill>
                <a:srgbClr val="000000"/>
              </a:solidFill>
              <a:latin typeface="+mn-ea"/>
              <a:cs typeface="Segoe UI" panose="020B0502040204020203" pitchFamily="34" charset="0"/>
            </a:endParaRPr>
          </a:p>
          <a:p>
            <a:r>
              <a:rPr lang="ko-KR" altLang="en-US" sz="900" dirty="0">
                <a:solidFill>
                  <a:srgbClr val="000000"/>
                </a:solidFill>
                <a:latin typeface="+mn-ea"/>
                <a:cs typeface="Segoe UI" panose="020B0502040204020203" pitchFamily="34" charset="0"/>
              </a:rPr>
              <a:t>이용 제약을 받으실 수 있으니</a:t>
            </a:r>
            <a:endParaRPr lang="en-US" altLang="ko-KR" sz="900" dirty="0">
              <a:solidFill>
                <a:srgbClr val="000000"/>
              </a:solidFill>
              <a:latin typeface="+mn-ea"/>
              <a:cs typeface="Segoe UI" panose="020B0502040204020203" pitchFamily="34" charset="0"/>
            </a:endParaRPr>
          </a:p>
          <a:p>
            <a:r>
              <a:rPr lang="ko-KR" altLang="en-US" sz="900" dirty="0">
                <a:solidFill>
                  <a:srgbClr val="000000"/>
                </a:solidFill>
                <a:latin typeface="+mn-ea"/>
                <a:cs typeface="Segoe UI" panose="020B0502040204020203" pitchFamily="34" charset="0"/>
              </a:rPr>
              <a:t>주의 바랍니다</a:t>
            </a:r>
            <a:r>
              <a:rPr lang="en-US" altLang="ko-KR" sz="900" dirty="0">
                <a:solidFill>
                  <a:srgbClr val="000000"/>
                </a:solidFill>
                <a:latin typeface="+mn-ea"/>
                <a:cs typeface="Segoe UI" panose="020B0502040204020203" pitchFamily="34" charset="0"/>
              </a:rPr>
              <a:t>.</a:t>
            </a:r>
            <a:endParaRPr lang="en-US" sz="900" dirty="0">
              <a:solidFill>
                <a:srgbClr val="000000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9" name="Button 1">
            <a:extLst>
              <a:ext uri="{FF2B5EF4-FFF2-40B4-BE49-F238E27FC236}">
                <a16:creationId xmlns:a16="http://schemas.microsoft.com/office/drawing/2014/main" id="{27A32F17-1323-4FB0-9107-A142DD7D9663}"/>
              </a:ext>
            </a:extLst>
          </p:cNvPr>
          <p:cNvSpPr txBox="1"/>
          <p:nvPr/>
        </p:nvSpPr>
        <p:spPr>
          <a:xfrm>
            <a:off x="1941317" y="5171804"/>
            <a:ext cx="957461" cy="334188"/>
          </a:xfrm>
          <a:prstGeom prst="rect">
            <a:avLst/>
          </a:prstGeom>
          <a:noFill/>
        </p:spPr>
        <p:txBody>
          <a:bodyPr wrap="square" lIns="73152" tIns="36576" rIns="73152" bIns="36576" rtlCol="0" anchor="ctr" anchorCtr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00" dirty="0">
                <a:solidFill>
                  <a:srgbClr val="6600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아니요</a:t>
            </a:r>
            <a:endParaRPr lang="en-US" sz="1000" dirty="0">
              <a:solidFill>
                <a:srgbClr val="6600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Button 2">
            <a:extLst>
              <a:ext uri="{FF2B5EF4-FFF2-40B4-BE49-F238E27FC236}">
                <a16:creationId xmlns:a16="http://schemas.microsoft.com/office/drawing/2014/main" id="{AA66C4FD-5011-9F41-BCA4-F7BDF124A160}"/>
              </a:ext>
            </a:extLst>
          </p:cNvPr>
          <p:cNvSpPr txBox="1"/>
          <p:nvPr/>
        </p:nvSpPr>
        <p:spPr>
          <a:xfrm>
            <a:off x="2902946" y="5171804"/>
            <a:ext cx="957461" cy="334188"/>
          </a:xfrm>
          <a:prstGeom prst="rect">
            <a:avLst/>
          </a:prstGeom>
          <a:noFill/>
        </p:spPr>
        <p:txBody>
          <a:bodyPr wrap="square" lIns="73152" tIns="36576" rIns="73152" bIns="36576" rtlCol="0" anchor="ctr" anchorCtr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00" dirty="0">
                <a:solidFill>
                  <a:srgbClr val="6600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예</a:t>
            </a:r>
            <a:endParaRPr lang="en-US" sz="1000" dirty="0">
              <a:solidFill>
                <a:srgbClr val="6600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3280AF1-C9E5-15D9-680D-5779E319DFC9}"/>
              </a:ext>
            </a:extLst>
          </p:cNvPr>
          <p:cNvGrpSpPr/>
          <p:nvPr/>
        </p:nvGrpSpPr>
        <p:grpSpPr>
          <a:xfrm>
            <a:off x="5544939" y="2362200"/>
            <a:ext cx="1914922" cy="815986"/>
            <a:chOff x="5544939" y="2362200"/>
            <a:chExt cx="1914922" cy="815986"/>
          </a:xfrm>
        </p:grpSpPr>
        <p:sp>
          <p:nvSpPr>
            <p:cNvPr id="2" name="Background">
              <a:extLst>
                <a:ext uri="{FF2B5EF4-FFF2-40B4-BE49-F238E27FC236}">
                  <a16:creationId xmlns:a16="http://schemas.microsoft.com/office/drawing/2014/main" id="{54690072-4AA5-CCBD-3006-1B062A32D817}"/>
                </a:ext>
              </a:extLst>
            </p:cNvPr>
            <p:cNvSpPr/>
            <p:nvPr/>
          </p:nvSpPr>
          <p:spPr>
            <a:xfrm>
              <a:off x="5544939" y="2362200"/>
              <a:ext cx="1914922" cy="815986"/>
            </a:xfrm>
            <a:prstGeom prst="roundRect">
              <a:avLst>
                <a:gd name="adj" fmla="val 3509"/>
              </a:avLst>
            </a:prstGeom>
            <a:solidFill>
              <a:srgbClr val="F4F4F4">
                <a:alpha val="89804"/>
              </a:srgb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900" dirty="0">
                  <a:solidFill>
                    <a:srgbClr val="000000"/>
                  </a:solidFill>
                  <a:latin typeface="Noto Sans CJK KR Light" panose="020B0300000000000000" pitchFamily="34" charset="-127"/>
                  <a:ea typeface="Noto Sans CJK KR Light" panose="020B0300000000000000" pitchFamily="34" charset="-127"/>
                  <a:cs typeface="Segoe UI" panose="020B0502040204020203" pitchFamily="34" charset="0"/>
                </a:rPr>
                <a:t>       잠시만 기다려주세요</a:t>
              </a:r>
              <a:endParaRPr lang="en-US" sz="900" dirty="0">
                <a:solidFill>
                  <a:srgbClr val="000000"/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  <a:cs typeface="Segoe UI" panose="020B0502040204020203" pitchFamily="34" charset="0"/>
              </a:endParaRPr>
            </a:p>
          </p:txBody>
        </p:sp>
        <p:grpSp>
          <p:nvGrpSpPr>
            <p:cNvPr id="3" name="Throbber">
              <a:extLst>
                <a:ext uri="{FF2B5EF4-FFF2-40B4-BE49-F238E27FC236}">
                  <a16:creationId xmlns:a16="http://schemas.microsoft.com/office/drawing/2014/main" id="{F51C0272-DBFD-691C-62B9-7EAA7CD66C8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816600" y="2655764"/>
              <a:ext cx="227077" cy="228858"/>
              <a:chOff x="1995488" y="1574801"/>
              <a:chExt cx="404813" cy="407988"/>
            </a:xfrm>
          </p:grpSpPr>
          <p:sp>
            <p:nvSpPr>
              <p:cNvPr id="4" name="Segment 10">
                <a:extLst>
                  <a:ext uri="{FF2B5EF4-FFF2-40B4-BE49-F238E27FC236}">
                    <a16:creationId xmlns:a16="http://schemas.microsoft.com/office/drawing/2014/main" id="{C9E78BE2-4813-FF75-847F-C3282A03BB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1526" y="1590676"/>
                <a:ext cx="104775" cy="100013"/>
              </a:xfrm>
              <a:custGeom>
                <a:avLst/>
                <a:gdLst>
                  <a:gd name="T0" fmla="*/ 367 w 474"/>
                  <a:gd name="T1" fmla="*/ 0 h 453"/>
                  <a:gd name="T2" fmla="*/ 0 w 474"/>
                  <a:gd name="T3" fmla="*/ 267 h 453"/>
                  <a:gd name="T4" fmla="*/ 225 w 474"/>
                  <a:gd name="T5" fmla="*/ 453 h 453"/>
                  <a:gd name="T6" fmla="*/ 474 w 474"/>
                  <a:gd name="T7" fmla="*/ 271 h 453"/>
                  <a:gd name="T8" fmla="*/ 367 w 474"/>
                  <a:gd name="T9" fmla="*/ 0 h 4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4" h="453">
                    <a:moveTo>
                      <a:pt x="367" y="0"/>
                    </a:moveTo>
                    <a:cubicBezTo>
                      <a:pt x="223" y="57"/>
                      <a:pt x="97" y="150"/>
                      <a:pt x="0" y="267"/>
                    </a:cubicBezTo>
                    <a:lnTo>
                      <a:pt x="225" y="453"/>
                    </a:lnTo>
                    <a:cubicBezTo>
                      <a:pt x="291" y="373"/>
                      <a:pt x="376" y="310"/>
                      <a:pt x="474" y="271"/>
                    </a:cubicBez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606060"/>
              </a:solidFill>
              <a:ln w="635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" name="Segment 9">
                <a:extLst>
                  <a:ext uri="{FF2B5EF4-FFF2-40B4-BE49-F238E27FC236}">
                    <a16:creationId xmlns:a16="http://schemas.microsoft.com/office/drawing/2014/main" id="{1597F235-A2BE-78B6-DE46-1090A861C5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5488" y="1670051"/>
                <a:ext cx="85725" cy="100013"/>
              </a:xfrm>
              <a:custGeom>
                <a:avLst/>
                <a:gdLst>
                  <a:gd name="T0" fmla="*/ 140 w 387"/>
                  <a:gd name="T1" fmla="*/ 0 h 450"/>
                  <a:gd name="T2" fmla="*/ 0 w 387"/>
                  <a:gd name="T3" fmla="*/ 431 h 450"/>
                  <a:gd name="T4" fmla="*/ 292 w 387"/>
                  <a:gd name="T5" fmla="*/ 450 h 450"/>
                  <a:gd name="T6" fmla="*/ 387 w 387"/>
                  <a:gd name="T7" fmla="*/ 157 h 450"/>
                  <a:gd name="T8" fmla="*/ 140 w 387"/>
                  <a:gd name="T9" fmla="*/ 0 h 4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7" h="450">
                    <a:moveTo>
                      <a:pt x="140" y="0"/>
                    </a:moveTo>
                    <a:cubicBezTo>
                      <a:pt x="60" y="126"/>
                      <a:pt x="10" y="273"/>
                      <a:pt x="0" y="431"/>
                    </a:cubicBezTo>
                    <a:lnTo>
                      <a:pt x="292" y="450"/>
                    </a:lnTo>
                    <a:cubicBezTo>
                      <a:pt x="299" y="342"/>
                      <a:pt x="333" y="243"/>
                      <a:pt x="387" y="157"/>
                    </a:cubicBezTo>
                    <a:lnTo>
                      <a:pt x="140" y="0"/>
                    </a:lnTo>
                    <a:close/>
                  </a:path>
                </a:pathLst>
              </a:custGeom>
              <a:solidFill>
                <a:srgbClr val="808080"/>
              </a:solidFill>
              <a:ln w="635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" name="Segment 8">
                <a:extLst>
                  <a:ext uri="{FF2B5EF4-FFF2-40B4-BE49-F238E27FC236}">
                    <a16:creationId xmlns:a16="http://schemas.microsoft.com/office/drawing/2014/main" id="{FFD2E7D4-0E5C-5892-FAFC-7D4B66555B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5488" y="1787526"/>
                <a:ext cx="85725" cy="98425"/>
              </a:xfrm>
              <a:custGeom>
                <a:avLst/>
                <a:gdLst>
                  <a:gd name="T0" fmla="*/ 293 w 388"/>
                  <a:gd name="T1" fmla="*/ 0 h 450"/>
                  <a:gd name="T2" fmla="*/ 0 w 388"/>
                  <a:gd name="T3" fmla="*/ 19 h 450"/>
                  <a:gd name="T4" fmla="*/ 140 w 388"/>
                  <a:gd name="T5" fmla="*/ 450 h 450"/>
                  <a:gd name="T6" fmla="*/ 388 w 388"/>
                  <a:gd name="T7" fmla="*/ 294 h 450"/>
                  <a:gd name="T8" fmla="*/ 388 w 388"/>
                  <a:gd name="T9" fmla="*/ 293 h 450"/>
                  <a:gd name="T10" fmla="*/ 293 w 388"/>
                  <a:gd name="T11" fmla="*/ 0 h 4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88" h="450">
                    <a:moveTo>
                      <a:pt x="293" y="0"/>
                    </a:moveTo>
                    <a:lnTo>
                      <a:pt x="0" y="19"/>
                    </a:lnTo>
                    <a:cubicBezTo>
                      <a:pt x="10" y="177"/>
                      <a:pt x="60" y="324"/>
                      <a:pt x="140" y="450"/>
                    </a:cubicBezTo>
                    <a:lnTo>
                      <a:pt x="388" y="294"/>
                    </a:lnTo>
                    <a:cubicBezTo>
                      <a:pt x="388" y="294"/>
                      <a:pt x="388" y="294"/>
                      <a:pt x="388" y="293"/>
                    </a:cubicBezTo>
                    <a:cubicBezTo>
                      <a:pt x="334" y="208"/>
                      <a:pt x="300" y="108"/>
                      <a:pt x="293" y="0"/>
                    </a:cubicBezTo>
                    <a:close/>
                  </a:path>
                </a:pathLst>
              </a:custGeom>
              <a:solidFill>
                <a:srgbClr val="B3B3B3"/>
              </a:solidFill>
              <a:ln w="635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" name="Segment 7">
                <a:extLst>
                  <a:ext uri="{FF2B5EF4-FFF2-40B4-BE49-F238E27FC236}">
                    <a16:creationId xmlns:a16="http://schemas.microsoft.com/office/drawing/2014/main" id="{D62A05CB-0030-A453-B8A2-5E48844AF6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1526" y="1866901"/>
                <a:ext cx="104775" cy="100013"/>
              </a:xfrm>
              <a:custGeom>
                <a:avLst/>
                <a:gdLst>
                  <a:gd name="T0" fmla="*/ 225 w 474"/>
                  <a:gd name="T1" fmla="*/ 0 h 453"/>
                  <a:gd name="T2" fmla="*/ 0 w 474"/>
                  <a:gd name="T3" fmla="*/ 187 h 453"/>
                  <a:gd name="T4" fmla="*/ 367 w 474"/>
                  <a:gd name="T5" fmla="*/ 453 h 453"/>
                  <a:gd name="T6" fmla="*/ 474 w 474"/>
                  <a:gd name="T7" fmla="*/ 181 h 453"/>
                  <a:gd name="T8" fmla="*/ 225 w 474"/>
                  <a:gd name="T9" fmla="*/ 0 h 4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4" h="453">
                    <a:moveTo>
                      <a:pt x="225" y="0"/>
                    </a:moveTo>
                    <a:lnTo>
                      <a:pt x="0" y="187"/>
                    </a:lnTo>
                    <a:cubicBezTo>
                      <a:pt x="97" y="303"/>
                      <a:pt x="223" y="396"/>
                      <a:pt x="367" y="453"/>
                    </a:cubicBezTo>
                    <a:lnTo>
                      <a:pt x="474" y="181"/>
                    </a:lnTo>
                    <a:cubicBezTo>
                      <a:pt x="376" y="142"/>
                      <a:pt x="291" y="79"/>
                      <a:pt x="225" y="0"/>
                    </a:cubicBezTo>
                    <a:close/>
                  </a:path>
                </a:pathLst>
              </a:custGeom>
              <a:solidFill>
                <a:srgbClr val="B3B3B3"/>
              </a:solidFill>
              <a:ln w="635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" name="Segment 6">
                <a:extLst>
                  <a:ext uri="{FF2B5EF4-FFF2-40B4-BE49-F238E27FC236}">
                    <a16:creationId xmlns:a16="http://schemas.microsoft.com/office/drawing/2014/main" id="{CB8EC8A3-5BFC-3618-4BAB-6A90173EAE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7888" y="1911351"/>
                <a:ext cx="100013" cy="71438"/>
              </a:xfrm>
              <a:custGeom>
                <a:avLst/>
                <a:gdLst>
                  <a:gd name="T0" fmla="*/ 72 w 453"/>
                  <a:gd name="T1" fmla="*/ 0 h 320"/>
                  <a:gd name="T2" fmla="*/ 0 w 453"/>
                  <a:gd name="T3" fmla="*/ 284 h 320"/>
                  <a:gd name="T4" fmla="*/ 453 w 453"/>
                  <a:gd name="T5" fmla="*/ 284 h 320"/>
                  <a:gd name="T6" fmla="*/ 381 w 453"/>
                  <a:gd name="T7" fmla="*/ 0 h 320"/>
                  <a:gd name="T8" fmla="*/ 72 w 453"/>
                  <a:gd name="T9" fmla="*/ 0 h 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3" h="320">
                    <a:moveTo>
                      <a:pt x="72" y="0"/>
                    </a:moveTo>
                    <a:lnTo>
                      <a:pt x="0" y="284"/>
                    </a:lnTo>
                    <a:cubicBezTo>
                      <a:pt x="154" y="320"/>
                      <a:pt x="310" y="320"/>
                      <a:pt x="453" y="284"/>
                    </a:cubicBezTo>
                    <a:lnTo>
                      <a:pt x="381" y="0"/>
                    </a:lnTo>
                    <a:cubicBezTo>
                      <a:pt x="276" y="25"/>
                      <a:pt x="170" y="24"/>
                      <a:pt x="72" y="0"/>
                    </a:cubicBezTo>
                    <a:close/>
                  </a:path>
                </a:pathLst>
              </a:custGeom>
              <a:solidFill>
                <a:srgbClr val="B3B3B3"/>
              </a:solidFill>
              <a:ln w="635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" name="Segment 5">
                <a:extLst>
                  <a:ext uri="{FF2B5EF4-FFF2-40B4-BE49-F238E27FC236}">
                    <a16:creationId xmlns:a16="http://schemas.microsoft.com/office/drawing/2014/main" id="{A2A8EC38-0045-B2AD-AA49-09310AD294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7901" y="1866901"/>
                <a:ext cx="104775" cy="100013"/>
              </a:xfrm>
              <a:custGeom>
                <a:avLst/>
                <a:gdLst>
                  <a:gd name="T0" fmla="*/ 250 w 475"/>
                  <a:gd name="T1" fmla="*/ 0 h 453"/>
                  <a:gd name="T2" fmla="*/ 0 w 475"/>
                  <a:gd name="T3" fmla="*/ 181 h 453"/>
                  <a:gd name="T4" fmla="*/ 108 w 475"/>
                  <a:gd name="T5" fmla="*/ 453 h 453"/>
                  <a:gd name="T6" fmla="*/ 475 w 475"/>
                  <a:gd name="T7" fmla="*/ 187 h 453"/>
                  <a:gd name="T8" fmla="*/ 250 w 475"/>
                  <a:gd name="T9" fmla="*/ 0 h 4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5" h="453">
                    <a:moveTo>
                      <a:pt x="250" y="0"/>
                    </a:moveTo>
                    <a:cubicBezTo>
                      <a:pt x="184" y="80"/>
                      <a:pt x="98" y="142"/>
                      <a:pt x="0" y="181"/>
                    </a:cubicBezTo>
                    <a:lnTo>
                      <a:pt x="108" y="453"/>
                    </a:lnTo>
                    <a:cubicBezTo>
                      <a:pt x="252" y="396"/>
                      <a:pt x="378" y="303"/>
                      <a:pt x="475" y="187"/>
                    </a:cubicBezTo>
                    <a:lnTo>
                      <a:pt x="250" y="0"/>
                    </a:lnTo>
                    <a:close/>
                  </a:path>
                </a:pathLst>
              </a:custGeom>
              <a:solidFill>
                <a:srgbClr val="B3B3B3"/>
              </a:solidFill>
              <a:ln w="635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0" name="Segment 4">
                <a:extLst>
                  <a:ext uri="{FF2B5EF4-FFF2-40B4-BE49-F238E27FC236}">
                    <a16:creationId xmlns:a16="http://schemas.microsoft.com/office/drawing/2014/main" id="{3B09BE26-0350-61FD-EB1B-855BF75E9D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4576" y="1787526"/>
                <a:ext cx="85725" cy="98425"/>
              </a:xfrm>
              <a:custGeom>
                <a:avLst/>
                <a:gdLst>
                  <a:gd name="T0" fmla="*/ 96 w 388"/>
                  <a:gd name="T1" fmla="*/ 0 h 450"/>
                  <a:gd name="T2" fmla="*/ 0 w 388"/>
                  <a:gd name="T3" fmla="*/ 293 h 450"/>
                  <a:gd name="T4" fmla="*/ 248 w 388"/>
                  <a:gd name="T5" fmla="*/ 450 h 450"/>
                  <a:gd name="T6" fmla="*/ 388 w 388"/>
                  <a:gd name="T7" fmla="*/ 19 h 450"/>
                  <a:gd name="T8" fmla="*/ 96 w 388"/>
                  <a:gd name="T9" fmla="*/ 0 h 4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8" h="450">
                    <a:moveTo>
                      <a:pt x="96" y="0"/>
                    </a:moveTo>
                    <a:cubicBezTo>
                      <a:pt x="89" y="108"/>
                      <a:pt x="54" y="207"/>
                      <a:pt x="0" y="293"/>
                    </a:cubicBezTo>
                    <a:lnTo>
                      <a:pt x="248" y="450"/>
                    </a:lnTo>
                    <a:cubicBezTo>
                      <a:pt x="328" y="324"/>
                      <a:pt x="378" y="177"/>
                      <a:pt x="388" y="19"/>
                    </a:cubicBezTo>
                    <a:lnTo>
                      <a:pt x="96" y="0"/>
                    </a:lnTo>
                    <a:close/>
                  </a:path>
                </a:pathLst>
              </a:custGeom>
              <a:solidFill>
                <a:srgbClr val="B3B3B3"/>
              </a:solidFill>
              <a:ln w="635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" name="Segment 3">
                <a:extLst>
                  <a:ext uri="{FF2B5EF4-FFF2-40B4-BE49-F238E27FC236}">
                    <a16:creationId xmlns:a16="http://schemas.microsoft.com/office/drawing/2014/main" id="{26A8E04B-185D-3E04-D486-76D4B31020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4576" y="1670051"/>
                <a:ext cx="85725" cy="100013"/>
              </a:xfrm>
              <a:custGeom>
                <a:avLst/>
                <a:gdLst>
                  <a:gd name="T0" fmla="*/ 246 w 386"/>
                  <a:gd name="T1" fmla="*/ 0 h 450"/>
                  <a:gd name="T2" fmla="*/ 0 w 386"/>
                  <a:gd name="T3" fmla="*/ 156 h 450"/>
                  <a:gd name="T4" fmla="*/ 95 w 386"/>
                  <a:gd name="T5" fmla="*/ 450 h 450"/>
                  <a:gd name="T6" fmla="*/ 386 w 386"/>
                  <a:gd name="T7" fmla="*/ 431 h 450"/>
                  <a:gd name="T8" fmla="*/ 246 w 386"/>
                  <a:gd name="T9" fmla="*/ 0 h 4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6" h="450">
                    <a:moveTo>
                      <a:pt x="246" y="0"/>
                    </a:moveTo>
                    <a:lnTo>
                      <a:pt x="0" y="156"/>
                    </a:lnTo>
                    <a:cubicBezTo>
                      <a:pt x="55" y="242"/>
                      <a:pt x="88" y="342"/>
                      <a:pt x="95" y="450"/>
                    </a:cubicBezTo>
                    <a:lnTo>
                      <a:pt x="386" y="431"/>
                    </a:lnTo>
                    <a:cubicBezTo>
                      <a:pt x="376" y="273"/>
                      <a:pt x="326" y="126"/>
                      <a:pt x="246" y="0"/>
                    </a:cubicBezTo>
                    <a:close/>
                  </a:path>
                </a:pathLst>
              </a:custGeom>
              <a:solidFill>
                <a:srgbClr val="B3B3B3"/>
              </a:solidFill>
              <a:ln w="635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" name="Segment 2">
                <a:extLst>
                  <a:ext uri="{FF2B5EF4-FFF2-40B4-BE49-F238E27FC236}">
                    <a16:creationId xmlns:a16="http://schemas.microsoft.com/office/drawing/2014/main" id="{E83DDF79-B247-1C3C-166F-9487355806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9488" y="1590676"/>
                <a:ext cx="103188" cy="100013"/>
              </a:xfrm>
              <a:custGeom>
                <a:avLst/>
                <a:gdLst>
                  <a:gd name="T0" fmla="*/ 107 w 473"/>
                  <a:gd name="T1" fmla="*/ 0 h 452"/>
                  <a:gd name="T2" fmla="*/ 0 w 473"/>
                  <a:gd name="T3" fmla="*/ 271 h 452"/>
                  <a:gd name="T4" fmla="*/ 250 w 473"/>
                  <a:gd name="T5" fmla="*/ 452 h 452"/>
                  <a:gd name="T6" fmla="*/ 473 w 473"/>
                  <a:gd name="T7" fmla="*/ 267 h 452"/>
                  <a:gd name="T8" fmla="*/ 107 w 473"/>
                  <a:gd name="T9" fmla="*/ 0 h 4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3" h="452">
                    <a:moveTo>
                      <a:pt x="107" y="0"/>
                    </a:moveTo>
                    <a:lnTo>
                      <a:pt x="0" y="271"/>
                    </a:lnTo>
                    <a:cubicBezTo>
                      <a:pt x="97" y="310"/>
                      <a:pt x="184" y="373"/>
                      <a:pt x="250" y="452"/>
                    </a:cubicBezTo>
                    <a:lnTo>
                      <a:pt x="473" y="267"/>
                    </a:lnTo>
                    <a:cubicBezTo>
                      <a:pt x="376" y="150"/>
                      <a:pt x="251" y="57"/>
                      <a:pt x="107" y="0"/>
                    </a:cubicBezTo>
                    <a:close/>
                  </a:path>
                </a:pathLst>
              </a:custGeom>
              <a:solidFill>
                <a:srgbClr val="B3B3B3"/>
              </a:solidFill>
              <a:ln w="635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3" name="Segment 1">
                <a:extLst>
                  <a:ext uri="{FF2B5EF4-FFF2-40B4-BE49-F238E27FC236}">
                    <a16:creationId xmlns:a16="http://schemas.microsoft.com/office/drawing/2014/main" id="{F95F77D2-C7B9-A32F-0607-EEC90A6962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7888" y="1574801"/>
                <a:ext cx="100013" cy="69850"/>
              </a:xfrm>
              <a:custGeom>
                <a:avLst/>
                <a:gdLst>
                  <a:gd name="T0" fmla="*/ 0 w 453"/>
                  <a:gd name="T1" fmla="*/ 37 h 321"/>
                  <a:gd name="T2" fmla="*/ 72 w 453"/>
                  <a:gd name="T3" fmla="*/ 320 h 321"/>
                  <a:gd name="T4" fmla="*/ 381 w 453"/>
                  <a:gd name="T5" fmla="*/ 321 h 321"/>
                  <a:gd name="T6" fmla="*/ 453 w 453"/>
                  <a:gd name="T7" fmla="*/ 37 h 321"/>
                  <a:gd name="T8" fmla="*/ 0 w 453"/>
                  <a:gd name="T9" fmla="*/ 37 h 3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3" h="321">
                    <a:moveTo>
                      <a:pt x="0" y="37"/>
                    </a:moveTo>
                    <a:lnTo>
                      <a:pt x="72" y="320"/>
                    </a:lnTo>
                    <a:cubicBezTo>
                      <a:pt x="177" y="295"/>
                      <a:pt x="283" y="296"/>
                      <a:pt x="381" y="321"/>
                    </a:cubicBezTo>
                    <a:lnTo>
                      <a:pt x="453" y="37"/>
                    </a:lnTo>
                    <a:cubicBezTo>
                      <a:pt x="299" y="0"/>
                      <a:pt x="143" y="1"/>
                      <a:pt x="0" y="37"/>
                    </a:cubicBezTo>
                    <a:close/>
                  </a:path>
                </a:pathLst>
              </a:custGeom>
              <a:solidFill>
                <a:srgbClr val="404040"/>
              </a:solidFill>
              <a:ln w="635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600713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4FE0D708-A483-7677-53E6-67780746A91D}"/>
              </a:ext>
            </a:extLst>
          </p:cNvPr>
          <p:cNvSpPr txBox="1"/>
          <p:nvPr/>
        </p:nvSpPr>
        <p:spPr>
          <a:xfrm>
            <a:off x="787400" y="609600"/>
            <a:ext cx="2133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 smtClean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지방자치단체</a:t>
            </a:r>
            <a:r>
              <a:rPr kumimoji="0" lang="ko-KR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#</a:t>
            </a:r>
            <a:r>
              <a:rPr kumimoji="0" lang="en-US" altLang="ko-KR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26" name="Picture 2" descr="인천광역시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000" y="1600200"/>
            <a:ext cx="1714500" cy="381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98DDFD65-02E9-496A-B6A6-60E049C51D34}"/>
              </a:ext>
            </a:extLst>
          </p:cNvPr>
          <p:cNvSpPr/>
          <p:nvPr/>
        </p:nvSpPr>
        <p:spPr>
          <a:xfrm>
            <a:off x="1016000" y="1371600"/>
            <a:ext cx="11201400" cy="7239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F58C5078-D88C-2313-C6E5-5A52D4A2F242}"/>
              </a:ext>
            </a:extLst>
          </p:cNvPr>
          <p:cNvCxnSpPr/>
          <p:nvPr/>
        </p:nvCxnSpPr>
        <p:spPr>
          <a:xfrm flipH="1">
            <a:off x="1016000" y="2133600"/>
            <a:ext cx="11196000" cy="0"/>
          </a:xfrm>
          <a:prstGeom prst="straightConnector1">
            <a:avLst/>
          </a:prstGeom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1E46620-0857-3E98-A4FC-75F1CD6326B7}"/>
              </a:ext>
            </a:extLst>
          </p:cNvPr>
          <p:cNvSpPr txBox="1"/>
          <p:nvPr/>
        </p:nvSpPr>
        <p:spPr>
          <a:xfrm>
            <a:off x="1473198" y="3836938"/>
            <a:ext cx="10058401" cy="3139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ko-KR" altLang="en-US" dirty="0"/>
          </a:p>
        </p:txBody>
      </p:sp>
      <p:grpSp>
        <p:nvGrpSpPr>
          <p:cNvPr id="18" name="그룹 17"/>
          <p:cNvGrpSpPr/>
          <p:nvPr/>
        </p:nvGrpSpPr>
        <p:grpSpPr>
          <a:xfrm>
            <a:off x="4825999" y="4876800"/>
            <a:ext cx="3168000" cy="864000"/>
            <a:chOff x="4825999" y="4876800"/>
            <a:chExt cx="3168000" cy="864000"/>
          </a:xfrm>
        </p:grpSpPr>
        <p:sp>
          <p:nvSpPr>
            <p:cNvPr id="32" name="모서리가 둥근 직사각형 31"/>
            <p:cNvSpPr/>
            <p:nvPr/>
          </p:nvSpPr>
          <p:spPr>
            <a:xfrm>
              <a:off x="4825999" y="4876800"/>
              <a:ext cx="3168000" cy="864000"/>
            </a:xfrm>
            <a:prstGeom prst="roundRect">
              <a:avLst/>
            </a:prstGeom>
            <a:noFill/>
            <a:ln w="127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1" hangingPunct="1">
                <a:defRPr/>
              </a:pPr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5664200" y="5386768"/>
              <a:ext cx="1512000" cy="252000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5664200" y="5082000"/>
              <a:ext cx="1512000" cy="252000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861440" y="5085335"/>
              <a:ext cx="662361" cy="2520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 smtClean="0">
                  <a:solidFill>
                    <a:srgbClr val="FF0000"/>
                  </a:solidFill>
                </a:rPr>
                <a:t>*</a:t>
              </a:r>
              <a:r>
                <a:rPr lang="ko-KR" altLang="en-US" sz="1100" dirty="0" smtClean="0"/>
                <a:t>아이디</a:t>
              </a:r>
              <a:endParaRPr lang="ko-KR" altLang="en-US" sz="1100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881572" y="5393028"/>
              <a:ext cx="803425" cy="2520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 smtClean="0">
                  <a:solidFill>
                    <a:srgbClr val="FF0000"/>
                  </a:solidFill>
                </a:rPr>
                <a:t>*</a:t>
              </a:r>
              <a:r>
                <a:rPr lang="ko-KR" altLang="en-US" sz="1100" dirty="0" smtClean="0"/>
                <a:t>비밀번호</a:t>
              </a:r>
              <a:endParaRPr lang="ko-KR" altLang="en-US" sz="1100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336542" y="5204991"/>
              <a:ext cx="543739" cy="307777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400" dirty="0" smtClean="0"/>
                <a:t>확인</a:t>
              </a:r>
              <a:endParaRPr lang="ko-KR" altLang="en-US" sz="1400" dirty="0"/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 rot="10800000" flipV="1">
            <a:off x="2237897" y="2526269"/>
            <a:ext cx="8628539" cy="648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       </a:t>
            </a:r>
            <a:r>
              <a:rPr lang="ko-KR" altLang="en-US" sz="2000" dirty="0" smtClean="0">
                <a:solidFill>
                  <a:schemeClr val="tx1"/>
                </a:solidFill>
              </a:rPr>
              <a:t>기후 위기 극복을 위하여 탄소중립 플랫폼을 구축하고</a:t>
            </a:r>
            <a:r>
              <a:rPr lang="en-US" altLang="ko-KR" sz="2000" smtClean="0">
                <a:solidFill>
                  <a:schemeClr val="tx1"/>
                </a:solidFill>
              </a:rPr>
              <a:t>,</a:t>
            </a:r>
            <a:r>
              <a:rPr lang="ko-KR" altLang="en-US" sz="2000" smtClean="0">
                <a:solidFill>
                  <a:schemeClr val="tx1"/>
                </a:solidFill>
              </a:rPr>
              <a:t> </a:t>
            </a:r>
            <a:endParaRPr lang="en-US" altLang="ko-KR" sz="2000" dirty="0" smtClean="0">
              <a:solidFill>
                <a:schemeClr val="tx1"/>
              </a:solidFill>
            </a:endParaRPr>
          </a:p>
          <a:p>
            <a:pPr algn="l"/>
            <a:r>
              <a:rPr lang="en-US" altLang="ko-KR" sz="2000" dirty="0">
                <a:solidFill>
                  <a:schemeClr val="tx1"/>
                </a:solidFill>
              </a:rPr>
              <a:t> </a:t>
            </a:r>
            <a:r>
              <a:rPr lang="en-US" altLang="ko-KR" sz="2000" dirty="0" smtClean="0">
                <a:solidFill>
                  <a:schemeClr val="tx1"/>
                </a:solidFill>
              </a:rPr>
              <a:t>    </a:t>
            </a:r>
            <a:r>
              <a:rPr lang="ko-KR" altLang="en-US" sz="2000" dirty="0" smtClean="0">
                <a:solidFill>
                  <a:schemeClr val="tx1"/>
                </a:solidFill>
              </a:rPr>
              <a:t>커뮤니티를 활용</a:t>
            </a:r>
            <a:r>
              <a:rPr lang="en-US" altLang="ko-KR" sz="2000" dirty="0" smtClean="0">
                <a:solidFill>
                  <a:schemeClr val="tx1"/>
                </a:solidFill>
              </a:rPr>
              <a:t>,</a:t>
            </a:r>
            <a:r>
              <a:rPr lang="ko-KR" altLang="en-US" sz="2000" dirty="0" smtClean="0">
                <a:solidFill>
                  <a:schemeClr val="tx1"/>
                </a:solidFill>
              </a:rPr>
              <a:t>환경에 대한 이미지 재고에 대한 캠페인 전개와</a:t>
            </a:r>
            <a:endParaRPr lang="en-US" altLang="ko-KR" sz="2000" dirty="0" smtClean="0">
              <a:solidFill>
                <a:schemeClr val="tx1"/>
              </a:solidFill>
            </a:endParaRPr>
          </a:p>
          <a:p>
            <a:pPr algn="l"/>
            <a:r>
              <a:rPr lang="en-US" altLang="ko-KR" sz="2000" dirty="0">
                <a:solidFill>
                  <a:schemeClr val="tx1"/>
                </a:solidFill>
              </a:rPr>
              <a:t> </a:t>
            </a:r>
            <a:r>
              <a:rPr lang="en-US" altLang="ko-KR" sz="2000" dirty="0" smtClean="0">
                <a:solidFill>
                  <a:schemeClr val="tx1"/>
                </a:solidFill>
              </a:rPr>
              <a:t>    </a:t>
            </a:r>
            <a:r>
              <a:rPr lang="ko-KR" altLang="en-US" sz="2000" dirty="0" smtClean="0">
                <a:solidFill>
                  <a:schemeClr val="tx1"/>
                </a:solidFill>
              </a:rPr>
              <a:t>탄소중립 플랫폼을 활용</a:t>
            </a:r>
            <a:r>
              <a:rPr lang="en-US" altLang="ko-KR" sz="2000" dirty="0" smtClean="0">
                <a:solidFill>
                  <a:schemeClr val="tx1"/>
                </a:solidFill>
              </a:rPr>
              <a:t>,</a:t>
            </a:r>
            <a:r>
              <a:rPr lang="ko-KR" altLang="en-US" sz="2000" dirty="0" smtClean="0">
                <a:solidFill>
                  <a:schemeClr val="tx1"/>
                </a:solidFill>
              </a:rPr>
              <a:t> </a:t>
            </a:r>
            <a:r>
              <a:rPr lang="ko-KR" altLang="en-US" sz="2000" dirty="0">
                <a:solidFill>
                  <a:schemeClr val="tx1"/>
                </a:solidFill>
              </a:rPr>
              <a:t>환</a:t>
            </a:r>
            <a:r>
              <a:rPr lang="ko-KR" altLang="en-US" sz="2000" dirty="0" smtClean="0">
                <a:solidFill>
                  <a:schemeClr val="tx1"/>
                </a:solidFill>
              </a:rPr>
              <a:t>경 살리기 실천운동에 인천이 앞장 서겠습니다</a:t>
            </a:r>
            <a:r>
              <a:rPr lang="en-US" altLang="ko-KR" sz="2000" dirty="0" smtClean="0">
                <a:solidFill>
                  <a:schemeClr val="tx1"/>
                </a:solidFill>
              </a:rPr>
              <a:t>.</a:t>
            </a:r>
            <a:r>
              <a:rPr lang="ko-KR" altLang="en-US" sz="2000" dirty="0" smtClean="0">
                <a:solidFill>
                  <a:schemeClr val="tx1"/>
                </a:solidFill>
              </a:rPr>
              <a:t> </a:t>
            </a:r>
            <a:endParaRPr lang="en-US" altLang="ko-KR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8586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4FE0D708-A483-7677-53E6-67780746A91D}"/>
              </a:ext>
            </a:extLst>
          </p:cNvPr>
          <p:cNvSpPr txBox="1"/>
          <p:nvPr/>
        </p:nvSpPr>
        <p:spPr>
          <a:xfrm>
            <a:off x="787400" y="609600"/>
            <a:ext cx="2133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 smtClean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지방자치단체</a:t>
            </a:r>
            <a:r>
              <a:rPr kumimoji="0" lang="ko-KR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#</a:t>
            </a:r>
            <a:r>
              <a:rPr kumimoji="0" lang="en-US" altLang="ko-KR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16000" y="1371600"/>
            <a:ext cx="11201400" cy="7239000"/>
            <a:chOff x="1016000" y="1371600"/>
            <a:chExt cx="11201400" cy="7239000"/>
          </a:xfrm>
        </p:grpSpPr>
        <p:pic>
          <p:nvPicPr>
            <p:cNvPr id="1026" name="Picture 2" descr="인천광역시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7000" y="1600200"/>
              <a:ext cx="1714500" cy="381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8DDFD65-02E9-496A-B6A6-60E049C51D34}"/>
                </a:ext>
              </a:extLst>
            </p:cNvPr>
            <p:cNvSpPr/>
            <p:nvPr/>
          </p:nvSpPr>
          <p:spPr>
            <a:xfrm>
              <a:off x="1016000" y="1371600"/>
              <a:ext cx="11201400" cy="7239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F58C5078-D88C-2313-C6E5-5A52D4A2F242}"/>
                </a:ext>
              </a:extLst>
            </p:cNvPr>
            <p:cNvCxnSpPr/>
            <p:nvPr/>
          </p:nvCxnSpPr>
          <p:spPr>
            <a:xfrm flipH="1">
              <a:off x="1016000" y="2133600"/>
              <a:ext cx="11196000" cy="0"/>
            </a:xfrm>
            <a:prstGeom prst="straightConnector1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3911600" y="2705624"/>
            <a:ext cx="7848600" cy="647176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3932302" y="3588818"/>
            <a:ext cx="7827897" cy="266700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sz="1200" dirty="0">
              <a:solidFill>
                <a:schemeClr val="tx1"/>
              </a:solidFill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1473200" y="2743201"/>
            <a:ext cx="2057400" cy="5029199"/>
            <a:chOff x="1473200" y="2743201"/>
            <a:chExt cx="2057400" cy="5029199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473200" y="2743201"/>
              <a:ext cx="2057400" cy="5029199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719800" y="2895601"/>
              <a:ext cx="1512000" cy="252000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smtClean="0">
                  <a:solidFill>
                    <a:schemeClr val="tx1"/>
                  </a:solidFill>
                </a:rPr>
                <a:t>탄소중립 활동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719800" y="5208000"/>
              <a:ext cx="1512000" cy="252000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     커뮤니티 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719800" y="3241500"/>
              <a:ext cx="1008000" cy="252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기초 정보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713885" y="3928620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smtClean="0">
                  <a:solidFill>
                    <a:schemeClr val="tx1"/>
                  </a:solidFill>
                </a:rPr>
                <a:t>가맹점 </a:t>
              </a:r>
              <a:r>
                <a:rPr lang="ko-KR" altLang="en-US" sz="1200" dirty="0" smtClean="0">
                  <a:solidFill>
                    <a:schemeClr val="tx1"/>
                  </a:solidFill>
                </a:rPr>
                <a:t>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713885" y="3581511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회원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713885" y="4275729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1200" dirty="0" smtClean="0">
                  <a:solidFill>
                    <a:schemeClr val="tx1"/>
                  </a:solidFill>
                </a:rPr>
                <a:t>QR</a:t>
              </a:r>
              <a:r>
                <a:rPr lang="ko-KR" altLang="en-US" sz="1200" dirty="0" smtClean="0">
                  <a:solidFill>
                    <a:schemeClr val="tx1"/>
                  </a:solidFill>
                </a:rPr>
                <a:t>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640638" y="5555109"/>
              <a:ext cx="1008000" cy="252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기초 정보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640638" y="5807109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smtClean="0">
                  <a:solidFill>
                    <a:schemeClr val="tx1"/>
                  </a:solidFill>
                </a:rPr>
                <a:t>시정 홍보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640638" y="6059109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뉴스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640638" y="6311109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smtClean="0">
                  <a:solidFill>
                    <a:schemeClr val="tx1"/>
                  </a:solidFill>
                </a:rPr>
                <a:t>이벤트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640638" y="6563109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공지사항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4532919" y="2903212"/>
            <a:ext cx="662361" cy="252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*</a:t>
            </a:r>
            <a:r>
              <a:rPr lang="ko-KR" altLang="en-US" sz="1100" dirty="0" smtClean="0"/>
              <a:t>아이디</a:t>
            </a:r>
            <a:endParaRPr lang="ko-KR" altLang="en-US" sz="1100" dirty="0"/>
          </a:p>
        </p:txBody>
      </p:sp>
      <p:sp>
        <p:nvSpPr>
          <p:cNvPr id="43" name="TextBox 42"/>
          <p:cNvSpPr txBox="1"/>
          <p:nvPr/>
        </p:nvSpPr>
        <p:spPr>
          <a:xfrm>
            <a:off x="7019253" y="2903212"/>
            <a:ext cx="803425" cy="252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*</a:t>
            </a:r>
            <a:r>
              <a:rPr lang="ko-KR" altLang="en-US" sz="1100" dirty="0" smtClean="0"/>
              <a:t>비밀번호</a:t>
            </a:r>
            <a:endParaRPr lang="ko-KR" altLang="en-US" sz="1100" dirty="0"/>
          </a:p>
        </p:txBody>
      </p:sp>
      <p:sp>
        <p:nvSpPr>
          <p:cNvPr id="44" name="TextBox 43"/>
          <p:cNvSpPr txBox="1"/>
          <p:nvPr/>
        </p:nvSpPr>
        <p:spPr>
          <a:xfrm>
            <a:off x="10205158" y="2903212"/>
            <a:ext cx="396000" cy="2520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100" dirty="0" smtClean="0"/>
              <a:t>확인</a:t>
            </a:r>
            <a:endParaRPr lang="ko-KR" altLang="en-US" sz="1100" dirty="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5208502" y="2910216"/>
            <a:ext cx="1512000" cy="21600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     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7822678" y="2895601"/>
            <a:ext cx="1512000" cy="21600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     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3683000" y="2387328"/>
            <a:ext cx="1512000" cy="216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     개인정보 변경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435699" y="3866343"/>
            <a:ext cx="5597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*</a:t>
            </a:r>
            <a:r>
              <a:rPr lang="ko-KR" altLang="en-US" sz="1100" dirty="0" smtClean="0"/>
              <a:t>성 명</a:t>
            </a:r>
            <a:endParaRPr lang="ko-KR" altLang="en-US" sz="1100" dirty="0"/>
          </a:p>
        </p:txBody>
      </p:sp>
      <p:sp>
        <p:nvSpPr>
          <p:cNvPr id="49" name="TextBox 48"/>
          <p:cNvSpPr txBox="1"/>
          <p:nvPr/>
        </p:nvSpPr>
        <p:spPr>
          <a:xfrm>
            <a:off x="4435697" y="4275729"/>
            <a:ext cx="8034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*</a:t>
            </a:r>
            <a:r>
              <a:rPr lang="ko-KR" altLang="en-US" sz="1100" dirty="0" smtClean="0"/>
              <a:t>비밀번호</a:t>
            </a:r>
            <a:endParaRPr lang="ko-KR" altLang="en-US" sz="1100" dirty="0"/>
          </a:p>
        </p:txBody>
      </p:sp>
      <p:sp>
        <p:nvSpPr>
          <p:cNvPr id="50" name="TextBox 49"/>
          <p:cNvSpPr txBox="1"/>
          <p:nvPr/>
        </p:nvSpPr>
        <p:spPr>
          <a:xfrm>
            <a:off x="4460718" y="4685115"/>
            <a:ext cx="8418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*</a:t>
            </a:r>
            <a:r>
              <a:rPr lang="ko-KR" altLang="en-US" sz="1100" dirty="0" smtClean="0"/>
              <a:t>담당 부서</a:t>
            </a:r>
            <a:endParaRPr lang="ko-KR" altLang="en-US" sz="1100" dirty="0"/>
          </a:p>
        </p:txBody>
      </p:sp>
      <p:sp>
        <p:nvSpPr>
          <p:cNvPr id="51" name="TextBox 50"/>
          <p:cNvSpPr txBox="1"/>
          <p:nvPr/>
        </p:nvSpPr>
        <p:spPr>
          <a:xfrm>
            <a:off x="4435698" y="5077195"/>
            <a:ext cx="8034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*</a:t>
            </a:r>
            <a:r>
              <a:rPr lang="ko-KR" altLang="en-US" sz="1100" dirty="0" smtClean="0"/>
              <a:t>전화번호</a:t>
            </a:r>
            <a:endParaRPr lang="ko-KR" altLang="en-US" sz="1100" dirty="0"/>
          </a:p>
        </p:txBody>
      </p:sp>
      <p:sp>
        <p:nvSpPr>
          <p:cNvPr id="52" name="TextBox 51"/>
          <p:cNvSpPr txBox="1"/>
          <p:nvPr/>
        </p:nvSpPr>
        <p:spPr>
          <a:xfrm>
            <a:off x="4453442" y="5512639"/>
            <a:ext cx="5998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*</a:t>
            </a:r>
            <a:r>
              <a:rPr lang="en-US" altLang="ko-KR" sz="1100" dirty="0" smtClean="0"/>
              <a:t>e</a:t>
            </a:r>
            <a:r>
              <a:rPr lang="ko-KR" altLang="en-US" sz="1100" dirty="0" smtClean="0"/>
              <a:t>메일</a:t>
            </a:r>
            <a:endParaRPr lang="ko-KR" altLang="en-US" sz="1100" dirty="0"/>
          </a:p>
        </p:txBody>
      </p:sp>
      <p:sp>
        <p:nvSpPr>
          <p:cNvPr id="53" name="TextBox 52"/>
          <p:cNvSpPr txBox="1"/>
          <p:nvPr/>
        </p:nvSpPr>
        <p:spPr>
          <a:xfrm>
            <a:off x="7493000" y="4321339"/>
            <a:ext cx="11240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*</a:t>
            </a:r>
            <a:r>
              <a:rPr lang="ko-KR" altLang="en-US" sz="1100" dirty="0" smtClean="0"/>
              <a:t>비밀번호 확인</a:t>
            </a:r>
            <a:endParaRPr lang="ko-KR" altLang="en-US" sz="1100" dirty="0"/>
          </a:p>
        </p:txBody>
      </p:sp>
      <p:sp>
        <p:nvSpPr>
          <p:cNvPr id="54" name="TextBox 53"/>
          <p:cNvSpPr txBox="1"/>
          <p:nvPr/>
        </p:nvSpPr>
        <p:spPr>
          <a:xfrm>
            <a:off x="7527458" y="4718247"/>
            <a:ext cx="5212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*</a:t>
            </a:r>
            <a:r>
              <a:rPr lang="ko-KR" altLang="en-US" sz="1100" dirty="0" smtClean="0"/>
              <a:t>직급</a:t>
            </a:r>
            <a:endParaRPr lang="ko-KR" altLang="en-US" sz="1100" dirty="0"/>
          </a:p>
        </p:txBody>
      </p:sp>
      <p:sp>
        <p:nvSpPr>
          <p:cNvPr id="55" name="TextBox 54"/>
          <p:cNvSpPr txBox="1"/>
          <p:nvPr/>
        </p:nvSpPr>
        <p:spPr>
          <a:xfrm>
            <a:off x="7519622" y="5129900"/>
            <a:ext cx="8418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*</a:t>
            </a:r>
            <a:r>
              <a:rPr lang="ko-KR" altLang="en-US" sz="1100" dirty="0" smtClean="0"/>
              <a:t>휴대 전화</a:t>
            </a:r>
            <a:endParaRPr lang="ko-KR" altLang="en-US" sz="1100" dirty="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5359400" y="3902343"/>
            <a:ext cx="1512000" cy="21600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     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5359400" y="4321339"/>
            <a:ext cx="1512000" cy="21600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     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8636000" y="4321339"/>
            <a:ext cx="1512000" cy="21600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     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5359400" y="4741052"/>
            <a:ext cx="1512000" cy="21600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     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8636000" y="4733930"/>
            <a:ext cx="1512000" cy="21600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     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5359400" y="5118000"/>
            <a:ext cx="1512000" cy="21600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     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8636000" y="5118000"/>
            <a:ext cx="1512000" cy="21600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     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5359400" y="5541553"/>
            <a:ext cx="4824000" cy="21600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     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0847901" y="5495943"/>
            <a:ext cx="466794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100" dirty="0" smtClean="0">
                <a:solidFill>
                  <a:srgbClr val="FF0000"/>
                </a:solidFill>
              </a:rPr>
              <a:t>수정</a:t>
            </a:r>
            <a:endParaRPr lang="ko-KR" altLang="en-US" sz="1100" dirty="0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10889816" y="5536585"/>
            <a:ext cx="396000" cy="21600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     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124DFC9E-2684-313D-F7E8-0C28B1AEB811}"/>
              </a:ext>
            </a:extLst>
          </p:cNvPr>
          <p:cNvCxnSpPr/>
          <p:nvPr/>
        </p:nvCxnSpPr>
        <p:spPr>
          <a:xfrm flipH="1">
            <a:off x="2755400" y="3352800"/>
            <a:ext cx="1080000" cy="0"/>
          </a:xfrm>
          <a:prstGeom prst="straightConnector1">
            <a:avLst/>
          </a:prstGeom>
          <a:ln w="63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1650391" y="4622838"/>
            <a:ext cx="1512000" cy="252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공지사항 관리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124DFC9E-2684-313D-F7E8-0C28B1AEB811}"/>
              </a:ext>
            </a:extLst>
          </p:cNvPr>
          <p:cNvCxnSpPr/>
          <p:nvPr/>
        </p:nvCxnSpPr>
        <p:spPr>
          <a:xfrm flipH="1">
            <a:off x="2685885" y="5698366"/>
            <a:ext cx="1080000" cy="0"/>
          </a:xfrm>
          <a:prstGeom prst="straightConnector1">
            <a:avLst/>
          </a:prstGeom>
          <a:ln w="63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39858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4FE0D708-A483-7677-53E6-67780746A91D}"/>
              </a:ext>
            </a:extLst>
          </p:cNvPr>
          <p:cNvSpPr txBox="1"/>
          <p:nvPr/>
        </p:nvSpPr>
        <p:spPr>
          <a:xfrm>
            <a:off x="787400" y="609600"/>
            <a:ext cx="2133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 smtClean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지방자치단체</a:t>
            </a:r>
            <a:r>
              <a:rPr kumimoji="0" lang="ko-KR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#</a:t>
            </a:r>
            <a:r>
              <a:rPr kumimoji="0" lang="en-US" altLang="ko-KR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16000" y="1371600"/>
            <a:ext cx="11201400" cy="7239000"/>
            <a:chOff x="1016000" y="1371600"/>
            <a:chExt cx="11201400" cy="7239000"/>
          </a:xfrm>
        </p:grpSpPr>
        <p:pic>
          <p:nvPicPr>
            <p:cNvPr id="1026" name="Picture 2" descr="인천광역시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7000" y="1600200"/>
              <a:ext cx="1714500" cy="381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8DDFD65-02E9-496A-B6A6-60E049C51D34}"/>
                </a:ext>
              </a:extLst>
            </p:cNvPr>
            <p:cNvSpPr/>
            <p:nvPr/>
          </p:nvSpPr>
          <p:spPr>
            <a:xfrm>
              <a:off x="1016000" y="1371600"/>
              <a:ext cx="11201400" cy="7239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F58C5078-D88C-2313-C6E5-5A52D4A2F242}"/>
                </a:ext>
              </a:extLst>
            </p:cNvPr>
            <p:cNvCxnSpPr/>
            <p:nvPr/>
          </p:nvCxnSpPr>
          <p:spPr>
            <a:xfrm flipH="1">
              <a:off x="1016000" y="2133600"/>
              <a:ext cx="11196000" cy="0"/>
            </a:xfrm>
            <a:prstGeom prst="straightConnector1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그룹 10"/>
          <p:cNvGrpSpPr/>
          <p:nvPr/>
        </p:nvGrpSpPr>
        <p:grpSpPr>
          <a:xfrm>
            <a:off x="1473200" y="2526269"/>
            <a:ext cx="2057400" cy="5398531"/>
            <a:chOff x="1473200" y="2743201"/>
            <a:chExt cx="2057400" cy="5029199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473200" y="2743201"/>
              <a:ext cx="2057400" cy="5029199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719800" y="2895601"/>
              <a:ext cx="1512000" cy="252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탄소중립 활동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719800" y="5208000"/>
              <a:ext cx="1512000" cy="252000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     커뮤니티 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719800" y="3241500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기초 정보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713885" y="3928620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가맹점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713885" y="3581511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회원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713885" y="4275729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1200" dirty="0" smtClean="0">
                  <a:solidFill>
                    <a:schemeClr val="tx1"/>
                  </a:solidFill>
                </a:rPr>
                <a:t>QR</a:t>
              </a:r>
              <a:r>
                <a:rPr lang="ko-KR" altLang="en-US" sz="1200" dirty="0" smtClean="0">
                  <a:solidFill>
                    <a:schemeClr val="tx1"/>
                  </a:solidFill>
                </a:rPr>
                <a:t>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640638" y="5555109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기초 정보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640638" y="5807109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smtClean="0">
                  <a:solidFill>
                    <a:schemeClr val="tx1"/>
                  </a:solidFill>
                </a:rPr>
                <a:t>시정 홍보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640638" y="6059109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뉴스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640638" y="6311109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smtClean="0">
                  <a:solidFill>
                    <a:schemeClr val="tx1"/>
                  </a:solidFill>
                </a:rPr>
                <a:t>이벤트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640638" y="6563109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공지사항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1683261" y="4682381"/>
            <a:ext cx="1512000" cy="252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공지사항 관리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4966822" y="2905518"/>
            <a:ext cx="2883517" cy="1397889"/>
            <a:chOff x="4978398" y="2640711"/>
            <a:chExt cx="2883517" cy="1397889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4978400" y="2640711"/>
              <a:ext cx="2883515" cy="1397889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4978398" y="2777648"/>
              <a:ext cx="2215801" cy="18031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회원등록</a:t>
              </a:r>
              <a:r>
                <a:rPr lang="en-US" altLang="ko-KR" sz="1200" dirty="0" smtClean="0">
                  <a:solidFill>
                    <a:schemeClr val="tx1"/>
                  </a:solidFill>
                </a:rPr>
                <a:t>/</a:t>
              </a:r>
              <a:r>
                <a:rPr lang="ko-KR" altLang="en-US" sz="1200" dirty="0" smtClean="0">
                  <a:solidFill>
                    <a:schemeClr val="tx1"/>
                  </a:solidFill>
                </a:rPr>
                <a:t>변경</a:t>
              </a:r>
              <a:r>
                <a:rPr lang="en-US" altLang="ko-KR" sz="1200" dirty="0" smtClean="0">
                  <a:solidFill>
                    <a:schemeClr val="tx1"/>
                  </a:solidFill>
                </a:rPr>
                <a:t>/</a:t>
              </a:r>
              <a:r>
                <a:rPr lang="ko-KR" altLang="en-US" sz="1200" dirty="0" smtClean="0">
                  <a:solidFill>
                    <a:schemeClr val="tx1"/>
                  </a:solidFill>
                </a:rPr>
                <a:t>수정</a:t>
              </a:r>
              <a:r>
                <a:rPr lang="en-US" altLang="ko-KR" sz="1200" dirty="0" smtClean="0">
                  <a:solidFill>
                    <a:schemeClr val="tx1"/>
                  </a:solidFill>
                </a:rPr>
                <a:t>/</a:t>
              </a:r>
              <a:r>
                <a:rPr lang="ko-KR" altLang="en-US" sz="1200" dirty="0" smtClean="0">
                  <a:solidFill>
                    <a:schemeClr val="tx1"/>
                  </a:solidFill>
                </a:rPr>
                <a:t>삭제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4978399" y="3016866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회원 조회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4978399" y="3253995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사용 실적 조회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4978398" y="3493213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실시간 랭킹 조회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4978398" y="3730657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1200" dirty="0" smtClean="0">
                  <a:solidFill>
                    <a:schemeClr val="tx1"/>
                  </a:solidFill>
                </a:rPr>
                <a:t>QR</a:t>
              </a:r>
              <a:r>
                <a:rPr lang="ko-KR" altLang="en-US" sz="1200" dirty="0" smtClean="0">
                  <a:solidFill>
                    <a:schemeClr val="tx1"/>
                  </a:solidFill>
                </a:rPr>
                <a:t> 정보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4944906" y="4675100"/>
            <a:ext cx="2905433" cy="1437797"/>
            <a:chOff x="4944906" y="4275729"/>
            <a:chExt cx="2905433" cy="1437797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4978400" y="4275729"/>
              <a:ext cx="2871939" cy="1437797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4983906" y="4328996"/>
              <a:ext cx="2356694" cy="25179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가맹점 등록</a:t>
              </a:r>
              <a:r>
                <a:rPr lang="en-US" altLang="ko-KR" sz="1200" dirty="0" smtClean="0">
                  <a:solidFill>
                    <a:schemeClr val="tx1"/>
                  </a:solidFill>
                </a:rPr>
                <a:t>/</a:t>
              </a:r>
              <a:r>
                <a:rPr lang="ko-KR" altLang="en-US" sz="1200" dirty="0" smtClean="0">
                  <a:solidFill>
                    <a:schemeClr val="tx1"/>
                  </a:solidFill>
                </a:rPr>
                <a:t>변경</a:t>
              </a:r>
              <a:r>
                <a:rPr lang="en-US" altLang="ko-KR" sz="1200" dirty="0" smtClean="0">
                  <a:solidFill>
                    <a:schemeClr val="tx1"/>
                  </a:solidFill>
                </a:rPr>
                <a:t>/</a:t>
              </a:r>
              <a:r>
                <a:rPr lang="ko-KR" altLang="en-US" sz="1200" dirty="0" smtClean="0">
                  <a:solidFill>
                    <a:schemeClr val="tx1"/>
                  </a:solidFill>
                </a:rPr>
                <a:t>수정</a:t>
              </a:r>
              <a:r>
                <a:rPr lang="en-US" altLang="ko-KR" sz="1200" dirty="0" smtClean="0">
                  <a:solidFill>
                    <a:schemeClr val="tx1"/>
                  </a:solidFill>
                </a:rPr>
                <a:t>/</a:t>
              </a:r>
              <a:r>
                <a:rPr lang="ko-KR" altLang="en-US" sz="1200" dirty="0" smtClean="0">
                  <a:solidFill>
                    <a:schemeClr val="tx1"/>
                  </a:solidFill>
                </a:rPr>
                <a:t>삭제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4975525" y="4581752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가맹점 조회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4958569" y="4832793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1200" dirty="0" smtClean="0">
                  <a:solidFill>
                    <a:schemeClr val="tx1"/>
                  </a:solidFill>
                </a:rPr>
                <a:t>QR</a:t>
              </a:r>
              <a:r>
                <a:rPr lang="ko-KR" altLang="en-US" sz="1200" dirty="0" smtClean="0">
                  <a:solidFill>
                    <a:schemeClr val="tx1"/>
                  </a:solidFill>
                </a:rPr>
                <a:t>판매</a:t>
              </a:r>
              <a:r>
                <a:rPr lang="ko-KR" altLang="en-US" sz="1200" dirty="0">
                  <a:solidFill>
                    <a:schemeClr val="tx1"/>
                  </a:solidFill>
                </a:rPr>
                <a:t> </a:t>
              </a:r>
              <a:r>
                <a:rPr lang="ko-KR" altLang="en-US" sz="1200" dirty="0" smtClean="0">
                  <a:solidFill>
                    <a:schemeClr val="tx1"/>
                  </a:solidFill>
                </a:rPr>
                <a:t>조회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4944906" y="5092077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실적 조회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4958130" y="5344077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 정보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4954821" y="6484590"/>
            <a:ext cx="2907520" cy="1437797"/>
            <a:chOff x="4942818" y="5937791"/>
            <a:chExt cx="2907520" cy="1437797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4978399" y="5937791"/>
              <a:ext cx="2871939" cy="1437797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4958130" y="6071471"/>
              <a:ext cx="1849070" cy="17296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1200" dirty="0" smtClean="0">
                  <a:solidFill>
                    <a:schemeClr val="tx1"/>
                  </a:solidFill>
                </a:rPr>
                <a:t>QR</a:t>
              </a:r>
              <a:r>
                <a:rPr lang="ko-KR" altLang="en-US" sz="1200" dirty="0" smtClean="0">
                  <a:solidFill>
                    <a:schemeClr val="tx1"/>
                  </a:solidFill>
                </a:rPr>
                <a:t>코드 조직내 배포 조회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4944906" y="6323471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1200" dirty="0" smtClean="0">
                  <a:solidFill>
                    <a:schemeClr val="tx1"/>
                  </a:solidFill>
                </a:rPr>
                <a:t>QR </a:t>
              </a:r>
              <a:r>
                <a:rPr lang="ko-KR" altLang="en-US" sz="1200" dirty="0" smtClean="0">
                  <a:solidFill>
                    <a:schemeClr val="tx1"/>
                  </a:solidFill>
                </a:rPr>
                <a:t>코드 생성 조회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4942818" y="6590139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1200" dirty="0" smtClean="0">
                  <a:solidFill>
                    <a:schemeClr val="tx1"/>
                  </a:solidFill>
                </a:rPr>
                <a:t>QR</a:t>
              </a:r>
              <a:r>
                <a:rPr lang="ko-KR" altLang="en-US" sz="1200" dirty="0" smtClean="0">
                  <a:solidFill>
                    <a:schemeClr val="tx1"/>
                  </a:solidFill>
                </a:rPr>
                <a:t>코드 발급 조회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4942818" y="6858724"/>
              <a:ext cx="2016782" cy="220544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1200" dirty="0" smtClean="0">
                  <a:solidFill>
                    <a:schemeClr val="tx1"/>
                  </a:solidFill>
                </a:rPr>
                <a:t>QR</a:t>
              </a:r>
              <a:r>
                <a:rPr lang="ko-KR" altLang="en-US" sz="1200" dirty="0" smtClean="0">
                  <a:solidFill>
                    <a:schemeClr val="tx1"/>
                  </a:solidFill>
                </a:rPr>
                <a:t>코드 사용 실적 조회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4943514" y="7123588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 정보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4919153" y="2652314"/>
            <a:ext cx="1512000" cy="27050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회원 관리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4888625" y="4414369"/>
            <a:ext cx="1512000" cy="27050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가맹점 관리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4975525" y="6203633"/>
            <a:ext cx="1512000" cy="27050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1200" dirty="0" smtClean="0">
                <a:solidFill>
                  <a:schemeClr val="tx1"/>
                </a:solidFill>
              </a:rPr>
              <a:t>QR</a:t>
            </a:r>
            <a:r>
              <a:rPr lang="ko-KR" altLang="en-US" sz="1200" dirty="0" smtClean="0">
                <a:solidFill>
                  <a:schemeClr val="tx1"/>
                </a:solidFill>
              </a:rPr>
              <a:t> 관리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grpSp>
        <p:nvGrpSpPr>
          <p:cNvPr id="60" name="그룹 59"/>
          <p:cNvGrpSpPr/>
          <p:nvPr/>
        </p:nvGrpSpPr>
        <p:grpSpPr>
          <a:xfrm>
            <a:off x="8885685" y="4682381"/>
            <a:ext cx="2568856" cy="2138744"/>
            <a:chOff x="4009744" y="2743200"/>
            <a:chExt cx="2568856" cy="2138744"/>
          </a:xfrm>
        </p:grpSpPr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4009744" y="2743200"/>
              <a:ext cx="2568856" cy="2133600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4037231" y="2970250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공지사항 등록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4045419" y="3394675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당첨자 발송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4056485" y="3820281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푸시 기능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4056485" y="4237276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기초 정보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4037231" y="4629944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문의 및 제안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8793526" y="4441848"/>
            <a:ext cx="1512000" cy="252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공지사항 관리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75473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4FE0D708-A483-7677-53E6-67780746A91D}"/>
              </a:ext>
            </a:extLst>
          </p:cNvPr>
          <p:cNvSpPr txBox="1"/>
          <p:nvPr/>
        </p:nvSpPr>
        <p:spPr>
          <a:xfrm>
            <a:off x="787400" y="609600"/>
            <a:ext cx="2133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 smtClean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지방자치단체</a:t>
            </a:r>
            <a:r>
              <a:rPr kumimoji="0" lang="ko-KR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#</a:t>
            </a:r>
            <a:r>
              <a:rPr kumimoji="0" lang="en-US" altLang="ko-KR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16000" y="1371600"/>
            <a:ext cx="11201400" cy="7239000"/>
            <a:chOff x="1016000" y="1371600"/>
            <a:chExt cx="11201400" cy="7239000"/>
          </a:xfrm>
        </p:grpSpPr>
        <p:pic>
          <p:nvPicPr>
            <p:cNvPr id="1026" name="Picture 2" descr="인천광역시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7000" y="1600200"/>
              <a:ext cx="1714500" cy="381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8DDFD65-02E9-496A-B6A6-60E049C51D34}"/>
                </a:ext>
              </a:extLst>
            </p:cNvPr>
            <p:cNvSpPr/>
            <p:nvPr/>
          </p:nvSpPr>
          <p:spPr>
            <a:xfrm>
              <a:off x="1016000" y="1371600"/>
              <a:ext cx="11201400" cy="7239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F58C5078-D88C-2313-C6E5-5A52D4A2F242}"/>
                </a:ext>
              </a:extLst>
            </p:cNvPr>
            <p:cNvCxnSpPr/>
            <p:nvPr/>
          </p:nvCxnSpPr>
          <p:spPr>
            <a:xfrm flipH="1">
              <a:off x="1016000" y="2133600"/>
              <a:ext cx="11196000" cy="0"/>
            </a:xfrm>
            <a:prstGeom prst="straightConnector1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그룹 10"/>
          <p:cNvGrpSpPr/>
          <p:nvPr/>
        </p:nvGrpSpPr>
        <p:grpSpPr>
          <a:xfrm>
            <a:off x="1473200" y="2743201"/>
            <a:ext cx="2057400" cy="5029199"/>
            <a:chOff x="1473200" y="2743201"/>
            <a:chExt cx="2057400" cy="5029199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473200" y="2743201"/>
              <a:ext cx="2057400" cy="5029199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719800" y="2895601"/>
              <a:ext cx="1512000" cy="252000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smtClean="0">
                  <a:solidFill>
                    <a:schemeClr val="tx1"/>
                  </a:solidFill>
                </a:rPr>
                <a:t>탄소중립 활동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719800" y="5208000"/>
              <a:ext cx="1512000" cy="252000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     커뮤니티 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719800" y="3241500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기초 정보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713885" y="3928620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smtClean="0">
                  <a:solidFill>
                    <a:schemeClr val="tx1"/>
                  </a:solidFill>
                </a:rPr>
                <a:t>가맹점 </a:t>
              </a:r>
              <a:r>
                <a:rPr lang="ko-KR" altLang="en-US" sz="1200" dirty="0" smtClean="0">
                  <a:solidFill>
                    <a:schemeClr val="tx1"/>
                  </a:solidFill>
                </a:rPr>
                <a:t>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713885" y="3581511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회원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713885" y="4275729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1200" dirty="0" smtClean="0">
                  <a:solidFill>
                    <a:schemeClr val="tx1"/>
                  </a:solidFill>
                </a:rPr>
                <a:t>QR</a:t>
              </a:r>
              <a:r>
                <a:rPr lang="ko-KR" altLang="en-US" sz="1200" dirty="0" smtClean="0">
                  <a:solidFill>
                    <a:schemeClr val="tx1"/>
                  </a:solidFill>
                </a:rPr>
                <a:t>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640638" y="5555109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기초 정보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640638" y="5807109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smtClean="0">
                  <a:solidFill>
                    <a:schemeClr val="tx1"/>
                  </a:solidFill>
                </a:rPr>
                <a:t>시정 홍보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640638" y="6059109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뉴스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640638" y="6311109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smtClean="0">
                  <a:solidFill>
                    <a:schemeClr val="tx1"/>
                  </a:solidFill>
                </a:rPr>
                <a:t>이벤트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640638" y="6563109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공지사항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124DFC9E-2684-313D-F7E8-0C28B1AEB811}"/>
              </a:ext>
            </a:extLst>
          </p:cNvPr>
          <p:cNvCxnSpPr/>
          <p:nvPr/>
        </p:nvCxnSpPr>
        <p:spPr>
          <a:xfrm flipH="1">
            <a:off x="2540000" y="3708679"/>
            <a:ext cx="1260000" cy="0"/>
          </a:xfrm>
          <a:prstGeom prst="straightConnector1">
            <a:avLst/>
          </a:prstGeom>
          <a:ln w="63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1683261" y="4682381"/>
            <a:ext cx="1512000" cy="252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공지사항 관리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3835726" y="2743201"/>
            <a:ext cx="2215801" cy="1397889"/>
            <a:chOff x="4978398" y="2640711"/>
            <a:chExt cx="2215801" cy="1397889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4978400" y="2640711"/>
              <a:ext cx="2088000" cy="1397889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4978398" y="2777648"/>
              <a:ext cx="2215801" cy="18031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회원등록</a:t>
              </a:r>
              <a:r>
                <a:rPr lang="en-US" altLang="ko-KR" sz="1200" dirty="0" smtClean="0">
                  <a:solidFill>
                    <a:schemeClr val="tx1"/>
                  </a:solidFill>
                </a:rPr>
                <a:t>/</a:t>
              </a:r>
              <a:r>
                <a:rPr lang="ko-KR" altLang="en-US" sz="1200" dirty="0" smtClean="0">
                  <a:solidFill>
                    <a:schemeClr val="tx1"/>
                  </a:solidFill>
                </a:rPr>
                <a:t>변경</a:t>
              </a:r>
              <a:r>
                <a:rPr lang="en-US" altLang="ko-KR" sz="1200" dirty="0" smtClean="0">
                  <a:solidFill>
                    <a:schemeClr val="tx1"/>
                  </a:solidFill>
                </a:rPr>
                <a:t>/</a:t>
              </a:r>
              <a:r>
                <a:rPr lang="ko-KR" altLang="en-US" sz="1200" dirty="0" smtClean="0">
                  <a:solidFill>
                    <a:schemeClr val="tx1"/>
                  </a:solidFill>
                </a:rPr>
                <a:t>수정</a:t>
              </a:r>
              <a:r>
                <a:rPr lang="en-US" altLang="ko-KR" sz="1200" dirty="0" smtClean="0">
                  <a:solidFill>
                    <a:schemeClr val="tx1"/>
                  </a:solidFill>
                </a:rPr>
                <a:t>/</a:t>
              </a:r>
              <a:r>
                <a:rPr lang="ko-KR" altLang="en-US" sz="1200" dirty="0" smtClean="0">
                  <a:solidFill>
                    <a:schemeClr val="tx1"/>
                  </a:solidFill>
                </a:rPr>
                <a:t>삭제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4978399" y="3016866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회원 조회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4978399" y="3253995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사용 실적 조회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4978398" y="3493213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실시간 랭킹 조회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4978398" y="3730657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1200" dirty="0" smtClean="0">
                  <a:solidFill>
                    <a:schemeClr val="tx1"/>
                  </a:solidFill>
                </a:rPr>
                <a:t>QR</a:t>
              </a:r>
              <a:r>
                <a:rPr lang="ko-KR" altLang="en-US" sz="1200" dirty="0" smtClean="0">
                  <a:solidFill>
                    <a:schemeClr val="tx1"/>
                  </a:solidFill>
                </a:rPr>
                <a:t> 정보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6426200" y="2517842"/>
            <a:ext cx="5390642" cy="1190837"/>
            <a:chOff x="6732117" y="2517842"/>
            <a:chExt cx="5390642" cy="1623247"/>
          </a:xfrm>
        </p:grpSpPr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6813884" y="2743200"/>
              <a:ext cx="5308875" cy="1397889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6732117" y="2517842"/>
              <a:ext cx="2215801" cy="18031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회원등록</a:t>
              </a:r>
              <a:r>
                <a:rPr lang="en-US" altLang="ko-KR" sz="1200" dirty="0" smtClean="0">
                  <a:solidFill>
                    <a:schemeClr val="tx1"/>
                  </a:solidFill>
                </a:rPr>
                <a:t>/</a:t>
              </a:r>
              <a:r>
                <a:rPr lang="ko-KR" altLang="en-US" sz="1200" dirty="0" smtClean="0">
                  <a:solidFill>
                    <a:schemeClr val="tx1"/>
                  </a:solidFill>
                </a:rPr>
                <a:t>변경</a:t>
              </a:r>
              <a:r>
                <a:rPr lang="en-US" altLang="ko-KR" sz="1200" dirty="0" smtClean="0">
                  <a:solidFill>
                    <a:schemeClr val="tx1"/>
                  </a:solidFill>
                </a:rPr>
                <a:t>/</a:t>
              </a:r>
              <a:r>
                <a:rPr lang="ko-KR" altLang="en-US" sz="1200" dirty="0" smtClean="0">
                  <a:solidFill>
                    <a:schemeClr val="tx1"/>
                  </a:solidFill>
                </a:rPr>
                <a:t>수정</a:t>
              </a:r>
              <a:r>
                <a:rPr lang="en-US" altLang="ko-KR" sz="1200" dirty="0" smtClean="0">
                  <a:solidFill>
                    <a:schemeClr val="tx1"/>
                  </a:solidFill>
                </a:rPr>
                <a:t>/</a:t>
              </a:r>
              <a:r>
                <a:rPr lang="ko-KR" altLang="en-US" sz="1200" dirty="0" smtClean="0">
                  <a:solidFill>
                    <a:schemeClr val="tx1"/>
                  </a:solidFill>
                </a:rPr>
                <a:t>삭제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7414232" y="3170406"/>
              <a:ext cx="1260000" cy="216000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     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880458" y="3147601"/>
              <a:ext cx="52129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 smtClean="0">
                  <a:solidFill>
                    <a:srgbClr val="FF0000"/>
                  </a:solidFill>
                </a:rPr>
                <a:t>*</a:t>
              </a:r>
              <a:r>
                <a:rPr lang="ko-KR" altLang="en-US" sz="1100" dirty="0" smtClean="0"/>
                <a:t>이름</a:t>
              </a:r>
              <a:endParaRPr lang="ko-KR" altLang="en-US" sz="1100" dirty="0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8788400" y="3151169"/>
              <a:ext cx="84189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 smtClean="0">
                  <a:solidFill>
                    <a:srgbClr val="FF0000"/>
                  </a:solidFill>
                </a:rPr>
                <a:t>*</a:t>
              </a:r>
              <a:r>
                <a:rPr lang="ko-KR" altLang="en-US" sz="1100" dirty="0" smtClean="0"/>
                <a:t>휴대 번호</a:t>
              </a:r>
              <a:endParaRPr lang="ko-KR" altLang="en-US" sz="1100" dirty="0"/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9626600" y="3170406"/>
              <a:ext cx="1260000" cy="216000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     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1015766" y="3171288"/>
              <a:ext cx="521297" cy="261610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100" dirty="0" smtClean="0">
                  <a:solidFill>
                    <a:srgbClr val="FF0000"/>
                  </a:solidFill>
                </a:rPr>
                <a:t>*</a:t>
              </a:r>
              <a:r>
                <a:rPr lang="ko-KR" altLang="en-US" sz="1100" dirty="0" smtClean="0"/>
                <a:t>변경</a:t>
              </a:r>
              <a:endParaRPr lang="ko-KR" altLang="en-US" sz="1100" dirty="0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1022376" y="3460093"/>
              <a:ext cx="521297" cy="261610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100" dirty="0" smtClean="0">
                  <a:solidFill>
                    <a:srgbClr val="FF0000"/>
                  </a:solidFill>
                </a:rPr>
                <a:t>*</a:t>
              </a:r>
              <a:r>
                <a:rPr lang="ko-KR" altLang="en-US" sz="1100" dirty="0" smtClean="0"/>
                <a:t>수정</a:t>
              </a:r>
              <a:endParaRPr lang="ko-KR" altLang="en-US" sz="1100" dirty="0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11015765" y="2860317"/>
              <a:ext cx="521297" cy="261610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100" dirty="0" smtClean="0">
                  <a:solidFill>
                    <a:srgbClr val="FF0000"/>
                  </a:solidFill>
                </a:rPr>
                <a:t>*</a:t>
              </a:r>
              <a:r>
                <a:rPr lang="ko-KR" altLang="en-US" sz="1100" dirty="0" smtClean="0"/>
                <a:t>등록</a:t>
              </a:r>
              <a:endParaRPr lang="ko-KR" altLang="en-US" sz="1100" dirty="0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11022376" y="3748898"/>
              <a:ext cx="521297" cy="261610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100" dirty="0" smtClean="0">
                  <a:solidFill>
                    <a:srgbClr val="FF0000"/>
                  </a:solidFill>
                </a:rPr>
                <a:t>*</a:t>
              </a:r>
              <a:r>
                <a:rPr lang="ko-KR" altLang="en-US" sz="1100" dirty="0" smtClean="0"/>
                <a:t>삭제</a:t>
              </a:r>
              <a:endParaRPr lang="ko-KR" altLang="en-US" sz="1100" dirty="0"/>
            </a:p>
          </p:txBody>
        </p:sp>
      </p:grp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6507967" y="4142734"/>
            <a:ext cx="5308875" cy="920054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6426200" y="3888706"/>
            <a:ext cx="1512000" cy="252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회원 조회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6507967" y="4190059"/>
            <a:ext cx="1512000" cy="252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1400" b="1" dirty="0" smtClean="0">
                <a:solidFill>
                  <a:schemeClr val="tx1"/>
                </a:solidFill>
              </a:rPr>
              <a:t>search</a:t>
            </a:r>
            <a:endParaRPr lang="en-US" altLang="ko-KR" sz="1400" b="1" dirty="0">
              <a:solidFill>
                <a:schemeClr val="tx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574540" y="4486140"/>
            <a:ext cx="5212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*</a:t>
            </a:r>
            <a:r>
              <a:rPr lang="ko-KR" altLang="en-US" sz="1100" dirty="0" smtClean="0"/>
              <a:t>이름</a:t>
            </a:r>
            <a:endParaRPr lang="ko-KR" altLang="en-US" sz="1100" dirty="0"/>
          </a:p>
        </p:txBody>
      </p:sp>
      <p:sp>
        <p:nvSpPr>
          <p:cNvPr id="70" name="TextBox 69"/>
          <p:cNvSpPr txBox="1"/>
          <p:nvPr/>
        </p:nvSpPr>
        <p:spPr>
          <a:xfrm>
            <a:off x="8407400" y="4489990"/>
            <a:ext cx="8418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*</a:t>
            </a:r>
            <a:r>
              <a:rPr lang="ko-KR" altLang="en-US" sz="1100" dirty="0" smtClean="0"/>
              <a:t>휴대 번호</a:t>
            </a:r>
            <a:endParaRPr lang="ko-KR" altLang="en-US" sz="1100" dirty="0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7108315" y="4508945"/>
            <a:ext cx="1260000" cy="21600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     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9320683" y="4499678"/>
            <a:ext cx="1260000" cy="21600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     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0721533" y="4460678"/>
            <a:ext cx="505267" cy="26161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100" smtClean="0">
                <a:solidFill>
                  <a:srgbClr val="FF0000"/>
                </a:solidFill>
              </a:rPr>
              <a:t>검 색</a:t>
            </a:r>
            <a:endParaRPr lang="ko-KR" altLang="en-US" sz="1100" dirty="0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6509286" y="5457193"/>
            <a:ext cx="5308875" cy="252319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sz="1200" dirty="0">
              <a:solidFill>
                <a:schemeClr val="tx1"/>
              </a:solidFill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8885133"/>
              </p:ext>
            </p:extLst>
          </p:nvPr>
        </p:nvGraphicFramePr>
        <p:xfrm>
          <a:off x="6615319" y="5605457"/>
          <a:ext cx="5109459" cy="22964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88758">
                  <a:extLst>
                    <a:ext uri="{9D8B030D-6E8A-4147-A177-3AD203B41FA5}">
                      <a16:colId xmlns:a16="http://schemas.microsoft.com/office/drawing/2014/main" val="2062192980"/>
                    </a:ext>
                  </a:extLst>
                </a:gridCol>
                <a:gridCol w="1176863">
                  <a:extLst>
                    <a:ext uri="{9D8B030D-6E8A-4147-A177-3AD203B41FA5}">
                      <a16:colId xmlns:a16="http://schemas.microsoft.com/office/drawing/2014/main" val="992301632"/>
                    </a:ext>
                  </a:extLst>
                </a:gridCol>
                <a:gridCol w="1476113">
                  <a:extLst>
                    <a:ext uri="{9D8B030D-6E8A-4147-A177-3AD203B41FA5}">
                      <a16:colId xmlns:a16="http://schemas.microsoft.com/office/drawing/2014/main" val="844707143"/>
                    </a:ext>
                  </a:extLst>
                </a:gridCol>
                <a:gridCol w="1176863">
                  <a:extLst>
                    <a:ext uri="{9D8B030D-6E8A-4147-A177-3AD203B41FA5}">
                      <a16:colId xmlns:a16="http://schemas.microsoft.com/office/drawing/2014/main" val="2938876170"/>
                    </a:ext>
                  </a:extLst>
                </a:gridCol>
                <a:gridCol w="590862">
                  <a:extLst>
                    <a:ext uri="{9D8B030D-6E8A-4147-A177-3AD203B41FA5}">
                      <a16:colId xmlns:a16="http://schemas.microsoft.com/office/drawing/2014/main" val="2487152410"/>
                    </a:ext>
                  </a:extLst>
                </a:gridCol>
              </a:tblGrid>
              <a:tr h="382749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050" kern="100">
                          <a:effectLst/>
                        </a:rPr>
                        <a:t>이 름</a:t>
                      </a:r>
                      <a:endParaRPr lang="ko-KR" sz="105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9362" marR="19362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050" kern="100">
                          <a:effectLst/>
                        </a:rPr>
                        <a:t>휴 대 번 호</a:t>
                      </a:r>
                      <a:endParaRPr lang="ko-KR" sz="105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9362" marR="19362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QR </a:t>
                      </a:r>
                      <a:r>
                        <a:rPr lang="ko-KR" sz="1050" kern="100">
                          <a:effectLst/>
                        </a:rPr>
                        <a:t>발 행 번 호</a:t>
                      </a:r>
                      <a:endParaRPr lang="ko-KR" sz="105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9362" marR="19362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050" kern="100">
                          <a:effectLst/>
                        </a:rPr>
                        <a:t>회 원 등 록 일</a:t>
                      </a:r>
                      <a:endParaRPr lang="ko-KR" sz="105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9362" marR="19362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050" kern="100" dirty="0">
                          <a:effectLst/>
                        </a:rPr>
                        <a:t>비 고</a:t>
                      </a: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9362" marR="19362" marT="0" marB="0"/>
                </a:tc>
                <a:extLst>
                  <a:ext uri="{0D108BD9-81ED-4DB2-BD59-A6C34878D82A}">
                    <a16:rowId xmlns:a16="http://schemas.microsoft.com/office/drawing/2014/main" val="420785113"/>
                  </a:ext>
                </a:extLst>
              </a:tr>
              <a:tr h="382749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050" kern="100">
                          <a:effectLst/>
                        </a:rPr>
                        <a:t>홍 </a:t>
                      </a:r>
                      <a:r>
                        <a:rPr lang="en-US" sz="1050" kern="100">
                          <a:effectLst/>
                        </a:rPr>
                        <a:t>* *</a:t>
                      </a:r>
                      <a:endParaRPr lang="ko-KR" sz="105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9362" marR="19362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010-1000-2000</a:t>
                      </a:r>
                      <a:endParaRPr lang="ko-KR" sz="105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9362" marR="19362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 </a:t>
                      </a:r>
                      <a:endParaRPr lang="ko-KR" sz="105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9362" marR="19362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 </a:t>
                      </a:r>
                      <a:endParaRPr lang="ko-KR" sz="105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9362" marR="19362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 </a:t>
                      </a: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9362" marR="19362" marT="0" marB="0"/>
                </a:tc>
                <a:extLst>
                  <a:ext uri="{0D108BD9-81ED-4DB2-BD59-A6C34878D82A}">
                    <a16:rowId xmlns:a16="http://schemas.microsoft.com/office/drawing/2014/main" val="2590940602"/>
                  </a:ext>
                </a:extLst>
              </a:tr>
              <a:tr h="382749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050" kern="100">
                          <a:effectLst/>
                        </a:rPr>
                        <a:t>정 </a:t>
                      </a:r>
                      <a:r>
                        <a:rPr lang="en-US" sz="1050" kern="100">
                          <a:effectLst/>
                        </a:rPr>
                        <a:t>* *</a:t>
                      </a:r>
                      <a:endParaRPr lang="ko-KR" sz="105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9362" marR="19362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010-1001-2001</a:t>
                      </a:r>
                      <a:endParaRPr lang="ko-KR" sz="105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9362" marR="19362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 </a:t>
                      </a:r>
                      <a:endParaRPr lang="ko-KR" sz="105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9362" marR="19362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 </a:t>
                      </a:r>
                      <a:endParaRPr lang="ko-KR" sz="105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9362" marR="19362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 </a:t>
                      </a: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9362" marR="19362" marT="0" marB="0"/>
                </a:tc>
                <a:extLst>
                  <a:ext uri="{0D108BD9-81ED-4DB2-BD59-A6C34878D82A}">
                    <a16:rowId xmlns:a16="http://schemas.microsoft.com/office/drawing/2014/main" val="1435540238"/>
                  </a:ext>
                </a:extLst>
              </a:tr>
              <a:tr h="382749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050" kern="100">
                          <a:effectLst/>
                        </a:rPr>
                        <a:t>한 </a:t>
                      </a:r>
                      <a:r>
                        <a:rPr lang="en-US" sz="1050" kern="100">
                          <a:effectLst/>
                        </a:rPr>
                        <a:t>* *</a:t>
                      </a:r>
                      <a:endParaRPr lang="ko-KR" sz="105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9362" marR="19362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010-1002-2002</a:t>
                      </a:r>
                      <a:endParaRPr lang="ko-KR" sz="105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9362" marR="19362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 </a:t>
                      </a:r>
                      <a:endParaRPr lang="ko-KR" sz="105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9362" marR="19362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 </a:t>
                      </a:r>
                      <a:endParaRPr lang="ko-KR" sz="105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9362" marR="19362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 </a:t>
                      </a: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9362" marR="19362" marT="0" marB="0"/>
                </a:tc>
                <a:extLst>
                  <a:ext uri="{0D108BD9-81ED-4DB2-BD59-A6C34878D82A}">
                    <a16:rowId xmlns:a16="http://schemas.microsoft.com/office/drawing/2014/main" val="2973622147"/>
                  </a:ext>
                </a:extLst>
              </a:tr>
              <a:tr h="382749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050" kern="100">
                          <a:effectLst/>
                        </a:rPr>
                        <a:t>문 </a:t>
                      </a:r>
                      <a:r>
                        <a:rPr lang="en-US" sz="1050" kern="100">
                          <a:effectLst/>
                        </a:rPr>
                        <a:t>* *</a:t>
                      </a:r>
                      <a:endParaRPr lang="ko-KR" sz="105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9362" marR="19362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 </a:t>
                      </a:r>
                      <a:endParaRPr lang="ko-KR" sz="105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9362" marR="19362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 </a:t>
                      </a:r>
                      <a:endParaRPr lang="ko-KR" sz="105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9362" marR="19362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 </a:t>
                      </a:r>
                      <a:endParaRPr lang="ko-KR" sz="105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9362" marR="19362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 </a:t>
                      </a: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9362" marR="19362" marT="0" marB="0"/>
                </a:tc>
                <a:extLst>
                  <a:ext uri="{0D108BD9-81ED-4DB2-BD59-A6C34878D82A}">
                    <a16:rowId xmlns:a16="http://schemas.microsoft.com/office/drawing/2014/main" val="2682939512"/>
                  </a:ext>
                </a:extLst>
              </a:tr>
              <a:tr h="382749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050" kern="100">
                          <a:effectLst/>
                        </a:rPr>
                        <a:t>김 </a:t>
                      </a:r>
                      <a:r>
                        <a:rPr lang="en-US" sz="1050" kern="100">
                          <a:effectLst/>
                        </a:rPr>
                        <a:t>* *</a:t>
                      </a:r>
                      <a:endParaRPr lang="ko-KR" sz="105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9362" marR="19362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 </a:t>
                      </a:r>
                      <a:endParaRPr lang="ko-KR" sz="105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9362" marR="19362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 </a:t>
                      </a:r>
                      <a:endParaRPr lang="ko-KR" sz="105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9362" marR="19362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 </a:t>
                      </a:r>
                      <a:endParaRPr lang="ko-KR" sz="105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9362" marR="19362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 </a:t>
                      </a: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9362" marR="19362" marT="0" marB="0"/>
                </a:tc>
                <a:extLst>
                  <a:ext uri="{0D108BD9-81ED-4DB2-BD59-A6C34878D82A}">
                    <a16:rowId xmlns:a16="http://schemas.microsoft.com/office/drawing/2014/main" val="2699418088"/>
                  </a:ext>
                </a:extLst>
              </a:tr>
            </a:tbl>
          </a:graphicData>
        </a:graphic>
      </p:graphicFrame>
      <p:sp>
        <p:nvSpPr>
          <p:cNvPr id="52" name="직사각형 51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6501498" y="5253703"/>
            <a:ext cx="1213633" cy="20175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회원 등록 현황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11226800" y="5188787"/>
            <a:ext cx="504000" cy="252000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1200" dirty="0" smtClean="0">
                <a:solidFill>
                  <a:schemeClr val="tx1"/>
                </a:solidFill>
              </a:rPr>
              <a:t>Excel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6370769" y="2358280"/>
            <a:ext cx="5598558" cy="6099919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54" name="모서리가 둥근 직사각형 53"/>
          <p:cNvSpPr/>
          <p:nvPr/>
        </p:nvSpPr>
        <p:spPr>
          <a:xfrm>
            <a:off x="6511496" y="8006374"/>
            <a:ext cx="5305346" cy="366686"/>
          </a:xfrm>
          <a:prstGeom prst="roundRect">
            <a:avLst/>
          </a:prstGeom>
          <a:noFill/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8606385" y="8107841"/>
            <a:ext cx="14285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>
                <a:solidFill>
                  <a:schemeClr val="tx1"/>
                </a:solidFill>
              </a:rPr>
              <a:t>다음 페이지 더 보기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97007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4FE0D708-A483-7677-53E6-67780746A91D}"/>
              </a:ext>
            </a:extLst>
          </p:cNvPr>
          <p:cNvSpPr txBox="1"/>
          <p:nvPr/>
        </p:nvSpPr>
        <p:spPr>
          <a:xfrm>
            <a:off x="787400" y="609600"/>
            <a:ext cx="2133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 smtClean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지방자치단체</a:t>
            </a:r>
            <a:r>
              <a:rPr kumimoji="0" lang="ko-KR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#</a:t>
            </a:r>
            <a:r>
              <a:rPr kumimoji="0" lang="en-US" altLang="ko-KR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16000" y="1371600"/>
            <a:ext cx="11201400" cy="7239000"/>
            <a:chOff x="1016000" y="1371600"/>
            <a:chExt cx="11201400" cy="7239000"/>
          </a:xfrm>
        </p:grpSpPr>
        <p:pic>
          <p:nvPicPr>
            <p:cNvPr id="1026" name="Picture 2" descr="인천광역시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7000" y="1600200"/>
              <a:ext cx="1714500" cy="381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8DDFD65-02E9-496A-B6A6-60E049C51D34}"/>
                </a:ext>
              </a:extLst>
            </p:cNvPr>
            <p:cNvSpPr/>
            <p:nvPr/>
          </p:nvSpPr>
          <p:spPr>
            <a:xfrm>
              <a:off x="1016000" y="1371600"/>
              <a:ext cx="11201400" cy="7239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F58C5078-D88C-2313-C6E5-5A52D4A2F242}"/>
                </a:ext>
              </a:extLst>
            </p:cNvPr>
            <p:cNvCxnSpPr/>
            <p:nvPr/>
          </p:nvCxnSpPr>
          <p:spPr>
            <a:xfrm flipH="1">
              <a:off x="1016000" y="2133600"/>
              <a:ext cx="11196000" cy="0"/>
            </a:xfrm>
            <a:prstGeom prst="straightConnector1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그룹 10"/>
          <p:cNvGrpSpPr/>
          <p:nvPr/>
        </p:nvGrpSpPr>
        <p:grpSpPr>
          <a:xfrm>
            <a:off x="1016000" y="2526269"/>
            <a:ext cx="2514600" cy="5398531"/>
            <a:chOff x="1473200" y="2743201"/>
            <a:chExt cx="2057400" cy="5029199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473200" y="2743201"/>
              <a:ext cx="2057400" cy="5029199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719800" y="2895601"/>
              <a:ext cx="1512000" cy="252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탄소중립 활동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719800" y="5208000"/>
              <a:ext cx="1512000" cy="252000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     커뮤니티 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719800" y="3241500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기초 정보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713885" y="3928620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rgbClr val="FF0000"/>
                  </a:solidFill>
                </a:rPr>
                <a:t>가맹점 관리</a:t>
              </a:r>
              <a:endParaRPr lang="en-US" altLang="ko-KR" sz="1200" dirty="0">
                <a:solidFill>
                  <a:srgbClr val="FF0000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713885" y="3581511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회원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640638" y="5555109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기초 정보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640638" y="5807109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smtClean="0">
                  <a:solidFill>
                    <a:schemeClr val="tx1"/>
                  </a:solidFill>
                </a:rPr>
                <a:t>시정 홍보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640638" y="6059109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뉴스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640638" y="6311109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smtClean="0">
                  <a:solidFill>
                    <a:schemeClr val="tx1"/>
                  </a:solidFill>
                </a:rPr>
                <a:t>이벤트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640638" y="6563109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공지사항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3841742" y="2526269"/>
            <a:ext cx="7391400" cy="5373479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1310171" y="4091533"/>
            <a:ext cx="2087185" cy="25179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가맹점 등록</a:t>
            </a:r>
            <a:r>
              <a:rPr lang="en-US" altLang="ko-KR" sz="1200" dirty="0" smtClean="0">
                <a:solidFill>
                  <a:schemeClr val="tx1"/>
                </a:solidFill>
              </a:rPr>
              <a:t>/</a:t>
            </a:r>
            <a:r>
              <a:rPr lang="ko-KR" altLang="en-US" sz="1200" dirty="0" smtClean="0">
                <a:solidFill>
                  <a:schemeClr val="tx1"/>
                </a:solidFill>
              </a:rPr>
              <a:t>변경</a:t>
            </a:r>
            <a:r>
              <a:rPr lang="en-US" altLang="ko-KR" sz="1200" dirty="0" smtClean="0">
                <a:solidFill>
                  <a:schemeClr val="tx1"/>
                </a:solidFill>
              </a:rPr>
              <a:t>/</a:t>
            </a:r>
            <a:r>
              <a:rPr lang="ko-KR" altLang="en-US" sz="1200" dirty="0" smtClean="0">
                <a:solidFill>
                  <a:schemeClr val="tx1"/>
                </a:solidFill>
              </a:rPr>
              <a:t>수정</a:t>
            </a:r>
            <a:r>
              <a:rPr lang="en-US" altLang="ko-KR" sz="1200" dirty="0" smtClean="0">
                <a:solidFill>
                  <a:schemeClr val="tx1"/>
                </a:solidFill>
              </a:rPr>
              <a:t>/</a:t>
            </a:r>
            <a:r>
              <a:rPr lang="ko-KR" altLang="en-US" sz="1200" dirty="0" smtClean="0">
                <a:solidFill>
                  <a:schemeClr val="tx1"/>
                </a:solidFill>
              </a:rPr>
              <a:t>삭제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1293740" y="4360277"/>
            <a:ext cx="1339089" cy="252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가맹점 조회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1309058" y="4588371"/>
            <a:ext cx="1339089" cy="252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1200" dirty="0" smtClean="0">
                <a:solidFill>
                  <a:schemeClr val="tx1"/>
                </a:solidFill>
              </a:rPr>
              <a:t>QR</a:t>
            </a:r>
            <a:r>
              <a:rPr lang="ko-KR" altLang="en-US" sz="1200" dirty="0" smtClean="0">
                <a:solidFill>
                  <a:schemeClr val="tx1"/>
                </a:solidFill>
              </a:rPr>
              <a:t>판매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 smtClean="0">
                <a:solidFill>
                  <a:schemeClr val="tx1"/>
                </a:solidFill>
              </a:rPr>
              <a:t>조회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1309058" y="4857318"/>
            <a:ext cx="1339089" cy="252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실적 조회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3926828" y="2839166"/>
            <a:ext cx="2215801" cy="13227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가맹점 등록</a:t>
            </a:r>
            <a:r>
              <a:rPr lang="en-US" altLang="ko-KR" sz="1200" dirty="0" smtClean="0">
                <a:solidFill>
                  <a:schemeClr val="tx1"/>
                </a:solidFill>
              </a:rPr>
              <a:t>/</a:t>
            </a:r>
            <a:r>
              <a:rPr lang="ko-KR" altLang="en-US" sz="1200" dirty="0" smtClean="0">
                <a:solidFill>
                  <a:schemeClr val="tx1"/>
                </a:solidFill>
              </a:rPr>
              <a:t>변경</a:t>
            </a:r>
            <a:r>
              <a:rPr lang="en-US" altLang="ko-KR" sz="1200" dirty="0" smtClean="0">
                <a:solidFill>
                  <a:schemeClr val="tx1"/>
                </a:solidFill>
              </a:rPr>
              <a:t>/</a:t>
            </a:r>
            <a:r>
              <a:rPr lang="ko-KR" altLang="en-US" sz="1200" dirty="0" smtClean="0">
                <a:solidFill>
                  <a:schemeClr val="tx1"/>
                </a:solidFill>
              </a:rPr>
              <a:t>수정</a:t>
            </a:r>
            <a:r>
              <a:rPr lang="en-US" altLang="ko-KR" sz="1200" dirty="0" smtClean="0">
                <a:solidFill>
                  <a:schemeClr val="tx1"/>
                </a:solidFill>
              </a:rPr>
              <a:t>/</a:t>
            </a:r>
            <a:r>
              <a:rPr lang="ko-KR" altLang="en-US" sz="1200" dirty="0" smtClean="0">
                <a:solidFill>
                  <a:schemeClr val="tx1"/>
                </a:solidFill>
              </a:rPr>
              <a:t>삭제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3980023" y="3061162"/>
            <a:ext cx="7114838" cy="2048156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4216400" y="3558703"/>
            <a:ext cx="12650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*</a:t>
            </a:r>
            <a:r>
              <a:rPr lang="ko-KR" altLang="en-US" sz="1100" dirty="0" smtClean="0"/>
              <a:t>사업자 등록번호</a:t>
            </a:r>
            <a:endParaRPr lang="ko-KR" altLang="en-US" sz="1100" dirty="0"/>
          </a:p>
        </p:txBody>
      </p:sp>
      <p:sp>
        <p:nvSpPr>
          <p:cNvPr id="73" name="TextBox 72"/>
          <p:cNvSpPr txBox="1"/>
          <p:nvPr/>
        </p:nvSpPr>
        <p:spPr>
          <a:xfrm>
            <a:off x="7569200" y="3539416"/>
            <a:ext cx="8034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*</a:t>
            </a:r>
            <a:r>
              <a:rPr lang="ko-KR" altLang="en-US" sz="1100" dirty="0" smtClean="0"/>
              <a:t>전화번호</a:t>
            </a:r>
            <a:endParaRPr lang="ko-KR" altLang="en-US" sz="1100" dirty="0"/>
          </a:p>
        </p:txBody>
      </p:sp>
      <p:sp>
        <p:nvSpPr>
          <p:cNvPr id="74" name="TextBox 73"/>
          <p:cNvSpPr txBox="1"/>
          <p:nvPr/>
        </p:nvSpPr>
        <p:spPr>
          <a:xfrm>
            <a:off x="4216400" y="3901205"/>
            <a:ext cx="9829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*</a:t>
            </a:r>
            <a:r>
              <a:rPr lang="ko-KR" altLang="en-US" sz="1100" dirty="0" smtClean="0"/>
              <a:t>사업장 주소</a:t>
            </a:r>
            <a:endParaRPr lang="ko-KR" altLang="en-US" sz="1100" dirty="0"/>
          </a:p>
        </p:txBody>
      </p:sp>
      <p:sp>
        <p:nvSpPr>
          <p:cNvPr id="75" name="TextBox 74"/>
          <p:cNvSpPr txBox="1"/>
          <p:nvPr/>
        </p:nvSpPr>
        <p:spPr>
          <a:xfrm>
            <a:off x="4216400" y="3179198"/>
            <a:ext cx="8418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*</a:t>
            </a:r>
            <a:r>
              <a:rPr lang="ko-KR" altLang="en-US" sz="1100" dirty="0" smtClean="0"/>
              <a:t>가맹점 명</a:t>
            </a:r>
            <a:endParaRPr lang="ko-KR" altLang="en-US" sz="1100" dirty="0"/>
          </a:p>
        </p:txBody>
      </p:sp>
      <p:sp>
        <p:nvSpPr>
          <p:cNvPr id="76" name="TextBox 75"/>
          <p:cNvSpPr txBox="1"/>
          <p:nvPr/>
        </p:nvSpPr>
        <p:spPr>
          <a:xfrm>
            <a:off x="4211901" y="4610164"/>
            <a:ext cx="11624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*</a:t>
            </a:r>
            <a:r>
              <a:rPr lang="ko-KR" altLang="en-US" sz="1100" dirty="0" smtClean="0"/>
              <a:t>할인 행사 적용</a:t>
            </a:r>
            <a:endParaRPr lang="ko-KR" altLang="en-US" sz="1100" dirty="0"/>
          </a:p>
        </p:txBody>
      </p:sp>
      <p:sp>
        <p:nvSpPr>
          <p:cNvPr id="77" name="TextBox 76"/>
          <p:cNvSpPr txBox="1"/>
          <p:nvPr/>
        </p:nvSpPr>
        <p:spPr>
          <a:xfrm>
            <a:off x="7569200" y="4243611"/>
            <a:ext cx="9669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*</a:t>
            </a:r>
            <a:r>
              <a:rPr lang="en-US" altLang="ko-KR" sz="1100" dirty="0" smtClean="0"/>
              <a:t>e-</a:t>
            </a:r>
            <a:r>
              <a:rPr lang="ko-KR" altLang="en-US" sz="1100" dirty="0" smtClean="0"/>
              <a:t>매일 주소</a:t>
            </a:r>
            <a:endParaRPr lang="ko-KR" altLang="en-US" sz="1100" dirty="0"/>
          </a:p>
        </p:txBody>
      </p:sp>
      <p:sp>
        <p:nvSpPr>
          <p:cNvPr id="78" name="TextBox 77"/>
          <p:cNvSpPr txBox="1"/>
          <p:nvPr/>
        </p:nvSpPr>
        <p:spPr>
          <a:xfrm>
            <a:off x="4211901" y="4243612"/>
            <a:ext cx="11624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*</a:t>
            </a:r>
            <a:r>
              <a:rPr lang="ko-KR" altLang="en-US" sz="1100" dirty="0" smtClean="0"/>
              <a:t>휴대 전화 번호</a:t>
            </a:r>
            <a:endParaRPr lang="ko-KR" altLang="en-US" sz="1100" dirty="0"/>
          </a:p>
        </p:txBody>
      </p:sp>
      <p:sp>
        <p:nvSpPr>
          <p:cNvPr id="79" name="TextBox 78"/>
          <p:cNvSpPr txBox="1"/>
          <p:nvPr/>
        </p:nvSpPr>
        <p:spPr>
          <a:xfrm>
            <a:off x="7569200" y="3179198"/>
            <a:ext cx="6623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*</a:t>
            </a:r>
            <a:r>
              <a:rPr lang="ko-KR" altLang="en-US" sz="1100" dirty="0" smtClean="0"/>
              <a:t>대표자</a:t>
            </a:r>
            <a:endParaRPr lang="ko-KR" altLang="en-US" sz="1100" dirty="0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5547200" y="3179198"/>
            <a:ext cx="1260000" cy="21600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     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5547200" y="3534624"/>
            <a:ext cx="1260000" cy="21600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     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9052400" y="3534624"/>
            <a:ext cx="1260000" cy="21600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     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9017000" y="3183592"/>
            <a:ext cx="1260000" cy="21600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     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5547200" y="3890050"/>
            <a:ext cx="4765200" cy="21600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     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5547200" y="4245476"/>
            <a:ext cx="1800000" cy="21600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     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8513097" y="4262167"/>
            <a:ext cx="1800000" cy="21600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     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5547200" y="4594938"/>
            <a:ext cx="5300668" cy="307220"/>
            <a:chOff x="5621332" y="4950758"/>
            <a:chExt cx="5300668" cy="307220"/>
          </a:xfrm>
        </p:grpSpPr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5621332" y="4996368"/>
              <a:ext cx="216000" cy="216000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     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6654800" y="4996368"/>
              <a:ext cx="216000" cy="216000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     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7721600" y="4983318"/>
              <a:ext cx="216000" cy="216000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     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8788400" y="4989710"/>
              <a:ext cx="216000" cy="216000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     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9842476" y="4989710"/>
              <a:ext cx="216000" cy="216000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     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5791417" y="4973563"/>
              <a:ext cx="84189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 smtClean="0">
                  <a:solidFill>
                    <a:srgbClr val="FF0000"/>
                  </a:solidFill>
                </a:rPr>
                <a:t>*</a:t>
              </a:r>
              <a:r>
                <a:rPr lang="ko-KR" altLang="en-US" sz="1100" dirty="0" smtClean="0">
                  <a:solidFill>
                    <a:srgbClr val="FF0000"/>
                  </a:solidFill>
                </a:rPr>
                <a:t>할인 없음</a:t>
              </a:r>
              <a:endParaRPr lang="ko-KR" altLang="en-US" sz="1100" dirty="0"/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7874000" y="4950758"/>
              <a:ext cx="93647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 smtClean="0">
                  <a:solidFill>
                    <a:srgbClr val="FF0000"/>
                  </a:solidFill>
                </a:rPr>
                <a:t>*</a:t>
              </a:r>
              <a:r>
                <a:rPr lang="en-US" altLang="ko-KR" sz="1100" dirty="0" smtClean="0"/>
                <a:t>300</a:t>
              </a:r>
              <a:r>
                <a:rPr lang="ko-KR" altLang="en-US" sz="1100" dirty="0" smtClean="0"/>
                <a:t>원 할인</a:t>
              </a:r>
              <a:endParaRPr lang="ko-KR" altLang="en-US" sz="1100" dirty="0"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6807200" y="4996368"/>
              <a:ext cx="93647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 smtClean="0">
                  <a:solidFill>
                    <a:srgbClr val="FF0000"/>
                  </a:solidFill>
                </a:rPr>
                <a:t>*</a:t>
              </a:r>
              <a:r>
                <a:rPr lang="en-US" altLang="ko-KR" sz="1100" dirty="0" smtClean="0"/>
                <a:t>200</a:t>
              </a:r>
              <a:r>
                <a:rPr lang="ko-KR" altLang="en-US" sz="1100" dirty="0" smtClean="0"/>
                <a:t>원 할인</a:t>
              </a:r>
              <a:endParaRPr lang="ko-KR" altLang="en-US" sz="1100" dirty="0"/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8944860" y="4963924"/>
              <a:ext cx="93647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 smtClean="0">
                  <a:solidFill>
                    <a:srgbClr val="FF0000"/>
                  </a:solidFill>
                </a:rPr>
                <a:t>*</a:t>
              </a:r>
              <a:r>
                <a:rPr lang="en-US" altLang="ko-KR" sz="1100" dirty="0" smtClean="0"/>
                <a:t>400</a:t>
              </a:r>
              <a:r>
                <a:rPr lang="ko-KR" altLang="en-US" sz="1100" dirty="0" smtClean="0"/>
                <a:t>원 할인</a:t>
              </a:r>
              <a:endParaRPr lang="ko-KR" altLang="en-US" sz="1100" dirty="0"/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9985525" y="4989710"/>
              <a:ext cx="93647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 smtClean="0">
                  <a:solidFill>
                    <a:srgbClr val="FF0000"/>
                  </a:solidFill>
                </a:rPr>
                <a:t>*</a:t>
              </a:r>
              <a:r>
                <a:rPr lang="en-US" altLang="ko-KR" sz="1100" dirty="0" smtClean="0"/>
                <a:t>500</a:t>
              </a:r>
              <a:r>
                <a:rPr lang="ko-KR" altLang="en-US" sz="1100" dirty="0" smtClean="0"/>
                <a:t>원 할인</a:t>
              </a:r>
              <a:endParaRPr lang="ko-KR" altLang="en-US" sz="1100" dirty="0"/>
            </a:p>
          </p:txBody>
        </p:sp>
      </p:grpSp>
      <p:sp>
        <p:nvSpPr>
          <p:cNvPr id="97" name="TextBox 96"/>
          <p:cNvSpPr txBox="1"/>
          <p:nvPr/>
        </p:nvSpPr>
        <p:spPr>
          <a:xfrm>
            <a:off x="6580667" y="5172076"/>
            <a:ext cx="540000" cy="216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*</a:t>
            </a:r>
            <a:r>
              <a:rPr lang="ko-KR" altLang="en-US" sz="1100" dirty="0" smtClean="0"/>
              <a:t>등록</a:t>
            </a:r>
            <a:endParaRPr lang="ko-KR" altLang="en-US" sz="1100" dirty="0"/>
          </a:p>
        </p:txBody>
      </p:sp>
      <p:sp>
        <p:nvSpPr>
          <p:cNvPr id="100" name="TextBox 99"/>
          <p:cNvSpPr txBox="1"/>
          <p:nvPr/>
        </p:nvSpPr>
        <p:spPr>
          <a:xfrm>
            <a:off x="7647468" y="5176525"/>
            <a:ext cx="612000" cy="216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*</a:t>
            </a:r>
            <a:r>
              <a:rPr lang="ko-KR" altLang="en-US" sz="1100" dirty="0" smtClean="0"/>
              <a:t>초기화</a:t>
            </a:r>
            <a:endParaRPr lang="ko-KR" altLang="en-US" sz="1100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3980023" y="6063010"/>
            <a:ext cx="2880000" cy="136800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8211346" y="6052897"/>
            <a:ext cx="2880000" cy="136800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944369" y="5781317"/>
            <a:ext cx="10214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*</a:t>
            </a:r>
            <a:r>
              <a:rPr lang="ko-KR" altLang="en-US" sz="1100" dirty="0" smtClean="0"/>
              <a:t>파일 업 로드</a:t>
            </a:r>
            <a:endParaRPr lang="ko-KR" altLang="en-US" sz="1100" dirty="0"/>
          </a:p>
        </p:txBody>
      </p:sp>
      <p:sp>
        <p:nvSpPr>
          <p:cNvPr id="61" name="TextBox 60"/>
          <p:cNvSpPr txBox="1"/>
          <p:nvPr/>
        </p:nvSpPr>
        <p:spPr>
          <a:xfrm>
            <a:off x="8175103" y="5821432"/>
            <a:ext cx="11624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*</a:t>
            </a:r>
            <a:r>
              <a:rPr lang="ko-KR" altLang="en-US" sz="1100" dirty="0" smtClean="0"/>
              <a:t>이미지 업 로드</a:t>
            </a:r>
            <a:endParaRPr lang="ko-KR" altLang="en-US" sz="1100" dirty="0"/>
          </a:p>
        </p:txBody>
      </p:sp>
      <p:sp>
        <p:nvSpPr>
          <p:cNvPr id="62" name="TextBox 61"/>
          <p:cNvSpPr txBox="1"/>
          <p:nvPr/>
        </p:nvSpPr>
        <p:spPr>
          <a:xfrm>
            <a:off x="5150023" y="7479147"/>
            <a:ext cx="540000" cy="216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*</a:t>
            </a:r>
            <a:r>
              <a:rPr lang="ko-KR" altLang="en-US" sz="1100" dirty="0" smtClean="0"/>
              <a:t>등록</a:t>
            </a:r>
            <a:endParaRPr lang="ko-KR" altLang="en-US" sz="1100" dirty="0"/>
          </a:p>
        </p:txBody>
      </p:sp>
      <p:sp>
        <p:nvSpPr>
          <p:cNvPr id="63" name="TextBox 62"/>
          <p:cNvSpPr txBox="1"/>
          <p:nvPr/>
        </p:nvSpPr>
        <p:spPr>
          <a:xfrm>
            <a:off x="9468235" y="7479147"/>
            <a:ext cx="540000" cy="216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*</a:t>
            </a:r>
            <a:r>
              <a:rPr lang="ko-KR" altLang="en-US" sz="1100" dirty="0" smtClean="0"/>
              <a:t>등록</a:t>
            </a:r>
            <a:endParaRPr lang="ko-KR" altLang="en-US" sz="1100" dirty="0"/>
          </a:p>
        </p:txBody>
      </p:sp>
      <p:sp>
        <p:nvSpPr>
          <p:cNvPr id="64" name="TextBox 63"/>
          <p:cNvSpPr txBox="1"/>
          <p:nvPr/>
        </p:nvSpPr>
        <p:spPr>
          <a:xfrm>
            <a:off x="5740400" y="5780744"/>
            <a:ext cx="1107996" cy="26161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100" dirty="0" smtClean="0"/>
              <a:t>사업자 등록증 </a:t>
            </a:r>
            <a:endParaRPr lang="ko-KR" altLang="en-US" sz="1100" dirty="0"/>
          </a:p>
        </p:txBody>
      </p:sp>
      <p:sp>
        <p:nvSpPr>
          <p:cNvPr id="65" name="TextBox 64"/>
          <p:cNvSpPr txBox="1"/>
          <p:nvPr/>
        </p:nvSpPr>
        <p:spPr>
          <a:xfrm>
            <a:off x="10296606" y="5778766"/>
            <a:ext cx="787395" cy="26161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100" dirty="0" smtClean="0">
                <a:solidFill>
                  <a:schemeClr val="tx1"/>
                </a:solidFill>
              </a:rPr>
              <a:t>매장</a:t>
            </a:r>
            <a:r>
              <a:rPr lang="ko-KR" altLang="en-US" sz="1100" dirty="0" smtClean="0"/>
              <a:t> 사진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8348772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4FE0D708-A483-7677-53E6-67780746A91D}"/>
              </a:ext>
            </a:extLst>
          </p:cNvPr>
          <p:cNvSpPr txBox="1"/>
          <p:nvPr/>
        </p:nvSpPr>
        <p:spPr>
          <a:xfrm>
            <a:off x="787400" y="609600"/>
            <a:ext cx="2133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 smtClean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지방자치단체</a:t>
            </a:r>
            <a:r>
              <a:rPr kumimoji="0" lang="ko-KR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#</a:t>
            </a:r>
            <a:r>
              <a:rPr kumimoji="0" lang="en-US" altLang="ko-KR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16000" y="1371600"/>
            <a:ext cx="11201400" cy="7239000"/>
            <a:chOff x="1016000" y="1371600"/>
            <a:chExt cx="11201400" cy="7239000"/>
          </a:xfrm>
        </p:grpSpPr>
        <p:pic>
          <p:nvPicPr>
            <p:cNvPr id="1026" name="Picture 2" descr="인천광역시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7000" y="1600200"/>
              <a:ext cx="1714500" cy="381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8DDFD65-02E9-496A-B6A6-60E049C51D34}"/>
                </a:ext>
              </a:extLst>
            </p:cNvPr>
            <p:cNvSpPr/>
            <p:nvPr/>
          </p:nvSpPr>
          <p:spPr>
            <a:xfrm>
              <a:off x="1016000" y="1371600"/>
              <a:ext cx="11201400" cy="7239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F58C5078-D88C-2313-C6E5-5A52D4A2F242}"/>
                </a:ext>
              </a:extLst>
            </p:cNvPr>
            <p:cNvCxnSpPr/>
            <p:nvPr/>
          </p:nvCxnSpPr>
          <p:spPr>
            <a:xfrm flipH="1">
              <a:off x="1016000" y="2133600"/>
              <a:ext cx="11196000" cy="0"/>
            </a:xfrm>
            <a:prstGeom prst="straightConnector1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8102600" y="2743201"/>
            <a:ext cx="2529638" cy="2131637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4659954" y="2743201"/>
            <a:ext cx="2529638" cy="2131637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sz="1200" dirty="0">
              <a:solidFill>
                <a:schemeClr val="tx1"/>
              </a:solidFill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1473200" y="2743201"/>
            <a:ext cx="2057400" cy="5029199"/>
            <a:chOff x="1473200" y="2743201"/>
            <a:chExt cx="2057400" cy="5029199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473200" y="2743201"/>
              <a:ext cx="2057400" cy="5029199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719800" y="2895601"/>
              <a:ext cx="1512000" cy="252000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smtClean="0">
                  <a:solidFill>
                    <a:schemeClr val="tx1"/>
                  </a:solidFill>
                </a:rPr>
                <a:t>탄소중립 활동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719800" y="5208000"/>
              <a:ext cx="1512000" cy="252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     커뮤니티 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719800" y="3241500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기초 정보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713885" y="3928620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smtClean="0">
                  <a:solidFill>
                    <a:schemeClr val="tx1"/>
                  </a:solidFill>
                </a:rPr>
                <a:t>가맹점 </a:t>
              </a:r>
              <a:r>
                <a:rPr lang="ko-KR" altLang="en-US" sz="1200" dirty="0" smtClean="0">
                  <a:solidFill>
                    <a:schemeClr val="tx1"/>
                  </a:solidFill>
                </a:rPr>
                <a:t>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713885" y="3581511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회원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713885" y="4275729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1200" dirty="0" smtClean="0">
                  <a:solidFill>
                    <a:schemeClr val="tx1"/>
                  </a:solidFill>
                </a:rPr>
                <a:t>QR</a:t>
              </a:r>
              <a:r>
                <a:rPr lang="ko-KR" altLang="en-US" sz="1200" dirty="0" smtClean="0">
                  <a:solidFill>
                    <a:schemeClr val="tx1"/>
                  </a:solidFill>
                </a:rPr>
                <a:t>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640638" y="5555109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기초 정보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640638" y="5807109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시정 홍보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640638" y="6059109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뉴스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640638" y="6311109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이벤트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640638" y="6563109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공지사항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1650391" y="4622838"/>
            <a:ext cx="1512000" cy="252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공지사항 관리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4658562" y="5555109"/>
            <a:ext cx="2529638" cy="2217291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4597400" y="2427130"/>
            <a:ext cx="1512000" cy="252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시정 홍보 관리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8020175" y="2427130"/>
            <a:ext cx="1512000" cy="252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뉴스 관리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4644296" y="5246100"/>
            <a:ext cx="1512000" cy="252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이벤트 관리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4680981" y="2846230"/>
            <a:ext cx="1512000" cy="252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시정 홍보 등록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4680981" y="3162301"/>
            <a:ext cx="1512000" cy="252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>
                <a:solidFill>
                  <a:schemeClr val="tx1"/>
                </a:solidFill>
              </a:rPr>
              <a:t>캠</a:t>
            </a:r>
            <a:r>
              <a:rPr lang="ko-KR" altLang="en-US" sz="1200" dirty="0" smtClean="0">
                <a:solidFill>
                  <a:schemeClr val="tx1"/>
                </a:solidFill>
              </a:rPr>
              <a:t>페인 등록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4680981" y="3469492"/>
            <a:ext cx="1512000" cy="252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기초 정보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4680981" y="3738974"/>
            <a:ext cx="1512000" cy="252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기초 정보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8102600" y="2846230"/>
            <a:ext cx="1512000" cy="252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뉴스 등록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8100550" y="3162301"/>
            <a:ext cx="1512000" cy="252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기사 등록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8100550" y="3469492"/>
            <a:ext cx="1512000" cy="252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영상 등록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8100550" y="3734534"/>
            <a:ext cx="1512000" cy="252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좋아요 관리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4749800" y="5638768"/>
            <a:ext cx="1512000" cy="252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이벤트 정보 등록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4747750" y="5978008"/>
            <a:ext cx="1512000" cy="252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시정 퀴즈 등록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4747750" y="6312916"/>
            <a:ext cx="1512000" cy="252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랭킹 순위 선정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4758846" y="6644561"/>
            <a:ext cx="1512000" cy="252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당첨자 발표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8100550" y="4047342"/>
            <a:ext cx="1512000" cy="252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기초 정보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4747750" y="6976206"/>
            <a:ext cx="1512000" cy="252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기초 정보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grpSp>
        <p:nvGrpSpPr>
          <p:cNvPr id="46" name="그룹 45"/>
          <p:cNvGrpSpPr/>
          <p:nvPr/>
        </p:nvGrpSpPr>
        <p:grpSpPr>
          <a:xfrm>
            <a:off x="8100550" y="5555109"/>
            <a:ext cx="2568856" cy="2138744"/>
            <a:chOff x="4009744" y="2743200"/>
            <a:chExt cx="2568856" cy="2138744"/>
          </a:xfrm>
        </p:grpSpPr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4009744" y="2743200"/>
              <a:ext cx="2568856" cy="2133600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4037231" y="2970250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공지사항 등록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4045419" y="3394675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당첨자 발송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4056485" y="3820281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푸시 기능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4056485" y="4237276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기초 정보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4037231" y="4629944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문의 및 제안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8076429" y="5246692"/>
            <a:ext cx="1512000" cy="252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공지사항 관리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64862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4FE0D708-A483-7677-53E6-67780746A91D}"/>
              </a:ext>
            </a:extLst>
          </p:cNvPr>
          <p:cNvSpPr txBox="1"/>
          <p:nvPr/>
        </p:nvSpPr>
        <p:spPr>
          <a:xfrm>
            <a:off x="787400" y="609600"/>
            <a:ext cx="2133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 smtClean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지방자치단체</a:t>
            </a:r>
            <a:r>
              <a:rPr kumimoji="0" lang="ko-KR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#</a:t>
            </a:r>
            <a:r>
              <a:rPr kumimoji="0" lang="en-US" altLang="ko-KR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06</a:t>
            </a: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26" name="Picture 2" descr="인천광역시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000" y="1600200"/>
            <a:ext cx="1714500" cy="381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98DDFD65-02E9-496A-B6A6-60E049C51D34}"/>
              </a:ext>
            </a:extLst>
          </p:cNvPr>
          <p:cNvSpPr/>
          <p:nvPr/>
        </p:nvSpPr>
        <p:spPr>
          <a:xfrm>
            <a:off x="1016000" y="1371600"/>
            <a:ext cx="11201400" cy="7239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F58C5078-D88C-2313-C6E5-5A52D4A2F242}"/>
              </a:ext>
            </a:extLst>
          </p:cNvPr>
          <p:cNvCxnSpPr/>
          <p:nvPr/>
        </p:nvCxnSpPr>
        <p:spPr>
          <a:xfrm flipH="1">
            <a:off x="1016000" y="2133600"/>
            <a:ext cx="11196000" cy="0"/>
          </a:xfrm>
          <a:prstGeom prst="straightConnector1">
            <a:avLst/>
          </a:prstGeom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그룹 14"/>
          <p:cNvGrpSpPr/>
          <p:nvPr/>
        </p:nvGrpSpPr>
        <p:grpSpPr>
          <a:xfrm>
            <a:off x="1473200" y="2743201"/>
            <a:ext cx="2057400" cy="5029199"/>
            <a:chOff x="1473200" y="2743201"/>
            <a:chExt cx="2057400" cy="5029199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473200" y="2743201"/>
              <a:ext cx="2057400" cy="5029199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719800" y="2895601"/>
              <a:ext cx="1512000" cy="252000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smtClean="0">
                  <a:solidFill>
                    <a:schemeClr val="tx1"/>
                  </a:solidFill>
                </a:rPr>
                <a:t>탄소중립 활동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719800" y="5208000"/>
              <a:ext cx="1512000" cy="252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     커뮤니티 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719800" y="3241500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기초 정보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713885" y="3928620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smtClean="0">
                  <a:solidFill>
                    <a:schemeClr val="tx1"/>
                  </a:solidFill>
                </a:rPr>
                <a:t>가맹점 </a:t>
              </a:r>
              <a:r>
                <a:rPr lang="ko-KR" altLang="en-US" sz="1200" dirty="0" smtClean="0">
                  <a:solidFill>
                    <a:schemeClr val="tx1"/>
                  </a:solidFill>
                </a:rPr>
                <a:t>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713885" y="3581511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회원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713885" y="4275729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1200" dirty="0" smtClean="0">
                  <a:solidFill>
                    <a:schemeClr val="tx1"/>
                  </a:solidFill>
                </a:rPr>
                <a:t>QR</a:t>
              </a:r>
              <a:r>
                <a:rPr lang="ko-KR" altLang="en-US" sz="1200" dirty="0" smtClean="0">
                  <a:solidFill>
                    <a:schemeClr val="tx1"/>
                  </a:solidFill>
                </a:rPr>
                <a:t>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640638" y="5555109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기초 정보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640638" y="5807109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시정 홍보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640638" y="6059109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뉴스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640638" y="6311109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이벤트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640638" y="6563109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공지사항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10541000" y="2178000"/>
            <a:ext cx="1440000" cy="21600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     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858877" y="2160000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smtClean="0">
                <a:solidFill>
                  <a:srgbClr val="FF0000"/>
                </a:solidFill>
              </a:rPr>
              <a:t>로그아웃</a:t>
            </a:r>
            <a:endParaRPr lang="ko-KR" altLang="en-US" sz="1100" dirty="0"/>
          </a:p>
        </p:txBody>
      </p:sp>
      <p:sp>
        <p:nvSpPr>
          <p:cNvPr id="42" name="모서리가 둥근 직사각형 41"/>
          <p:cNvSpPr/>
          <p:nvPr/>
        </p:nvSpPr>
        <p:spPr>
          <a:xfrm>
            <a:off x="3683000" y="4216768"/>
            <a:ext cx="8298000" cy="252000"/>
          </a:xfrm>
          <a:prstGeom prst="roundRect">
            <a:avLst/>
          </a:prstGeom>
          <a:noFill/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grpSp>
        <p:nvGrpSpPr>
          <p:cNvPr id="3" name="그룹 2"/>
          <p:cNvGrpSpPr/>
          <p:nvPr/>
        </p:nvGrpSpPr>
        <p:grpSpPr>
          <a:xfrm>
            <a:off x="3683000" y="2743201"/>
            <a:ext cx="8298000" cy="1397889"/>
            <a:chOff x="3683000" y="2743201"/>
            <a:chExt cx="8298000" cy="1397889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3683000" y="2743201"/>
              <a:ext cx="8298000" cy="1397889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742058" y="2797184"/>
              <a:ext cx="1541142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ko-KR" altLang="en-US" sz="1200" b="1" dirty="0" smtClean="0">
                  <a:solidFill>
                    <a:srgbClr val="FF0000"/>
                  </a:solidFill>
                </a:rPr>
                <a:t>정보 조회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 </a:t>
              </a:r>
              <a:r>
                <a:rPr lang="en-US" altLang="ko-KR" sz="1200" b="1" dirty="0" smtClean="0">
                  <a:solidFill>
                    <a:schemeClr val="tx1"/>
                  </a:solidFill>
                </a:rPr>
                <a:t>(search)</a:t>
              </a:r>
            </a:p>
            <a:p>
              <a:endParaRPr lang="ko-KR" altLang="en-US" sz="1100" dirty="0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5283200" y="3124200"/>
              <a:ext cx="1260000" cy="216000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     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8255000" y="3124200"/>
              <a:ext cx="1260000" cy="216000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     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5283200" y="3505200"/>
              <a:ext cx="1260000" cy="216000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     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8255000" y="3581400"/>
              <a:ext cx="1260000" cy="216000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     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9878639" y="3816080"/>
              <a:ext cx="505267" cy="261610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100" dirty="0" smtClean="0">
                  <a:solidFill>
                    <a:schemeClr val="tx1"/>
                  </a:solidFill>
                </a:rPr>
                <a:t>검 색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10929819" y="3833511"/>
              <a:ext cx="607859" cy="261610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100" dirty="0" smtClean="0">
                  <a:solidFill>
                    <a:schemeClr val="tx1"/>
                  </a:solidFill>
                </a:rPr>
                <a:t>초기화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3760151" y="4228681"/>
            <a:ext cx="7873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>
                <a:solidFill>
                  <a:schemeClr val="tx1"/>
                </a:solidFill>
              </a:rPr>
              <a:t>조회 결과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904636" y="4216768"/>
            <a:ext cx="521297" cy="26161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chemeClr val="tx1"/>
                </a:solidFill>
              </a:rPr>
              <a:t>00 </a:t>
            </a:r>
            <a:r>
              <a:rPr lang="ko-KR" altLang="en-US" sz="1100" dirty="0" smtClean="0">
                <a:solidFill>
                  <a:schemeClr val="tx1"/>
                </a:solidFill>
              </a:rPr>
              <a:t>명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929819" y="4266119"/>
            <a:ext cx="1051181" cy="26161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smtClean="0">
                <a:solidFill>
                  <a:schemeClr val="tx1"/>
                </a:solidFill>
              </a:rPr>
              <a:t>1,000</a:t>
            </a:r>
            <a:r>
              <a:rPr lang="ko-KR" altLang="en-US" sz="1100" dirty="0" smtClean="0">
                <a:solidFill>
                  <a:schemeClr val="tx1"/>
                </a:solidFill>
              </a:rPr>
              <a:t>원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3683000" y="5150569"/>
            <a:ext cx="8298000" cy="2621831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10981338" y="4801368"/>
            <a:ext cx="504000" cy="252000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1200" dirty="0" smtClean="0">
                <a:solidFill>
                  <a:schemeClr val="tx1"/>
                </a:solidFill>
              </a:rPr>
              <a:t>Excel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725234" y="4860295"/>
            <a:ext cx="14366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>
                <a:solidFill>
                  <a:schemeClr val="tx1"/>
                </a:solidFill>
              </a:rPr>
              <a:t>조회 결과</a:t>
            </a:r>
            <a:r>
              <a:rPr lang="en-US" altLang="ko-KR" sz="1100" dirty="0" smtClean="0">
                <a:solidFill>
                  <a:schemeClr val="tx1"/>
                </a:solidFill>
              </a:rPr>
              <a:t>-</a:t>
            </a:r>
            <a:r>
              <a:rPr lang="ko-KR" altLang="en-US" sz="1100" dirty="0" smtClean="0">
                <a:solidFill>
                  <a:schemeClr val="tx1"/>
                </a:solidFill>
              </a:rPr>
              <a:t>상세 내역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6" name="모서리가 둥근 직사각형 55"/>
          <p:cNvSpPr/>
          <p:nvPr/>
        </p:nvSpPr>
        <p:spPr>
          <a:xfrm>
            <a:off x="3683000" y="7829739"/>
            <a:ext cx="8298000" cy="252000"/>
          </a:xfrm>
          <a:prstGeom prst="roundRect">
            <a:avLst/>
          </a:prstGeom>
          <a:noFill/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57" name="TextBox 56"/>
          <p:cNvSpPr txBox="1"/>
          <p:nvPr/>
        </p:nvSpPr>
        <p:spPr>
          <a:xfrm>
            <a:off x="7044605" y="7820129"/>
            <a:ext cx="14285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>
                <a:solidFill>
                  <a:schemeClr val="tx1"/>
                </a:solidFill>
              </a:rPr>
              <a:t>다음 페이지 더 보기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4549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4FE0D708-A483-7677-53E6-67780746A91D}"/>
              </a:ext>
            </a:extLst>
          </p:cNvPr>
          <p:cNvSpPr txBox="1"/>
          <p:nvPr/>
        </p:nvSpPr>
        <p:spPr>
          <a:xfrm>
            <a:off x="787400" y="609600"/>
            <a:ext cx="2133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 smtClean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지방자치단체</a:t>
            </a:r>
            <a:r>
              <a:rPr kumimoji="0" lang="ko-KR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#</a:t>
            </a:r>
            <a:r>
              <a:rPr kumimoji="0" lang="en-US" altLang="ko-KR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07</a:t>
            </a: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26" name="Picture 2" descr="인천광역시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000" y="1600200"/>
            <a:ext cx="1714500" cy="381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98DDFD65-02E9-496A-B6A6-60E049C51D34}"/>
              </a:ext>
            </a:extLst>
          </p:cNvPr>
          <p:cNvSpPr/>
          <p:nvPr/>
        </p:nvSpPr>
        <p:spPr>
          <a:xfrm>
            <a:off x="1016000" y="1371600"/>
            <a:ext cx="11201400" cy="7239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F58C5078-D88C-2313-C6E5-5A52D4A2F242}"/>
              </a:ext>
            </a:extLst>
          </p:cNvPr>
          <p:cNvCxnSpPr/>
          <p:nvPr/>
        </p:nvCxnSpPr>
        <p:spPr>
          <a:xfrm flipH="1">
            <a:off x="1016000" y="2133600"/>
            <a:ext cx="11196000" cy="0"/>
          </a:xfrm>
          <a:prstGeom prst="straightConnector1">
            <a:avLst/>
          </a:prstGeom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그룹 14"/>
          <p:cNvGrpSpPr/>
          <p:nvPr/>
        </p:nvGrpSpPr>
        <p:grpSpPr>
          <a:xfrm>
            <a:off x="1473200" y="2743201"/>
            <a:ext cx="2057400" cy="5029199"/>
            <a:chOff x="1473200" y="2743201"/>
            <a:chExt cx="2057400" cy="5029199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473200" y="2743201"/>
              <a:ext cx="2057400" cy="5029199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719800" y="2895601"/>
              <a:ext cx="1512000" cy="252000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smtClean="0">
                  <a:solidFill>
                    <a:schemeClr val="tx1"/>
                  </a:solidFill>
                </a:rPr>
                <a:t>탄소중립 활동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719800" y="5208000"/>
              <a:ext cx="1512000" cy="252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     커뮤니티 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719800" y="3241500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기초 정보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713885" y="3928620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smtClean="0">
                  <a:solidFill>
                    <a:schemeClr val="tx1"/>
                  </a:solidFill>
                </a:rPr>
                <a:t>가맹점 </a:t>
              </a:r>
              <a:r>
                <a:rPr lang="ko-KR" altLang="en-US" sz="1200" dirty="0" smtClean="0">
                  <a:solidFill>
                    <a:schemeClr val="tx1"/>
                  </a:solidFill>
                </a:rPr>
                <a:t>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713885" y="3581511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회원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713885" y="4275729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1200" dirty="0" smtClean="0">
                  <a:solidFill>
                    <a:schemeClr val="tx1"/>
                  </a:solidFill>
                </a:rPr>
                <a:t>QR</a:t>
              </a:r>
              <a:r>
                <a:rPr lang="ko-KR" altLang="en-US" sz="1200" dirty="0" smtClean="0">
                  <a:solidFill>
                    <a:schemeClr val="tx1"/>
                  </a:solidFill>
                </a:rPr>
                <a:t>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640638" y="5555109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기초 정보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640638" y="5807109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시정 홍보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640638" y="6059109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뉴스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640638" y="6311109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이벤트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640638" y="6563109"/>
              <a:ext cx="1512000" cy="252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공지사항 관리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10541000" y="2178000"/>
            <a:ext cx="1440000" cy="21600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     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858877" y="2160000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smtClean="0">
                <a:solidFill>
                  <a:srgbClr val="FF0000"/>
                </a:solidFill>
              </a:rPr>
              <a:t>로그아웃</a:t>
            </a:r>
            <a:endParaRPr lang="ko-KR" altLang="en-US" sz="1100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3683000" y="2743201"/>
            <a:ext cx="8298000" cy="1397889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742058" y="2797184"/>
            <a:ext cx="864000" cy="28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b="1" dirty="0" smtClean="0">
                <a:solidFill>
                  <a:srgbClr val="FF0000"/>
                </a:solidFill>
              </a:rPr>
              <a:t>정보 입력</a:t>
            </a:r>
            <a:endParaRPr lang="en-US" altLang="ko-KR" sz="1200" b="1" dirty="0" smtClean="0">
              <a:solidFill>
                <a:schemeClr val="tx1"/>
              </a:solidFill>
            </a:endParaRPr>
          </a:p>
          <a:p>
            <a:endParaRPr lang="ko-KR" altLang="en-US" sz="1100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5283200" y="3124200"/>
            <a:ext cx="1260000" cy="21600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     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8255000" y="3124200"/>
            <a:ext cx="1260000" cy="21600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     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5283200" y="3505200"/>
            <a:ext cx="1260000" cy="21600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     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C642B69-26C0-FA9D-FD00-25675A786486}"/>
              </a:ext>
            </a:extLst>
          </p:cNvPr>
          <p:cNvSpPr/>
          <p:nvPr/>
        </p:nvSpPr>
        <p:spPr>
          <a:xfrm>
            <a:off x="8255000" y="3581400"/>
            <a:ext cx="1260000" cy="21600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1200" dirty="0" smtClean="0">
                <a:solidFill>
                  <a:schemeClr val="tx1"/>
                </a:solidFill>
              </a:rPr>
              <a:t>     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878639" y="3816080"/>
            <a:ext cx="466794" cy="26161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100" dirty="0" smtClean="0">
                <a:solidFill>
                  <a:schemeClr val="tx1"/>
                </a:solidFill>
              </a:rPr>
              <a:t>등록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929819" y="3833511"/>
            <a:ext cx="607859" cy="26161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100" dirty="0" smtClean="0">
                <a:solidFill>
                  <a:schemeClr val="tx1"/>
                </a:solidFill>
              </a:rPr>
              <a:t>초기화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3683000" y="5471936"/>
            <a:ext cx="8298000" cy="2609803"/>
            <a:chOff x="3683000" y="4801368"/>
            <a:chExt cx="8298000" cy="3280371"/>
          </a:xfrm>
        </p:grpSpPr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3683000" y="5150569"/>
              <a:ext cx="8298000" cy="2621831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10981338" y="4801368"/>
              <a:ext cx="504000" cy="252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1200" dirty="0" smtClean="0">
                  <a:solidFill>
                    <a:schemeClr val="tx1"/>
                  </a:solidFill>
                </a:rPr>
                <a:t>Excel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725234" y="4860295"/>
              <a:ext cx="143661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 smtClean="0">
                  <a:solidFill>
                    <a:schemeClr val="tx1"/>
                  </a:solidFill>
                </a:rPr>
                <a:t>조회 결과</a:t>
              </a:r>
              <a:r>
                <a:rPr lang="en-US" altLang="ko-KR" sz="1100" dirty="0" smtClean="0">
                  <a:solidFill>
                    <a:schemeClr val="tx1"/>
                  </a:solidFill>
                </a:rPr>
                <a:t>-</a:t>
              </a:r>
              <a:r>
                <a:rPr lang="ko-KR" altLang="en-US" sz="1100" dirty="0" smtClean="0">
                  <a:solidFill>
                    <a:schemeClr val="tx1"/>
                  </a:solidFill>
                </a:rPr>
                <a:t>상세 내역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56" name="모서리가 둥근 직사각형 55"/>
            <p:cNvSpPr/>
            <p:nvPr/>
          </p:nvSpPr>
          <p:spPr>
            <a:xfrm>
              <a:off x="3683000" y="7829739"/>
              <a:ext cx="8298000" cy="252000"/>
            </a:xfrm>
            <a:prstGeom prst="roundRect">
              <a:avLst/>
            </a:prstGeom>
            <a:noFill/>
            <a:ln w="127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1" hangingPunct="1">
                <a:defRPr/>
              </a:pPr>
              <a:endParaRPr lang="ko-KR" altLang="en-US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044605" y="7820129"/>
              <a:ext cx="1428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 smtClean="0">
                  <a:solidFill>
                    <a:schemeClr val="tx1"/>
                  </a:solidFill>
                </a:rPr>
                <a:t>다음 페이지 더 보기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9" name="그룹 58"/>
          <p:cNvGrpSpPr/>
          <p:nvPr/>
        </p:nvGrpSpPr>
        <p:grpSpPr>
          <a:xfrm>
            <a:off x="3683000" y="4343338"/>
            <a:ext cx="8298000" cy="973231"/>
            <a:chOff x="3683000" y="2743201"/>
            <a:chExt cx="8298000" cy="1397889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3683000" y="2743201"/>
              <a:ext cx="8298000" cy="1397889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742058" y="2797184"/>
              <a:ext cx="1541142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ko-KR" altLang="en-US" sz="1200" b="1" dirty="0" smtClean="0">
                  <a:solidFill>
                    <a:srgbClr val="FF0000"/>
                  </a:solidFill>
                </a:rPr>
                <a:t>정보 조회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 </a:t>
              </a:r>
              <a:r>
                <a:rPr lang="en-US" altLang="ko-KR" sz="1200" b="1" dirty="0" smtClean="0">
                  <a:solidFill>
                    <a:schemeClr val="tx1"/>
                  </a:solidFill>
                </a:rPr>
                <a:t>(search)</a:t>
              </a:r>
            </a:p>
            <a:p>
              <a:endParaRPr lang="ko-KR" altLang="en-US" sz="1100" dirty="0"/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5283200" y="3124200"/>
              <a:ext cx="1260000" cy="216000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     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8255000" y="3124200"/>
              <a:ext cx="1260000" cy="216000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     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5283200" y="3505200"/>
              <a:ext cx="1260000" cy="216000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     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CC642B69-26C0-FA9D-FD00-25675A786486}"/>
                </a:ext>
              </a:extLst>
            </p:cNvPr>
            <p:cNvSpPr/>
            <p:nvPr/>
          </p:nvSpPr>
          <p:spPr>
            <a:xfrm>
              <a:off x="8255000" y="3581400"/>
              <a:ext cx="1260000" cy="216000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200" dirty="0" smtClean="0">
                  <a:solidFill>
                    <a:schemeClr val="tx1"/>
                  </a:solidFill>
                </a:rPr>
                <a:t>     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9878639" y="3816080"/>
              <a:ext cx="505267" cy="261610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100" dirty="0" smtClean="0">
                  <a:solidFill>
                    <a:schemeClr val="tx1"/>
                  </a:solidFill>
                </a:rPr>
                <a:t>검 색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0929819" y="3833511"/>
              <a:ext cx="607859" cy="261610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100" dirty="0" smtClean="0">
                  <a:solidFill>
                    <a:schemeClr val="tx1"/>
                  </a:solidFill>
                </a:rPr>
                <a:t>초기화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38331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7194</TotalTime>
  <Words>2285</Words>
  <Application>Microsoft Office PowerPoint</Application>
  <PresentationFormat>사용자 지정</PresentationFormat>
  <Paragraphs>821</Paragraphs>
  <Slides>29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29</vt:i4>
      </vt:variant>
    </vt:vector>
  </HeadingPairs>
  <TitlesOfParts>
    <vt:vector size="40" baseType="lpstr">
      <vt:lpstr>AppleSDGothicNeoH00</vt:lpstr>
      <vt:lpstr>Noto Sans CJK KR Light</vt:lpstr>
      <vt:lpstr>굴림</vt:lpstr>
      <vt:lpstr>Malgun Gothic</vt:lpstr>
      <vt:lpstr>Malgun Gothic</vt:lpstr>
      <vt:lpstr>Arial</vt:lpstr>
      <vt:lpstr>Calibri</vt:lpstr>
      <vt:lpstr>Segoe UI</vt:lpstr>
      <vt:lpstr>Times New Roman</vt:lpstr>
      <vt:lpstr>Office Theme</vt:lpstr>
      <vt:lpstr>디자인 사용자 지정</vt:lpstr>
      <vt:lpstr>탄소뱅크 APP 설계·계획서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탄소뱅크 APP 설계·계획서</dc:title>
  <cp:lastModifiedBy>Hans04</cp:lastModifiedBy>
  <cp:revision>614</cp:revision>
  <dcterms:created xsi:type="dcterms:W3CDTF">2022-04-13T08:08:40Z</dcterms:created>
  <dcterms:modified xsi:type="dcterms:W3CDTF">2025-05-09T04:05:23Z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2022-03-25T00:00:00Z</vt:filetime>
  </property>
  <property fmtid="{D5CDD505-2E9C-101B-9397-08002B2CF9AE}" pid="3" name="Creator">
    <vt:lpwstr>Keynote</vt:lpwstr>
  </property>
  <property fmtid="{D5CDD505-2E9C-101B-9397-08002B2CF9AE}" pid="4" name="LastSaved">
    <vt:filetime>2022-04-13T00:00:00Z</vt:filetime>
  </property>
</Properties>
</file>